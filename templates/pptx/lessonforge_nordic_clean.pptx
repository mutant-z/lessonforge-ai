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51ba27a5b64126" /><Relationship Type="http://schemas.openxmlformats.org/officeDocument/2006/relationships/extended-properties" Target="/docProps/app.xml" Id="R73776939ba8f4c3d" /><Relationship Type="http://schemas.openxmlformats.org/officeDocument/2006/relationships/officeDocument" Target="/ppt/presentation.xml" Id="R6819d570fca94f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a623f692f5455d"/>
  </p:sldMasterIdLst>
  <p:notesMasterIdLst>
    <p:notesMasterId xmlns:r="http://schemas.openxmlformats.org/officeDocument/2006/relationships" r:id="Rc4e02f5793d84d3c"/>
  </p:notesMasterIdLst>
  <p:sldIdLst>
    <p:sldId xmlns:r="http://schemas.openxmlformats.org/officeDocument/2006/relationships" id="256" r:id="R9a6994116db34149"/>
    <p:sldId xmlns:r="http://schemas.openxmlformats.org/officeDocument/2006/relationships" id="257" r:id="Rac2dfa41cb0b4b3e"/>
    <p:sldId xmlns:r="http://schemas.openxmlformats.org/officeDocument/2006/relationships" id="258" r:id="Rbe7e1eb2ad7b435d"/>
    <p:sldId xmlns:r="http://schemas.openxmlformats.org/officeDocument/2006/relationships" id="259" r:id="R66aaf656d9c84188"/>
    <p:sldId xmlns:r="http://schemas.openxmlformats.org/officeDocument/2006/relationships" id="260" r:id="R56c1216dbc4540d7"/>
    <p:sldId xmlns:r="http://schemas.openxmlformats.org/officeDocument/2006/relationships" id="261" r:id="R4a9fff9c4804462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a47ea77378c48be" /><Relationship Type="http://schemas.openxmlformats.org/officeDocument/2006/relationships/slideMaster" Target="/ppt/slideMasters/slideMaster1.xml" Id="Rffa623f692f5455d" /><Relationship Type="http://schemas.openxmlformats.org/officeDocument/2006/relationships/notesMaster" Target="/ppt/notesMasters/notesMaster1.xml" Id="Rc4e02f5793d84d3c" /><Relationship Type="http://schemas.openxmlformats.org/officeDocument/2006/relationships/presProps" Target="/ppt/presProps.xml" Id="R843b2d8a5a1d4f8b" /><Relationship Type="http://schemas.openxmlformats.org/officeDocument/2006/relationships/tableStyles" Target="/ppt/tableStyles.xml" Id="R4fb2a417423e4d1c" /><Relationship Type="http://schemas.openxmlformats.org/officeDocument/2006/relationships/slide" Target="/ppt/slides/slide1.xml" Id="R9a6994116db34149" /><Relationship Type="http://schemas.openxmlformats.org/officeDocument/2006/relationships/slide" Target="/ppt/slides/slide2.xml" Id="Rac2dfa41cb0b4b3e" /><Relationship Type="http://schemas.openxmlformats.org/officeDocument/2006/relationships/slide" Target="/ppt/slides/slide3.xml" Id="Rbe7e1eb2ad7b435d" /><Relationship Type="http://schemas.openxmlformats.org/officeDocument/2006/relationships/slide" Target="/ppt/slides/slide4.xml" Id="R66aaf656d9c84188" /><Relationship Type="http://schemas.openxmlformats.org/officeDocument/2006/relationships/slide" Target="/ppt/slides/slide5.xml" Id="R56c1216dbc4540d7" /><Relationship Type="http://schemas.openxmlformats.org/officeDocument/2006/relationships/slide" Target="/ppt/slides/slide6.xml" Id="R4a9fff9c480446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314d69ad104b6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7d238d0284a4c29" /><Relationship Type="http://schemas.openxmlformats.org/officeDocument/2006/relationships/notesMaster" Target="/ppt/notesMasters/notesMaster1.xml" Id="Ra86efbe24f3742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88f0938b8f148ef" /><Relationship Type="http://schemas.openxmlformats.org/officeDocument/2006/relationships/notesMaster" Target="/ppt/notesMasters/notesMaster1.xml" Id="R1812a608b0ea488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6c65af39b348d4" /><Relationship Type="http://schemas.openxmlformats.org/officeDocument/2006/relationships/notesMaster" Target="/ppt/notesMasters/notesMaster1.xml" Id="Rffeb00570ab24d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0873db452742ee" /><Relationship Type="http://schemas.openxmlformats.org/officeDocument/2006/relationships/notesMaster" Target="/ppt/notesMasters/notesMaster1.xml" Id="Rcacb95e7c6ca48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dd00b4716d404b" /><Relationship Type="http://schemas.openxmlformats.org/officeDocument/2006/relationships/notesMaster" Target="/ppt/notesMasters/notesMaster1.xml" Id="Rbd9c922e03f04d3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30a24f9c804155" /><Relationship Type="http://schemas.openxmlformats.org/officeDocument/2006/relationships/notesMaster" Target="/ppt/notesMasters/notesMaster1.xml" Id="Ree0fcd629b594d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用生活中的漂浮现象引出问题：浮力到底有多大？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目标不要求学生机械记忆；强调观察、测量与解释之间的联系。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借助上下表面压力差说明浮力方向，避免把浮力误解为液体主动托举。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 1—4 的顺序记录数据，最后比较两组差值是否相等。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答案是不变。完全浸没后排开水的体积不变，液体密度也不变，因此浮力不变。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用公式回扣三个问题：浮力从哪里来、怎样测、由什么决定。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2b46512a484f5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3f9275845b84c94" /><Relationship Type="http://schemas.openxmlformats.org/officeDocument/2006/relationships/slideLayout" Target="/ppt/slideLayouts/slideLayout1.xml" Id="Rb3da91670f834a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da91670f834a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2ac27e44854f3d" /><Relationship Type="http://schemas.openxmlformats.org/officeDocument/2006/relationships/notesSlide" Target="/ppt/notesSlides/notesSlide1.xml" Id="R6d7c55bfa6c24a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71eea0af524823" /><Relationship Type="http://schemas.openxmlformats.org/officeDocument/2006/relationships/notesSlide" Target="/ppt/notesSlides/notesSlide2.xml" Id="R5a92d64df56948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a971c49cd44887" /><Relationship Type="http://schemas.openxmlformats.org/officeDocument/2006/relationships/notesSlide" Target="/ppt/notesSlides/notesSlide3.xml" Id="Red604163a1d146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fe2ab18b2942f3" /><Relationship Type="http://schemas.openxmlformats.org/officeDocument/2006/relationships/notesSlide" Target="/ppt/notesSlides/notesSlide4.xml" Id="R0326657792554a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fedf5fcc24b01" /><Relationship Type="http://schemas.openxmlformats.org/officeDocument/2006/relationships/notesSlide" Target="/ppt/notesSlides/notesSlide5.xml" Id="Rd042b13ef346459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fa9ddf0ff4303" /><Relationship Type="http://schemas.openxmlformats.org/officeDocument/2006/relationships/notesSlide" Target="/ppt/notesSlides/notesSlide6.xml" Id="Rdf2b594d2e344a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orbit">
            <a:extLst xmlns:a="http://schemas.openxmlformats.org/drawingml/2006/main">
              <a:ext uri="{FF2B5EF4-FFF2-40B4-BE49-F238E27FC236}">
                <a16:creationId xmlns:a16="http://schemas.microsoft.com/office/drawing/2014/main" id="{E28BF491-6DA9-4FC8-ADB9-F7F4604F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66750"/>
            <a:ext cx="3905250" cy="390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E8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core">
            <a:extLst xmlns:a="http://schemas.openxmlformats.org/drawingml/2006/main">
              <a:ext uri="{FF2B5EF4-FFF2-40B4-BE49-F238E27FC236}">
                <a16:creationId xmlns:a16="http://schemas.microsoft.com/office/drawing/2014/main" id="{7CA75E24-2E7C-4F5F-92B5-357785C3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0025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surface">
            <a:extLst xmlns:a="http://schemas.openxmlformats.org/drawingml/2006/main">
              <a:ext uri="{FF2B5EF4-FFF2-40B4-BE49-F238E27FC236}">
                <a16:creationId xmlns:a16="http://schemas.microsoft.com/office/drawing/2014/main" id="{4CF3119B-7533-4145-869F-5082FD833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6810375" cy="5429250"/>
          </a:xfrm>
          <a:prstGeom xmlns:a="http://schemas.openxmlformats.org/drawingml/2006/main" prst="roundRect">
            <a:avLst>
              <a:gd name="adj" fmla="val 49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DF"/>
            </a:solidFill>
            <a:prstDash val="solid"/>
          </a:ln>
        </p:spPr>
      </p:sp>
      <p:sp>
        <p:nvSpPr>
          <p:cNvPr id="4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D27A9439-BDE9-4A1C-A790-F35AF906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2001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自然探究 · 八年级物理</a:t>
            </a:r>
          </a:p>
        </p:txBody>
      </p:sp>
      <p:sp>
        <p:nvSpPr>
          <p:cNvPr id="5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00A637C-08BD-466B-B649-C498DC05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14550"/>
            <a:ext cx="590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200" b="1">
                <a:solidFill>
                  <a:srgbClr val="173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17332E"/>
                </a:solidFill>
                <a:latin typeface="Microsoft YaHei"/>
                <a:ea typeface="Microsoft YaHei"/>
                <a:cs typeface="Microsoft YaHei"/>
              </a:rPr>
              <a:t>阿基米德原理</a:t>
            </a:r>
          </a:p>
        </p:txBody>
      </p:sp>
      <p:sp>
        <p:nvSpPr>
          <p:cNvPr id="6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BEADDEB-6909-4EFE-9CA6-299677DC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43250"/>
            <a:ext cx="533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58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8706B"/>
                </a:solidFill>
                <a:latin typeface="Microsoft YaHei"/>
                <a:ea typeface="Microsoft YaHei"/>
                <a:cs typeface="Microsoft YaHei"/>
              </a:rPr>
              <a:t>观察、测量与解释浮力</a:t>
            </a:r>
          </a:p>
        </p:txBody>
      </p:sp>
      <p:sp>
        <p:nvSpPr>
          <p:cNvPr id="7" name="cover-meta">
            <a:extLst xmlns:a="http://schemas.openxmlformats.org/drawingml/2006/main">
              <a:ext uri="{FF2B5EF4-FFF2-40B4-BE49-F238E27FC236}">
                <a16:creationId xmlns:a16="http://schemas.microsoft.com/office/drawing/2014/main" id="{D194E062-7955-4874-B218-D5643B33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1970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10 分钟微课</a:t>
            </a:r>
          </a:p>
        </p:txBody>
      </p:sp>
    </p:spTree>
    <p:extLst>
      <p:ext uri="{BB962C8B-B14F-4D97-AF65-F5344CB8AC3E}">
        <p14:creationId xmlns:p14="http://schemas.microsoft.com/office/powerpoint/2010/main" val="5089060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field-2">
            <a:extLst xmlns:a="http://schemas.openxmlformats.org/drawingml/2006/main">
              <a:ext uri="{FF2B5EF4-FFF2-40B4-BE49-F238E27FC236}">
                <a16:creationId xmlns:a16="http://schemas.microsoft.com/office/drawing/2014/main" id="{7D7CEECA-A78B-437D-8A6B-BADD0F5E2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E8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ed-2">
            <a:extLst xmlns:a="http://schemas.openxmlformats.org/drawingml/2006/main">
              <a:ext uri="{FF2B5EF4-FFF2-40B4-BE49-F238E27FC236}">
                <a16:creationId xmlns:a16="http://schemas.microsoft.com/office/drawing/2014/main" id="{ED78F54D-B00E-472B-81FA-CEE65B59A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876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2">
            <a:extLst xmlns:a="http://schemas.openxmlformats.org/drawingml/2006/main">
              <a:ext uri="{FF2B5EF4-FFF2-40B4-BE49-F238E27FC236}">
                <a16:creationId xmlns:a16="http://schemas.microsoft.com/office/drawing/2014/main" id="{C4D4DC0A-1E7E-4F62-A24E-1243E91D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学习目标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1CB48CE8-E61D-4532-9EED-C73F8AE7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1912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5870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70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E7102332-40EE-4653-A677-964853CA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>
                <a:solidFill>
                  <a:srgbClr val="173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7332E"/>
                </a:solidFill>
                <a:latin typeface="Microsoft YaHei"/>
                <a:ea typeface="Microsoft YaHei"/>
                <a:cs typeface="Microsoft YaHei"/>
              </a:rPr>
              <a:t>三步建立浮力的完整认识</a:t>
            </a:r>
          </a:p>
        </p:txBody>
      </p:sp>
      <p:sp>
        <p:nvSpPr>
          <p:cNvPr id="6" name="subtitle-2">
            <a:extLst xmlns:a="http://schemas.openxmlformats.org/drawingml/2006/main">
              <a:ext uri="{FF2B5EF4-FFF2-40B4-BE49-F238E27FC236}">
                <a16:creationId xmlns:a16="http://schemas.microsoft.com/office/drawing/2014/main" id="{31708497-8805-4576-B06E-C5FAACD3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8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6B"/>
                </a:solidFill>
                <a:latin typeface="Microsoft YaHei"/>
                <a:ea typeface="Microsoft YaHei"/>
                <a:cs typeface="Microsoft YaHei"/>
              </a:rPr>
              <a:t>理解来源、掌握测量、能够解释</a:t>
            </a:r>
          </a:p>
        </p:txBody>
      </p:sp>
      <p:sp>
        <p:nvSpPr>
          <p:cNvPr id="7" name="goal-surface-0">
            <a:extLst xmlns:a="http://schemas.openxmlformats.org/drawingml/2006/main">
              <a:ext uri="{FF2B5EF4-FFF2-40B4-BE49-F238E27FC236}">
                <a16:creationId xmlns:a16="http://schemas.microsoft.com/office/drawing/2014/main" id="{919240D7-A3ED-42B4-B917-86BCC610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3282950" cy="3105150"/>
          </a:xfrm>
          <a:prstGeom xmlns:a="http://schemas.openxmlformats.org/drawingml/2006/main" prst="roundRect">
            <a:avLst>
              <a:gd name="adj" fmla="val 67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DF"/>
            </a:solidFill>
            <a:prstDash val="solid"/>
          </a:ln>
        </p:spPr>
      </p:sp>
      <p:sp>
        <p:nvSpPr>
          <p:cNvPr id="8" name="goal-number-0">
            <a:extLst xmlns:a="http://schemas.openxmlformats.org/drawingml/2006/main">
              <a:ext uri="{FF2B5EF4-FFF2-40B4-BE49-F238E27FC236}">
                <a16:creationId xmlns:a16="http://schemas.microsoft.com/office/drawing/2014/main" id="{A97533EE-7699-4C34-AEFB-F3D470A2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76500"/>
            <a:ext cx="781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goal-title-0">
            <a:extLst xmlns:a="http://schemas.openxmlformats.org/drawingml/2006/main">
              <a:ext uri="{FF2B5EF4-FFF2-40B4-BE49-F238E27FC236}">
                <a16:creationId xmlns:a16="http://schemas.microsoft.com/office/drawing/2014/main" id="{DEDFB0DF-B567-4414-B892-9523AF5E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282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3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32E"/>
                </a:solidFill>
                <a:latin typeface="Microsoft YaHei"/>
                <a:ea typeface="Microsoft YaHei"/>
                <a:cs typeface="Microsoft YaHei"/>
              </a:rPr>
              <a:t>看见来源</a:t>
            </a:r>
          </a:p>
        </p:txBody>
      </p:sp>
      <p:sp>
        <p:nvSpPr>
          <p:cNvPr id="10" name="goal-body-0">
            <a:extLst xmlns:a="http://schemas.openxmlformats.org/drawingml/2006/main">
              <a:ext uri="{FF2B5EF4-FFF2-40B4-BE49-F238E27FC236}">
                <a16:creationId xmlns:a16="http://schemas.microsoft.com/office/drawing/2014/main" id="{646660BB-DAD5-4F40-BF86-8A9325041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7625"/>
            <a:ext cx="282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575" b="0">
                <a:solidFill>
                  <a:srgbClr val="58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706B"/>
                </a:solidFill>
                <a:latin typeface="Microsoft YaHei"/>
                <a:ea typeface="Microsoft YaHei"/>
                <a:cs typeface="Microsoft YaHei"/>
              </a:rPr>
              <a:t>用上下表面的压力差解释浮力方向</a:t>
            </a:r>
          </a:p>
        </p:txBody>
      </p:sp>
      <p:sp>
        <p:nvSpPr>
          <p:cNvPr id="11" name="goal-surface-1">
            <a:extLst xmlns:a="http://schemas.openxmlformats.org/drawingml/2006/main">
              <a:ext uri="{FF2B5EF4-FFF2-40B4-BE49-F238E27FC236}">
                <a16:creationId xmlns:a16="http://schemas.microsoft.com/office/drawing/2014/main" id="{8EC899D6-339A-428E-BB81-DC8D9D47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5450" y="2247900"/>
            <a:ext cx="3282950" cy="3105150"/>
          </a:xfrm>
          <a:prstGeom xmlns:a="http://schemas.openxmlformats.org/drawingml/2006/main" prst="roundRect">
            <a:avLst>
              <a:gd name="adj" fmla="val 67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DF"/>
            </a:solidFill>
            <a:prstDash val="solid"/>
          </a:ln>
        </p:spPr>
      </p:sp>
      <p:sp>
        <p:nvSpPr>
          <p:cNvPr id="12" name="goal-number-1">
            <a:extLst xmlns:a="http://schemas.openxmlformats.org/drawingml/2006/main">
              <a:ext uri="{FF2B5EF4-FFF2-40B4-BE49-F238E27FC236}">
                <a16:creationId xmlns:a16="http://schemas.microsoft.com/office/drawing/2014/main" id="{C1699C4B-CB91-4897-B9D5-2FE978D0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2476500"/>
            <a:ext cx="781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goal-title-1">
            <a:extLst xmlns:a="http://schemas.openxmlformats.org/drawingml/2006/main">
              <a:ext uri="{FF2B5EF4-FFF2-40B4-BE49-F238E27FC236}">
                <a16:creationId xmlns:a16="http://schemas.microsoft.com/office/drawing/2014/main" id="{040D64B4-56C3-419A-AE2C-D6BAE6CCF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3143250"/>
            <a:ext cx="282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3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32E"/>
                </a:solidFill>
                <a:latin typeface="Microsoft YaHei"/>
                <a:ea typeface="Microsoft YaHei"/>
                <a:cs typeface="Microsoft YaHei"/>
              </a:rPr>
              <a:t>学会测量</a:t>
            </a:r>
          </a:p>
        </p:txBody>
      </p:sp>
      <p:sp>
        <p:nvSpPr>
          <p:cNvPr id="14" name="goal-body-1">
            <a:extLst xmlns:a="http://schemas.openxmlformats.org/drawingml/2006/main">
              <a:ext uri="{FF2B5EF4-FFF2-40B4-BE49-F238E27FC236}">
                <a16:creationId xmlns:a16="http://schemas.microsoft.com/office/drawing/2014/main" id="{C25E80E0-76C6-4F32-9299-76E61A472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3857625"/>
            <a:ext cx="282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575" b="0">
                <a:solidFill>
                  <a:srgbClr val="58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706B"/>
                </a:solidFill>
                <a:latin typeface="Microsoft YaHei"/>
                <a:ea typeface="Microsoft YaHei"/>
                <a:cs typeface="Microsoft YaHei"/>
              </a:rPr>
              <a:t>用弹簧测力计测出物体所受浮力</a:t>
            </a:r>
          </a:p>
        </p:txBody>
      </p:sp>
      <p:sp>
        <p:nvSpPr>
          <p:cNvPr id="15" name="goal-surface-2">
            <a:extLst xmlns:a="http://schemas.openxmlformats.org/drawingml/2006/main">
              <a:ext uri="{FF2B5EF4-FFF2-40B4-BE49-F238E27FC236}">
                <a16:creationId xmlns:a16="http://schemas.microsoft.com/office/drawing/2014/main" id="{1A098083-817D-4645-90E8-91A75EA73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100" y="2247900"/>
            <a:ext cx="3282950" cy="3105150"/>
          </a:xfrm>
          <a:prstGeom xmlns:a="http://schemas.openxmlformats.org/drawingml/2006/main" prst="roundRect">
            <a:avLst>
              <a:gd name="adj" fmla="val 67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DF"/>
            </a:solidFill>
            <a:prstDash val="solid"/>
          </a:ln>
        </p:spPr>
      </p:sp>
      <p:sp>
        <p:nvSpPr>
          <p:cNvPr id="16" name="goal-number-2">
            <a:extLst xmlns:a="http://schemas.openxmlformats.org/drawingml/2006/main">
              <a:ext uri="{FF2B5EF4-FFF2-40B4-BE49-F238E27FC236}">
                <a16:creationId xmlns:a16="http://schemas.microsoft.com/office/drawing/2014/main" id="{ED260424-B81F-4331-ACC1-7E32D3C6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476500"/>
            <a:ext cx="781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goal-title-2">
            <a:extLst xmlns:a="http://schemas.openxmlformats.org/drawingml/2006/main">
              <a:ext uri="{FF2B5EF4-FFF2-40B4-BE49-F238E27FC236}">
                <a16:creationId xmlns:a16="http://schemas.microsoft.com/office/drawing/2014/main" id="{58F0DF68-9A1C-45D9-A4A4-EEE4B970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3143250"/>
            <a:ext cx="282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73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32E"/>
                </a:solidFill>
                <a:latin typeface="Microsoft YaHei"/>
                <a:ea typeface="Microsoft YaHei"/>
                <a:cs typeface="Microsoft YaHei"/>
              </a:rPr>
              <a:t>建立关系</a:t>
            </a:r>
          </a:p>
        </p:txBody>
      </p:sp>
      <p:sp>
        <p:nvSpPr>
          <p:cNvPr id="18" name="goal-body-2">
            <a:extLst xmlns:a="http://schemas.openxmlformats.org/drawingml/2006/main">
              <a:ext uri="{FF2B5EF4-FFF2-40B4-BE49-F238E27FC236}">
                <a16:creationId xmlns:a16="http://schemas.microsoft.com/office/drawing/2014/main" id="{9FC04486-5C93-4ECF-9AF2-C501D935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3857625"/>
            <a:ext cx="282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575" b="0">
                <a:solidFill>
                  <a:srgbClr val="58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8706B"/>
                </a:solidFill>
                <a:latin typeface="Microsoft YaHei"/>
                <a:ea typeface="Microsoft YaHei"/>
                <a:cs typeface="Microsoft YaHei"/>
              </a:rPr>
              <a:t>验证浮力等于排开液体的重力</a:t>
            </a:r>
          </a:p>
        </p:txBody>
      </p:sp>
    </p:spTree>
    <p:extLst>
      <p:ext uri="{BB962C8B-B14F-4D97-AF65-F5344CB8AC3E}">
        <p14:creationId xmlns:p14="http://schemas.microsoft.com/office/powerpoint/2010/main" val="11596485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field-3">
            <a:extLst xmlns:a="http://schemas.openxmlformats.org/drawingml/2006/main">
              <a:ext uri="{FF2B5EF4-FFF2-40B4-BE49-F238E27FC236}">
                <a16:creationId xmlns:a16="http://schemas.microsoft.com/office/drawing/2014/main" id="{2B37D17A-A713-4B01-9117-E0B38999D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E8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ed-3">
            <a:extLst xmlns:a="http://schemas.openxmlformats.org/drawingml/2006/main">
              <a:ext uri="{FF2B5EF4-FFF2-40B4-BE49-F238E27FC236}">
                <a16:creationId xmlns:a16="http://schemas.microsoft.com/office/drawing/2014/main" id="{21B07D68-F787-4B31-A3B7-C98BC1B7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876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3">
            <a:extLst xmlns:a="http://schemas.openxmlformats.org/drawingml/2006/main">
              <a:ext uri="{FF2B5EF4-FFF2-40B4-BE49-F238E27FC236}">
                <a16:creationId xmlns:a16="http://schemas.microsoft.com/office/drawing/2014/main" id="{2F8BC783-2B86-493B-8120-00DE7170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核心概念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C458F890-BE97-4634-92D5-C9600983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1912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5870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70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7AB9B24A-E236-4315-B17D-4CA881A5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>
                <a:solidFill>
                  <a:srgbClr val="173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7332E"/>
                </a:solidFill>
                <a:latin typeface="Microsoft YaHei"/>
                <a:ea typeface="Microsoft YaHei"/>
                <a:cs typeface="Microsoft YaHei"/>
              </a:rPr>
              <a:t>浮力来自液体上下表面的压力差</a:t>
            </a:r>
          </a:p>
        </p:txBody>
      </p:sp>
      <p:sp>
        <p:nvSpPr>
          <p:cNvPr id="6" name="subtitle-3">
            <a:extLst xmlns:a="http://schemas.openxmlformats.org/drawingml/2006/main">
              <a:ext uri="{FF2B5EF4-FFF2-40B4-BE49-F238E27FC236}">
                <a16:creationId xmlns:a16="http://schemas.microsoft.com/office/drawing/2014/main" id="{976C1CAB-23B4-41D6-82BD-719DCC09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8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6B"/>
                </a:solidFill>
                <a:latin typeface="Microsoft YaHei"/>
                <a:ea typeface="Microsoft YaHei"/>
                <a:cs typeface="Microsoft YaHei"/>
              </a:rPr>
              <a:t>越深的位置，液体产生的压力通常越大</a:t>
            </a:r>
          </a:p>
        </p:txBody>
      </p:sp>
      <p:sp>
        <p:nvSpPr>
          <p:cNvPr id="7" name="split-points">
            <a:extLst xmlns:a="http://schemas.openxmlformats.org/drawingml/2006/main">
              <a:ext uri="{FF2B5EF4-FFF2-40B4-BE49-F238E27FC236}">
                <a16:creationId xmlns:a16="http://schemas.microsoft.com/office/drawing/2014/main" id="{37A23608-9C2D-4320-BA48-9AFE3A9B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4857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173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32E"/>
                </a:solidFill>
                <a:latin typeface="Microsoft YaHei"/>
                <a:ea typeface="Microsoft YaHei"/>
                <a:cs typeface="Microsoft YaHei"/>
              </a:rPr>
              <a:t>• 液体从各个方向压向物体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173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32E"/>
                </a:solidFill>
                <a:latin typeface="Microsoft YaHei"/>
                <a:ea typeface="Microsoft YaHei"/>
                <a:cs typeface="Microsoft YaHei"/>
              </a:rPr>
              <a:t>• 下表面通常比上表面更深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173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7332E"/>
                </a:solidFill>
                <a:latin typeface="Microsoft YaHei"/>
                <a:ea typeface="Microsoft YaHei"/>
                <a:cs typeface="Microsoft YaHei"/>
              </a:rPr>
              <a:t>• 向上的压力大于向下的压力</a:t>
            </a:r>
          </a:p>
        </p:txBody>
      </p:sp>
      <p:sp>
        <p:nvSpPr>
          <p:cNvPr id="8" name="split-divider">
            <a:extLst xmlns:a="http://schemas.openxmlformats.org/drawingml/2006/main">
              <a:ext uri="{FF2B5EF4-FFF2-40B4-BE49-F238E27FC236}">
                <a16:creationId xmlns:a16="http://schemas.microsoft.com/office/drawing/2014/main" id="{2708231B-6D16-47F6-AF6D-B30A3316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21526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FE8DF"/>
            </a:solidFill>
            <a:prstDash val="solid"/>
          </a:ln>
        </p:spPr>
      </p:sp>
      <p:sp>
        <p:nvSpPr>
          <p:cNvPr id="9" name="water-field">
            <a:extLst xmlns:a="http://schemas.openxmlformats.org/drawingml/2006/main">
              <a:ext uri="{FF2B5EF4-FFF2-40B4-BE49-F238E27FC236}">
                <a16:creationId xmlns:a16="http://schemas.microsoft.com/office/drawing/2014/main" id="{2CAA207D-0358-47BA-848C-9C774DB1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390525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CFE8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object">
            <a:extLst xmlns:a="http://schemas.openxmlformats.org/drawingml/2006/main">
              <a:ext uri="{FF2B5EF4-FFF2-40B4-BE49-F238E27FC236}">
                <a16:creationId xmlns:a16="http://schemas.microsoft.com/office/drawing/2014/main" id="{CE07FA9C-699A-45E8-92A4-0281B80F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333750"/>
            <a:ext cx="133350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11" name="up-arrow">
            <a:extLst xmlns:a="http://schemas.openxmlformats.org/drawingml/2006/main">
              <a:ext uri="{FF2B5EF4-FFF2-40B4-BE49-F238E27FC236}">
                <a16:creationId xmlns:a16="http://schemas.microsoft.com/office/drawing/2014/main" id="{311ABB2E-36F7-4534-AD6A-9E66539B5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038350"/>
            <a:ext cx="762000" cy="11239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own-arrow">
            <a:extLst xmlns:a="http://schemas.openxmlformats.org/drawingml/2006/main">
              <a:ext uri="{FF2B5EF4-FFF2-40B4-BE49-F238E27FC236}">
                <a16:creationId xmlns:a16="http://schemas.microsoft.com/office/drawing/2014/main" id="{F46EDC2F-D583-4831-9335-6E058988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4476750"/>
            <a:ext cx="533400" cy="7239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587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up-label">
            <a:extLst xmlns:a="http://schemas.openxmlformats.org/drawingml/2006/main">
              <a:ext uri="{FF2B5EF4-FFF2-40B4-BE49-F238E27FC236}">
                <a16:creationId xmlns:a16="http://schemas.microsoft.com/office/drawing/2014/main" id="{008C145E-9226-4CF1-B3D6-866D353A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52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向上压力较大</a:t>
            </a:r>
          </a:p>
        </p:txBody>
      </p:sp>
      <p:sp>
        <p:nvSpPr>
          <p:cNvPr id="14" name="down-label">
            <a:extLst xmlns:a="http://schemas.openxmlformats.org/drawingml/2006/main">
              <a:ext uri="{FF2B5EF4-FFF2-40B4-BE49-F238E27FC236}">
                <a16:creationId xmlns:a16="http://schemas.microsoft.com/office/drawing/2014/main" id="{7AD4BDC3-2D52-4733-8A30-B9AD0D2C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80060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58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8706B"/>
                </a:solidFill>
                <a:latin typeface="Microsoft YaHei"/>
                <a:ea typeface="Microsoft YaHei"/>
                <a:cs typeface="Microsoft YaHei"/>
              </a:rPr>
              <a:t>向下压力较小</a:t>
            </a:r>
          </a:p>
        </p:txBody>
      </p:sp>
    </p:spTree>
    <p:extLst>
      <p:ext uri="{BB962C8B-B14F-4D97-AF65-F5344CB8AC3E}">
        <p14:creationId xmlns:p14="http://schemas.microsoft.com/office/powerpoint/2010/main" val="898200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field-4">
            <a:extLst xmlns:a="http://schemas.openxmlformats.org/drawingml/2006/main">
              <a:ext uri="{FF2B5EF4-FFF2-40B4-BE49-F238E27FC236}">
                <a16:creationId xmlns:a16="http://schemas.microsoft.com/office/drawing/2014/main" id="{FE1CB4ED-361C-4C45-AD4F-2DD07CAB5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E8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ed-4">
            <a:extLst xmlns:a="http://schemas.openxmlformats.org/drawingml/2006/main">
              <a:ext uri="{FF2B5EF4-FFF2-40B4-BE49-F238E27FC236}">
                <a16:creationId xmlns:a16="http://schemas.microsoft.com/office/drawing/2014/main" id="{C803802C-2E1A-44AD-9649-69241500C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876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4">
            <a:extLst xmlns:a="http://schemas.openxmlformats.org/drawingml/2006/main">
              <a:ext uri="{FF2B5EF4-FFF2-40B4-BE49-F238E27FC236}">
                <a16:creationId xmlns:a16="http://schemas.microsoft.com/office/drawing/2014/main" id="{24F68E68-2640-41EB-A1AD-4DC08AF1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实验推理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F512998D-CA24-4290-90CD-80303F6D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1912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5870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70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07B92EA1-474F-49F3-A1A0-690B75D4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>
                <a:solidFill>
                  <a:srgbClr val="173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7332E"/>
                </a:solidFill>
                <a:latin typeface="Microsoft YaHei"/>
                <a:ea typeface="Microsoft YaHei"/>
                <a:cs typeface="Microsoft YaHei"/>
              </a:rPr>
              <a:t>四步溢水法验证阿基米德原理</a:t>
            </a:r>
          </a:p>
        </p:txBody>
      </p:sp>
      <p:sp>
        <p:nvSpPr>
          <p:cNvPr id="6" name="subtitle-4">
            <a:extLst xmlns:a="http://schemas.openxmlformats.org/drawingml/2006/main">
              <a:ext uri="{FF2B5EF4-FFF2-40B4-BE49-F238E27FC236}">
                <a16:creationId xmlns:a16="http://schemas.microsoft.com/office/drawing/2014/main" id="{212C2445-4ED2-481E-8CBA-25C481A8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8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6B"/>
                </a:solidFill>
                <a:latin typeface="Microsoft YaHei"/>
                <a:ea typeface="Microsoft YaHei"/>
                <a:cs typeface="Microsoft YaHei"/>
              </a:rPr>
              <a:t>同一个实验，同时得到浮力与排开水重力</a:t>
            </a:r>
          </a:p>
        </p:txBody>
      </p:sp>
      <p:sp>
        <p:nvSpPr>
          <p:cNvPr id="7" name="process-link-0">
            <a:extLst xmlns:a="http://schemas.openxmlformats.org/drawingml/2006/main">
              <a:ext uri="{FF2B5EF4-FFF2-40B4-BE49-F238E27FC236}">
                <a16:creationId xmlns:a16="http://schemas.microsoft.com/office/drawing/2014/main" id="{2A791BDD-F64B-4A06-8BF5-64E16E121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6576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8" name="step-num-0">
            <a:extLst xmlns:a="http://schemas.openxmlformats.org/drawingml/2006/main">
              <a:ext uri="{FF2B5EF4-FFF2-40B4-BE49-F238E27FC236}">
                <a16:creationId xmlns:a16="http://schemas.microsoft.com/office/drawing/2014/main" id="{DD92FFA8-B640-4B2F-B0E8-E8985AFA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ep-index-0">
            <a:extLst xmlns:a="http://schemas.openxmlformats.org/drawingml/2006/main">
              <a:ext uri="{FF2B5EF4-FFF2-40B4-BE49-F238E27FC236}">
                <a16:creationId xmlns:a16="http://schemas.microsoft.com/office/drawing/2014/main" id="{F1ADCD07-E101-4A41-950D-DA8D38801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0325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6D672DF2-BB89-4D6E-841C-ED2A8F3E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2447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73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32E"/>
                </a:solidFill>
                <a:latin typeface="Microsoft YaHei"/>
                <a:ea typeface="Microsoft YaHei"/>
                <a:cs typeface="Microsoft YaHei"/>
              </a:rPr>
              <a:t>测物重</a:t>
            </a:r>
          </a:p>
        </p:txBody>
      </p:sp>
      <p:sp>
        <p:nvSpPr>
          <p:cNvPr id="11" name="step-body-0">
            <a:extLst xmlns:a="http://schemas.openxmlformats.org/drawingml/2006/main">
              <a:ext uri="{FF2B5EF4-FFF2-40B4-BE49-F238E27FC236}">
                <a16:creationId xmlns:a16="http://schemas.microsoft.com/office/drawing/2014/main" id="{37AB07FD-A0C3-488E-8BAB-AB26B5D1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2333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8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706B"/>
                </a:solidFill>
                <a:latin typeface="Microsoft YaHei"/>
                <a:ea typeface="Microsoft YaHei"/>
                <a:cs typeface="Microsoft YaHei"/>
              </a:rPr>
              <a:t>记录物体重力 G</a:t>
            </a:r>
          </a:p>
        </p:txBody>
      </p:sp>
      <p:sp>
        <p:nvSpPr>
          <p:cNvPr id="12" name="process-link-1">
            <a:extLst xmlns:a="http://schemas.openxmlformats.org/drawingml/2006/main">
              <a:ext uri="{FF2B5EF4-FFF2-40B4-BE49-F238E27FC236}">
                <a16:creationId xmlns:a16="http://schemas.microsoft.com/office/drawing/2014/main" id="{5A0E7E84-138C-4BD7-AEFA-4E48282E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6576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3" name="step-num-1">
            <a:extLst xmlns:a="http://schemas.openxmlformats.org/drawingml/2006/main">
              <a:ext uri="{FF2B5EF4-FFF2-40B4-BE49-F238E27FC236}">
                <a16:creationId xmlns:a16="http://schemas.microsoft.com/office/drawing/2014/main" id="{53B14E17-17B7-48B9-8768-5C8AD820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tep-index-1">
            <a:extLst xmlns:a="http://schemas.openxmlformats.org/drawingml/2006/main">
              <a:ext uri="{FF2B5EF4-FFF2-40B4-BE49-F238E27FC236}">
                <a16:creationId xmlns:a16="http://schemas.microsoft.com/office/drawing/2014/main" id="{E45E36BF-E2E1-43F8-A434-95675031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600325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6956C292-3353-4E31-85FB-ACB38133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371850"/>
            <a:ext cx="2447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73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32E"/>
                </a:solidFill>
                <a:latin typeface="Microsoft YaHei"/>
                <a:ea typeface="Microsoft YaHei"/>
                <a:cs typeface="Microsoft YaHei"/>
              </a:rPr>
              <a:t>测拉力</a:t>
            </a:r>
          </a:p>
        </p:txBody>
      </p:sp>
      <p:sp>
        <p:nvSpPr>
          <p:cNvPr id="16" name="step-body-1">
            <a:extLst xmlns:a="http://schemas.openxmlformats.org/drawingml/2006/main">
              <a:ext uri="{FF2B5EF4-FFF2-40B4-BE49-F238E27FC236}">
                <a16:creationId xmlns:a16="http://schemas.microsoft.com/office/drawing/2014/main" id="{0B38B6BF-6946-4E67-995C-811494AE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962400"/>
            <a:ext cx="2333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8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706B"/>
                </a:solidFill>
                <a:latin typeface="Microsoft YaHei"/>
                <a:ea typeface="Microsoft YaHei"/>
                <a:cs typeface="Microsoft YaHei"/>
              </a:rPr>
              <a:t>浸没后记录 F拉</a:t>
            </a:r>
          </a:p>
        </p:txBody>
      </p:sp>
      <p:sp>
        <p:nvSpPr>
          <p:cNvPr id="17" name="process-link-2">
            <a:extLst xmlns:a="http://schemas.openxmlformats.org/drawingml/2006/main">
              <a:ext uri="{FF2B5EF4-FFF2-40B4-BE49-F238E27FC236}">
                <a16:creationId xmlns:a16="http://schemas.microsoft.com/office/drawing/2014/main" id="{88E52156-7559-4A2E-B407-3E122CDE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576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8" name="step-num-2">
            <a:extLst xmlns:a="http://schemas.openxmlformats.org/drawingml/2006/main">
              <a:ext uri="{FF2B5EF4-FFF2-40B4-BE49-F238E27FC236}">
                <a16:creationId xmlns:a16="http://schemas.microsoft.com/office/drawing/2014/main" id="{07DE5183-F4A4-4B35-90EF-EC1B9E18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tep-index-2">
            <a:extLst xmlns:a="http://schemas.openxmlformats.org/drawingml/2006/main">
              <a:ext uri="{FF2B5EF4-FFF2-40B4-BE49-F238E27FC236}">
                <a16:creationId xmlns:a16="http://schemas.microsoft.com/office/drawing/2014/main" id="{D2FC8724-6BE0-4CCC-BD08-C237D6FE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00325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13C812CE-496B-4B96-8EF2-83BE85CB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371850"/>
            <a:ext cx="2447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73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32E"/>
                </a:solidFill>
                <a:latin typeface="Microsoft YaHei"/>
                <a:ea typeface="Microsoft YaHei"/>
                <a:cs typeface="Microsoft YaHei"/>
              </a:rPr>
              <a:t>测空桶</a:t>
            </a:r>
          </a:p>
        </p:txBody>
      </p:sp>
      <p:sp>
        <p:nvSpPr>
          <p:cNvPr id="21" name="step-body-2">
            <a:extLst xmlns:a="http://schemas.openxmlformats.org/drawingml/2006/main">
              <a:ext uri="{FF2B5EF4-FFF2-40B4-BE49-F238E27FC236}">
                <a16:creationId xmlns:a16="http://schemas.microsoft.com/office/drawing/2014/main" id="{EF1F00BB-3DEA-4306-9873-53AB1B08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62400"/>
            <a:ext cx="2333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8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706B"/>
                </a:solidFill>
                <a:latin typeface="Microsoft YaHei"/>
                <a:ea typeface="Microsoft YaHei"/>
                <a:cs typeface="Microsoft YaHei"/>
              </a:rPr>
              <a:t>记录小桶重力 G桶</a:t>
            </a:r>
          </a:p>
        </p:txBody>
      </p:sp>
      <p:sp>
        <p:nvSpPr>
          <p:cNvPr id="22" name="step-num-3">
            <a:extLst xmlns:a="http://schemas.openxmlformats.org/drawingml/2006/main">
              <a:ext uri="{FF2B5EF4-FFF2-40B4-BE49-F238E27FC236}">
                <a16:creationId xmlns:a16="http://schemas.microsoft.com/office/drawing/2014/main" id="{1E5985FD-74B7-4ED4-8467-6EA1B84DA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tep-index-3">
            <a:extLst xmlns:a="http://schemas.openxmlformats.org/drawingml/2006/main">
              <a:ext uri="{FF2B5EF4-FFF2-40B4-BE49-F238E27FC236}">
                <a16:creationId xmlns:a16="http://schemas.microsoft.com/office/drawing/2014/main" id="{A865B935-A4BD-46F4-B6EF-03F6109FF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600325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1C5717C5-281B-4EFA-8D7F-F5A97481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371850"/>
            <a:ext cx="2447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73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332E"/>
                </a:solidFill>
                <a:latin typeface="Microsoft YaHei"/>
                <a:ea typeface="Microsoft YaHei"/>
                <a:cs typeface="Microsoft YaHei"/>
              </a:rPr>
              <a:t>测总重</a:t>
            </a:r>
          </a:p>
        </p:txBody>
      </p:sp>
      <p:sp>
        <p:nvSpPr>
          <p:cNvPr id="25" name="step-body-3">
            <a:extLst xmlns:a="http://schemas.openxmlformats.org/drawingml/2006/main">
              <a:ext uri="{FF2B5EF4-FFF2-40B4-BE49-F238E27FC236}">
                <a16:creationId xmlns:a16="http://schemas.microsoft.com/office/drawing/2014/main" id="{9936033D-FA78-4E66-A2BA-529433CD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962400"/>
            <a:ext cx="2333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58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8706B"/>
                </a:solidFill>
                <a:latin typeface="Microsoft YaHei"/>
                <a:ea typeface="Microsoft YaHei"/>
                <a:cs typeface="Microsoft YaHei"/>
              </a:rPr>
              <a:t>记录水与桶总重 G总</a:t>
            </a:r>
          </a:p>
        </p:txBody>
      </p:sp>
      <p:sp>
        <p:nvSpPr>
          <p:cNvPr id="26" name="process-result">
            <a:extLst xmlns:a="http://schemas.openxmlformats.org/drawingml/2006/main">
              <a:ext uri="{FF2B5EF4-FFF2-40B4-BE49-F238E27FC236}">
                <a16:creationId xmlns:a16="http://schemas.microsoft.com/office/drawing/2014/main" id="{1A216C36-5474-4CE3-9E53-1AEFC6F0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42035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CFE8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rocess-formula">
            <a:extLst xmlns:a="http://schemas.openxmlformats.org/drawingml/2006/main">
              <a:ext uri="{FF2B5EF4-FFF2-40B4-BE49-F238E27FC236}">
                <a16:creationId xmlns:a16="http://schemas.microsoft.com/office/drawing/2014/main" id="{024763B5-6D65-4FB0-B462-F529556D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3050"/>
            <a:ext cx="996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1733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32E"/>
                </a:solidFill>
                <a:latin typeface="Arial"/>
                <a:ea typeface="Arial"/>
                <a:cs typeface="Arial"/>
              </a:rPr>
              <a:t>F浮 = G − F拉     ｜     G排 = G总 − G桶     ｜     实验结果：F浮 = G排</a:t>
            </a:r>
          </a:p>
        </p:txBody>
      </p:sp>
    </p:spTree>
    <p:extLst>
      <p:ext uri="{BB962C8B-B14F-4D97-AF65-F5344CB8AC3E}">
        <p14:creationId xmlns:p14="http://schemas.microsoft.com/office/powerpoint/2010/main" val="7697558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field-5">
            <a:extLst xmlns:a="http://schemas.openxmlformats.org/drawingml/2006/main">
              <a:ext uri="{FF2B5EF4-FFF2-40B4-BE49-F238E27FC236}">
                <a16:creationId xmlns:a16="http://schemas.microsoft.com/office/drawing/2014/main" id="{13DF014F-D457-4297-89EE-B7CD2332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E8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ed-5">
            <a:extLst xmlns:a="http://schemas.openxmlformats.org/drawingml/2006/main">
              <a:ext uri="{FF2B5EF4-FFF2-40B4-BE49-F238E27FC236}">
                <a16:creationId xmlns:a16="http://schemas.microsoft.com/office/drawing/2014/main" id="{0B976CBD-3954-4263-BA9E-64A9CFA5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876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5">
            <a:extLst xmlns:a="http://schemas.openxmlformats.org/drawingml/2006/main">
              <a:ext uri="{FF2B5EF4-FFF2-40B4-BE49-F238E27FC236}">
                <a16:creationId xmlns:a16="http://schemas.microsoft.com/office/drawing/2014/main" id="{C36125D2-C3AC-4950-A038-1566CBA0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课堂练习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1F284769-BB1B-470D-A01B-C0A42990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1912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5870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70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CC7DF00C-5F93-4DF5-9294-D1878E9C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>
                <a:solidFill>
                  <a:srgbClr val="173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7332E"/>
                </a:solidFill>
                <a:latin typeface="Microsoft YaHei"/>
                <a:ea typeface="Microsoft YaHei"/>
                <a:cs typeface="Microsoft YaHei"/>
              </a:rPr>
              <a:t>同一物体浸入水中更深，浮力一定变大吗？</a:t>
            </a:r>
          </a:p>
        </p:txBody>
      </p:sp>
      <p:sp>
        <p:nvSpPr>
          <p:cNvPr id="6" name="subtitle-5">
            <a:extLst xmlns:a="http://schemas.openxmlformats.org/drawingml/2006/main">
              <a:ext uri="{FF2B5EF4-FFF2-40B4-BE49-F238E27FC236}">
                <a16:creationId xmlns:a16="http://schemas.microsoft.com/office/drawing/2014/main" id="{D23D6D76-03CE-410C-8C72-3363D50D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8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6B"/>
                </a:solidFill>
                <a:latin typeface="Microsoft YaHei"/>
                <a:ea typeface="Microsoft YaHei"/>
                <a:cs typeface="Microsoft YaHei"/>
              </a:rPr>
              <a:t>先判断，再说明你关注的是“深度”还是“排开水的体积”</a:t>
            </a:r>
          </a:p>
        </p:txBody>
      </p:sp>
      <p:sp>
        <p:nvSpPr>
          <p:cNvPr id="7" name="question-accent">
            <a:extLst xmlns:a="http://schemas.openxmlformats.org/drawingml/2006/main">
              <a:ext uri="{FF2B5EF4-FFF2-40B4-BE49-F238E27FC236}">
                <a16:creationId xmlns:a16="http://schemas.microsoft.com/office/drawing/2014/main" id="{F55314A6-77F0-4DC0-8F89-93F2039C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143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60C98939-AEB0-4C96-BEEB-43BB269F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431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173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32E"/>
                </a:solidFill>
                <a:latin typeface="Microsoft YaHei"/>
                <a:ea typeface="Microsoft YaHei"/>
                <a:cs typeface="Microsoft YaHei"/>
              </a:rPr>
              <a:t>一个木块完全浸没在水中后，继续向下移动但不接触容器底。它受到的浮力如何变化？</a:t>
            </a:r>
          </a:p>
        </p:txBody>
      </p:sp>
      <p:sp>
        <p:nvSpPr>
          <p:cNvPr id="9" name="hint">
            <a:extLst xmlns:a="http://schemas.openxmlformats.org/drawingml/2006/main">
              <a:ext uri="{FF2B5EF4-FFF2-40B4-BE49-F238E27FC236}">
                <a16:creationId xmlns:a16="http://schemas.microsoft.com/office/drawing/2014/main" id="{8D815699-80C4-47FA-AAE7-B0A3A9D5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481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提示：完全浸没后，V排 是否改变？</a:t>
            </a:r>
          </a:p>
        </p:txBody>
      </p:sp>
      <p:sp>
        <p:nvSpPr>
          <p:cNvPr id="10" name="option-index-0">
            <a:extLst xmlns:a="http://schemas.openxmlformats.org/drawingml/2006/main">
              <a:ext uri="{FF2B5EF4-FFF2-40B4-BE49-F238E27FC236}">
                <a16:creationId xmlns:a16="http://schemas.microsoft.com/office/drawing/2014/main" id="{7D3A7E7F-8FF5-4E24-8322-161A8985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81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E8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option-letter-0">
            <a:extLst xmlns:a="http://schemas.openxmlformats.org/drawingml/2006/main">
              <a:ext uri="{FF2B5EF4-FFF2-40B4-BE49-F238E27FC236}">
                <a16:creationId xmlns:a16="http://schemas.microsoft.com/office/drawing/2014/main" id="{F10A03BD-C506-4966-9E9A-19BA8D1FB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574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173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32E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2" name="option-text-0">
            <a:extLst xmlns:a="http://schemas.openxmlformats.org/drawingml/2006/main">
              <a:ext uri="{FF2B5EF4-FFF2-40B4-BE49-F238E27FC236}">
                <a16:creationId xmlns:a16="http://schemas.microsoft.com/office/drawing/2014/main" id="{12D460AF-7837-4443-9904-8A89E454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3840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73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32E"/>
                </a:solidFill>
                <a:latin typeface="Microsoft YaHei"/>
                <a:ea typeface="Microsoft YaHei"/>
                <a:cs typeface="Microsoft YaHei"/>
              </a:rPr>
              <a:t>变大</a:t>
            </a:r>
          </a:p>
        </p:txBody>
      </p:sp>
      <p:sp>
        <p:nvSpPr>
          <p:cNvPr id="13" name="option-index-1">
            <a:extLst xmlns:a="http://schemas.openxmlformats.org/drawingml/2006/main">
              <a:ext uri="{FF2B5EF4-FFF2-40B4-BE49-F238E27FC236}">
                <a16:creationId xmlns:a16="http://schemas.microsoft.com/office/drawing/2014/main" id="{77BAC314-03DC-429C-9F44-8A2DF284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3813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option-letter-1">
            <a:extLst xmlns:a="http://schemas.openxmlformats.org/drawingml/2006/main">
              <a:ext uri="{FF2B5EF4-FFF2-40B4-BE49-F238E27FC236}">
                <a16:creationId xmlns:a16="http://schemas.microsoft.com/office/drawing/2014/main" id="{AE9FF7D6-4303-4901-9268-C8E7D0CD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5757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5" name="option-text-1">
            <a:extLst xmlns:a="http://schemas.openxmlformats.org/drawingml/2006/main">
              <a:ext uri="{FF2B5EF4-FFF2-40B4-BE49-F238E27FC236}">
                <a16:creationId xmlns:a16="http://schemas.microsoft.com/office/drawing/2014/main" id="{B3E1ED8E-7241-450F-A159-E9688BDA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38525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不变</a:t>
            </a:r>
          </a:p>
        </p:txBody>
      </p:sp>
      <p:sp>
        <p:nvSpPr>
          <p:cNvPr id="16" name="option-index-2">
            <a:extLst xmlns:a="http://schemas.openxmlformats.org/drawingml/2006/main">
              <a:ext uri="{FF2B5EF4-FFF2-40B4-BE49-F238E27FC236}">
                <a16:creationId xmlns:a16="http://schemas.microsoft.com/office/drawing/2014/main" id="{313D655C-CE81-4158-A8AF-B624830D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3815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E8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option-letter-2">
            <a:extLst xmlns:a="http://schemas.openxmlformats.org/drawingml/2006/main">
              <a:ext uri="{FF2B5EF4-FFF2-40B4-BE49-F238E27FC236}">
                <a16:creationId xmlns:a16="http://schemas.microsoft.com/office/drawing/2014/main" id="{1D9186D3-8A84-44E4-B082-310B9D9CA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457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1733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32E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8" name="option-text-2">
            <a:extLst xmlns:a="http://schemas.openxmlformats.org/drawingml/2006/main">
              <a:ext uri="{FF2B5EF4-FFF2-40B4-BE49-F238E27FC236}">
                <a16:creationId xmlns:a16="http://schemas.microsoft.com/office/drawing/2014/main" id="{D3A150CC-2B3A-4869-A4B0-48D82042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43865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73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17332E"/>
                </a:solidFill>
                <a:latin typeface="Microsoft YaHei"/>
                <a:ea typeface="Microsoft YaHei"/>
                <a:cs typeface="Microsoft YaHei"/>
              </a:rPr>
              <a:t>变小</a:t>
            </a:r>
          </a:p>
        </p:txBody>
      </p:sp>
    </p:spTree>
    <p:extLst>
      <p:ext uri="{BB962C8B-B14F-4D97-AF65-F5344CB8AC3E}">
        <p14:creationId xmlns:p14="http://schemas.microsoft.com/office/powerpoint/2010/main" val="10167022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field-6">
            <a:extLst xmlns:a="http://schemas.openxmlformats.org/drawingml/2006/main">
              <a:ext uri="{FF2B5EF4-FFF2-40B4-BE49-F238E27FC236}">
                <a16:creationId xmlns:a16="http://schemas.microsoft.com/office/drawing/2014/main" id="{D99942EF-D26A-41F8-B26E-F50079B2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0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E8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ed-6">
            <a:extLst xmlns:a="http://schemas.openxmlformats.org/drawingml/2006/main">
              <a:ext uri="{FF2B5EF4-FFF2-40B4-BE49-F238E27FC236}">
                <a16:creationId xmlns:a16="http://schemas.microsoft.com/office/drawing/2014/main" id="{B2889570-ABBC-4021-8266-399E4ABB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8763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6">
            <a:extLst xmlns:a="http://schemas.openxmlformats.org/drawingml/2006/main">
              <a:ext uri="{FF2B5EF4-FFF2-40B4-BE49-F238E27FC236}">
                <a16:creationId xmlns:a16="http://schemas.microsoft.com/office/drawing/2014/main" id="{9B8019F8-8AB1-488C-B4EB-891A5C965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课堂小结</a:t>
            </a:r>
          </a:p>
        </p:txBody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17930793-5675-4017-87C1-4E5E54F2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1912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5870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8706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title-6">
            <a:extLst xmlns:a="http://schemas.openxmlformats.org/drawingml/2006/main">
              <a:ext uri="{FF2B5EF4-FFF2-40B4-BE49-F238E27FC236}">
                <a16:creationId xmlns:a16="http://schemas.microsoft.com/office/drawing/2014/main" id="{7D316AF1-1A5E-44B3-9C95-43F79EC1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>
                <a:solidFill>
                  <a:srgbClr val="173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7332E"/>
                </a:solidFill>
                <a:latin typeface="Microsoft YaHei"/>
                <a:ea typeface="Microsoft YaHei"/>
                <a:cs typeface="Microsoft YaHei"/>
              </a:rPr>
              <a:t>一条关系串起浮力的来源、测量与大小</a:t>
            </a:r>
          </a:p>
        </p:txBody>
      </p:sp>
      <p:sp>
        <p:nvSpPr>
          <p:cNvPr id="6" name="subtitle-6">
            <a:extLst xmlns:a="http://schemas.openxmlformats.org/drawingml/2006/main">
              <a:ext uri="{FF2B5EF4-FFF2-40B4-BE49-F238E27FC236}">
                <a16:creationId xmlns:a16="http://schemas.microsoft.com/office/drawing/2014/main" id="{8CB3E69A-A100-44B6-8539-65DC27EF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8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8706B"/>
                </a:solidFill>
                <a:latin typeface="Microsoft YaHei"/>
                <a:ea typeface="Microsoft YaHei"/>
                <a:cs typeface="Microsoft YaHei"/>
              </a:rPr>
              <a:t>从现象走向可验证的物理关系</a:t>
            </a:r>
          </a:p>
        </p:txBody>
      </p:sp>
      <p:sp>
        <p:nvSpPr>
          <p:cNvPr id="7" name="summary-formula">
            <a:extLst xmlns:a="http://schemas.openxmlformats.org/drawingml/2006/main">
              <a:ext uri="{FF2B5EF4-FFF2-40B4-BE49-F238E27FC236}">
                <a16:creationId xmlns:a16="http://schemas.microsoft.com/office/drawing/2014/main" id="{2FE8B42D-EFD0-41C7-B74A-6CB4E92A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0401300" cy="10668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8D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450" b="1">
                <a:solidFill>
                  <a:srgbClr val="0F766E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0F766E"/>
                </a:solidFill>
                <a:latin typeface="Arial"/>
                <a:ea typeface="Arial"/>
                <a:cs typeface="Arial"/>
              </a:rPr>
              <a:t>F浮 = G排 = ρ液 g V排</a:t>
            </a:r>
          </a:p>
        </p:txBody>
      </p:sp>
      <p:sp>
        <p:nvSpPr>
          <p:cNvPr id="8" name="summary-dot-0">
            <a:extLst xmlns:a="http://schemas.openxmlformats.org/drawingml/2006/main">
              <a:ext uri="{FF2B5EF4-FFF2-40B4-BE49-F238E27FC236}">
                <a16:creationId xmlns:a16="http://schemas.microsoft.com/office/drawing/2014/main" id="{654D2200-0D3F-4CB1-9DF7-7E31050D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ummary-point-0">
            <a:extLst xmlns:a="http://schemas.openxmlformats.org/drawingml/2006/main">
              <a:ext uri="{FF2B5EF4-FFF2-40B4-BE49-F238E27FC236}">
                <a16:creationId xmlns:a16="http://schemas.microsoft.com/office/drawing/2014/main" id="{2F830ADC-FF80-418E-A3B7-12935D60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81450"/>
            <a:ext cx="2743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50" b="1">
                <a:solidFill>
                  <a:srgbClr val="173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32E"/>
                </a:solidFill>
                <a:latin typeface="Microsoft YaHei"/>
                <a:ea typeface="Microsoft YaHei"/>
                <a:cs typeface="Microsoft YaHei"/>
              </a:rPr>
              <a:t>来源：上下表面的压力差</a:t>
            </a:r>
          </a:p>
        </p:txBody>
      </p:sp>
      <p:sp>
        <p:nvSpPr>
          <p:cNvPr id="10" name="summary-dot-1">
            <a:extLst xmlns:a="http://schemas.openxmlformats.org/drawingml/2006/main">
              <a:ext uri="{FF2B5EF4-FFF2-40B4-BE49-F238E27FC236}">
                <a16:creationId xmlns:a16="http://schemas.microsoft.com/office/drawing/2014/main" id="{05C4FDB9-C0FA-4482-AB2F-0B1134E6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038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ummary-point-1">
            <a:extLst xmlns:a="http://schemas.openxmlformats.org/drawingml/2006/main">
              <a:ext uri="{FF2B5EF4-FFF2-40B4-BE49-F238E27FC236}">
                <a16:creationId xmlns:a16="http://schemas.microsoft.com/office/drawing/2014/main" id="{E52F51B6-9837-4F2B-9C7B-3973A285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981450"/>
            <a:ext cx="2743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50" b="1">
                <a:solidFill>
                  <a:srgbClr val="173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32E"/>
                </a:solidFill>
                <a:latin typeface="Microsoft YaHei"/>
                <a:ea typeface="Microsoft YaHei"/>
                <a:cs typeface="Microsoft YaHei"/>
              </a:rPr>
              <a:t>测量：F浮 = G − F拉</a:t>
            </a:r>
          </a:p>
        </p:txBody>
      </p:sp>
      <p:sp>
        <p:nvSpPr>
          <p:cNvPr id="12" name="summary-dot-2">
            <a:extLst xmlns:a="http://schemas.openxmlformats.org/drawingml/2006/main">
              <a:ext uri="{FF2B5EF4-FFF2-40B4-BE49-F238E27FC236}">
                <a16:creationId xmlns:a16="http://schemas.microsoft.com/office/drawing/2014/main" id="{3F2FEF7E-D108-40C9-AC96-AB0D8472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38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ummary-point-2">
            <a:extLst xmlns:a="http://schemas.openxmlformats.org/drawingml/2006/main">
              <a:ext uri="{FF2B5EF4-FFF2-40B4-BE49-F238E27FC236}">
                <a16:creationId xmlns:a16="http://schemas.microsoft.com/office/drawing/2014/main" id="{D86226A6-C235-42F0-B14A-6F3B41D1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981450"/>
            <a:ext cx="2743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50" b="1">
                <a:solidFill>
                  <a:srgbClr val="1733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332E"/>
                </a:solidFill>
                <a:latin typeface="Microsoft YaHei"/>
                <a:ea typeface="Microsoft YaHei"/>
                <a:cs typeface="Microsoft YaHei"/>
              </a:rPr>
              <a:t>规律：等于排开液体的重力</a:t>
            </a:r>
          </a:p>
        </p:txBody>
      </p:sp>
      <p:sp>
        <p:nvSpPr>
          <p:cNvPr id="14" name="summary-close">
            <a:extLst xmlns:a="http://schemas.openxmlformats.org/drawingml/2006/main">
              <a:ext uri="{FF2B5EF4-FFF2-40B4-BE49-F238E27FC236}">
                <a16:creationId xmlns:a16="http://schemas.microsoft.com/office/drawing/2014/main" id="{663C504F-5997-421A-8A21-EF007434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0">
                <a:solidFill>
                  <a:srgbClr val="5870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8706B"/>
                </a:solidFill>
                <a:latin typeface="Microsoft YaHei"/>
                <a:ea typeface="Microsoft YaHei"/>
                <a:cs typeface="Microsoft YaHei"/>
              </a:rPr>
              <a:t>下一次看到漂浮或下沉，先问：它排开了多少液体？</a:t>
            </a:r>
          </a:p>
        </p:txBody>
      </p:sp>
    </p:spTree>
    <p:extLst>
      <p:ext uri="{BB962C8B-B14F-4D97-AF65-F5344CB8AC3E}">
        <p14:creationId xmlns:p14="http://schemas.microsoft.com/office/powerpoint/2010/main" val="13601852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2026-08-03T15:21:08.5900000Z</dcterms:created>
  <dcterms:modified xsi:type="dcterms:W3CDTF">2026-08-03T15:21:08.5900000Z</dcterms:modified>
</coreProperties>
</file>