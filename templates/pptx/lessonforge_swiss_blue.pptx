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914b046221e4f27" /><Relationship Type="http://schemas.openxmlformats.org/officeDocument/2006/relationships/extended-properties" Target="/docProps/app.xml" Id="R010e8b7ebf5d4c80" /><Relationship Type="http://schemas.openxmlformats.org/officeDocument/2006/relationships/officeDocument" Target="/ppt/presentation.xml" Id="Re60a219592ae4e5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7776148c3be4486"/>
  </p:sldMasterIdLst>
  <p:notesMasterIdLst>
    <p:notesMasterId xmlns:r="http://schemas.openxmlformats.org/officeDocument/2006/relationships" r:id="R9566c6408f0f4b1f"/>
  </p:notesMasterIdLst>
  <p:sldIdLst>
    <p:sldId xmlns:r="http://schemas.openxmlformats.org/officeDocument/2006/relationships" id="256" r:id="R934c2b6c519e4a33"/>
    <p:sldId xmlns:r="http://schemas.openxmlformats.org/officeDocument/2006/relationships" id="257" r:id="R72fb342de1f84a59"/>
    <p:sldId xmlns:r="http://schemas.openxmlformats.org/officeDocument/2006/relationships" id="258" r:id="R48e06a39fe354346"/>
    <p:sldId xmlns:r="http://schemas.openxmlformats.org/officeDocument/2006/relationships" id="259" r:id="R341d5d00560e48e4"/>
    <p:sldId xmlns:r="http://schemas.openxmlformats.org/officeDocument/2006/relationships" id="260" r:id="R546ab7e9a37a454a"/>
    <p:sldId xmlns:r="http://schemas.openxmlformats.org/officeDocument/2006/relationships" id="261" r:id="Rdb559b427486400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c36b3e422834710" /><Relationship Type="http://schemas.openxmlformats.org/officeDocument/2006/relationships/slideMaster" Target="/ppt/slideMasters/slideMaster1.xml" Id="Re7776148c3be4486" /><Relationship Type="http://schemas.openxmlformats.org/officeDocument/2006/relationships/notesMaster" Target="/ppt/notesMasters/notesMaster1.xml" Id="R9566c6408f0f4b1f" /><Relationship Type="http://schemas.openxmlformats.org/officeDocument/2006/relationships/presProps" Target="/ppt/presProps.xml" Id="Rfe47b72123ce4594" /><Relationship Type="http://schemas.openxmlformats.org/officeDocument/2006/relationships/tableStyles" Target="/ppt/tableStyles.xml" Id="R6e2294d3fd4b45a7" /><Relationship Type="http://schemas.openxmlformats.org/officeDocument/2006/relationships/slide" Target="/ppt/slides/slide1.xml" Id="R934c2b6c519e4a33" /><Relationship Type="http://schemas.openxmlformats.org/officeDocument/2006/relationships/slide" Target="/ppt/slides/slide2.xml" Id="R72fb342de1f84a59" /><Relationship Type="http://schemas.openxmlformats.org/officeDocument/2006/relationships/slide" Target="/ppt/slides/slide3.xml" Id="R48e06a39fe354346" /><Relationship Type="http://schemas.openxmlformats.org/officeDocument/2006/relationships/slide" Target="/ppt/slides/slide4.xml" Id="R341d5d00560e48e4" /><Relationship Type="http://schemas.openxmlformats.org/officeDocument/2006/relationships/slide" Target="/ppt/slides/slide5.xml" Id="R546ab7e9a37a454a" /><Relationship Type="http://schemas.openxmlformats.org/officeDocument/2006/relationships/slide" Target="/ppt/slides/slide6.xml" Id="Rdb559b427486400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59fb6f7f578498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b97a241e95949b3" /><Relationship Type="http://schemas.openxmlformats.org/officeDocument/2006/relationships/notesMaster" Target="/ppt/notesMasters/notesMaster1.xml" Id="R3b5faa136d5b479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e9e2c75330b49e2" /><Relationship Type="http://schemas.openxmlformats.org/officeDocument/2006/relationships/notesMaster" Target="/ppt/notesMasters/notesMaster1.xml" Id="Rfd0e88a880b9457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d5bd830ecb84aa1" /><Relationship Type="http://schemas.openxmlformats.org/officeDocument/2006/relationships/notesMaster" Target="/ppt/notesMasters/notesMaster1.xml" Id="R867bcc879cda4c7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d3daf7946064963" /><Relationship Type="http://schemas.openxmlformats.org/officeDocument/2006/relationships/notesMaster" Target="/ppt/notesMasters/notesMaster1.xml" Id="Rb148f25dc2dc420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d297950216a4199" /><Relationship Type="http://schemas.openxmlformats.org/officeDocument/2006/relationships/notesMaster" Target="/ppt/notesMasters/notesMaster1.xml" Id="R296e467e12e24d2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9d52e14a46b4b3a" /><Relationship Type="http://schemas.openxmlformats.org/officeDocument/2006/relationships/notesMaster" Target="/ppt/notesMasters/notesMaster1.xml" Id="Rc4f31679299c470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用生活中的漂浮现象引出问题：浮力到底有多大？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目标不要求学生机械记忆；强调观察、测量与解释之间的联系。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借助上下表面压力差说明浮力方向，避免把浮力误解为液体主动托举。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按 1—4 的顺序记录数据，最后比较两组差值是否相等。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答案是不变。完全浸没后排开水的体积不变，液体密度也不变，因此浮力不变。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用公式回扣三个问题：浮力从哪里来、怎样测、由什么决定。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3168ac7bd8c4e3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11ab54ce5b74ef8" /><Relationship Type="http://schemas.openxmlformats.org/officeDocument/2006/relationships/slideLayout" Target="/ppt/slideLayouts/slideLayout1.xml" Id="R86a67b2beffa427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6a67b2beffa427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9622268031483d" /><Relationship Type="http://schemas.openxmlformats.org/officeDocument/2006/relationships/notesSlide" Target="/ppt/notesSlides/notesSlide1.xml" Id="R4d911c1ddede420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2350461a7d450f" /><Relationship Type="http://schemas.openxmlformats.org/officeDocument/2006/relationships/notesSlide" Target="/ppt/notesSlides/notesSlide2.xml" Id="R6b6c64d40a3f464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9d3c984c514e86" /><Relationship Type="http://schemas.openxmlformats.org/officeDocument/2006/relationships/notesSlide" Target="/ppt/notesSlides/notesSlide3.xml" Id="R978c6770d2b14ad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d46e8f5d514dc6" /><Relationship Type="http://schemas.openxmlformats.org/officeDocument/2006/relationships/notesSlide" Target="/ppt/notesSlides/notesSlide4.xml" Id="R42fcd0ff0050409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0ca6241d2e4746" /><Relationship Type="http://schemas.openxmlformats.org/officeDocument/2006/relationships/notesSlide" Target="/ppt/notesSlides/notesSlide5.xml" Id="Rb1e9b6653b6d498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5f73e9c542418b" /><Relationship Type="http://schemas.openxmlformats.org/officeDocument/2006/relationships/notesSlide" Target="/ppt/notesSlides/notesSlide6.xml" Id="R36c7dc4af53143b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over-blue-field">
            <a:extLst xmlns:a="http://schemas.openxmlformats.org/drawingml/2006/main">
              <a:ext uri="{FF2B5EF4-FFF2-40B4-BE49-F238E27FC236}">
                <a16:creationId xmlns:a16="http://schemas.microsoft.com/office/drawing/2014/main" id="{E4085091-5E4A-438F-9AB8-EA2EB58E5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537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FA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over-grid-1">
            <a:extLst xmlns:a="http://schemas.openxmlformats.org/drawingml/2006/main">
              <a:ext uri="{FF2B5EF4-FFF2-40B4-BE49-F238E27FC236}">
                <a16:creationId xmlns:a16="http://schemas.microsoft.com/office/drawing/2014/main" id="{090E442E-3E60-4DA8-80DE-B61E7BF5A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1123950"/>
            <a:ext cx="971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7FF"/>
            </a:solidFill>
            <a:prstDash val="solid"/>
          </a:ln>
        </p:spPr>
      </p:sp>
      <p:sp>
        <p:nvSpPr>
          <p:cNvPr id="3" name="cover-grid-2">
            <a:extLst xmlns:a="http://schemas.openxmlformats.org/drawingml/2006/main">
              <a:ext uri="{FF2B5EF4-FFF2-40B4-BE49-F238E27FC236}">
                <a16:creationId xmlns:a16="http://schemas.microsoft.com/office/drawing/2014/main" id="{D401EB69-F730-4D46-890A-326F075C1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5619750"/>
            <a:ext cx="971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7FF"/>
            </a:solidFill>
            <a:prstDash val="solid"/>
          </a:ln>
        </p:spPr>
      </p:sp>
      <p:sp>
        <p:nvSpPr>
          <p:cNvPr id="4" name="cover-kicker">
            <a:extLst xmlns:a="http://schemas.openxmlformats.org/drawingml/2006/main">
              <a:ext uri="{FF2B5EF4-FFF2-40B4-BE49-F238E27FC236}">
                <a16:creationId xmlns:a16="http://schemas.microsoft.com/office/drawing/2014/main" id="{2FEE2B2B-6E2C-45D0-BEAB-A6E3D5C3B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9334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050" b="1">
                <a:solidFill>
                  <a:srgbClr val="002FA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02FA7"/>
                </a:solidFill>
                <a:latin typeface="Arial"/>
                <a:ea typeface="Arial"/>
                <a:cs typeface="Arial"/>
              </a:rPr>
              <a:t>LESSONFORGE / PHYSICS</a:t>
            </a:r>
          </a:p>
        </p:txBody>
      </p:sp>
      <p:sp>
        <p:nvSpPr>
          <p:cNvPr id="5" name="cover-title">
            <a:extLst xmlns:a="http://schemas.openxmlformats.org/drawingml/2006/main">
              <a:ext uri="{FF2B5EF4-FFF2-40B4-BE49-F238E27FC236}">
                <a16:creationId xmlns:a16="http://schemas.microsoft.com/office/drawing/2014/main" id="{E9E33B6B-1B52-46FD-A3F9-558BD166D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038350"/>
            <a:ext cx="8096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350" b="1">
                <a:solidFill>
                  <a:srgbClr val="161A2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350" b="1">
                <a:solidFill>
                  <a:srgbClr val="161A22"/>
                </a:solidFill>
                <a:latin typeface="Microsoft YaHei"/>
                <a:ea typeface="Microsoft YaHei"/>
                <a:cs typeface="Microsoft YaHei"/>
              </a:rPr>
              <a:t>阿基米德原理</a:t>
            </a:r>
          </a:p>
        </p:txBody>
      </p:sp>
      <p:sp>
        <p:nvSpPr>
          <p:cNvPr id="6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F459B0DB-ED52-4646-A067-6FA9D02AE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3105150"/>
            <a:ext cx="619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 b="0">
                <a:solidFill>
                  <a:srgbClr val="646B7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646B78"/>
                </a:solidFill>
                <a:latin typeface="Microsoft YaHei"/>
                <a:ea typeface="Microsoft YaHei"/>
                <a:cs typeface="Microsoft YaHei"/>
              </a:rPr>
              <a:t>从压力差到浮力公式</a:t>
            </a:r>
          </a:p>
        </p:txBody>
      </p:sp>
      <p:sp>
        <p:nvSpPr>
          <p:cNvPr id="7" name="cover-meta">
            <a:extLst xmlns:a="http://schemas.openxmlformats.org/drawingml/2006/main">
              <a:ext uri="{FF2B5EF4-FFF2-40B4-BE49-F238E27FC236}">
                <a16:creationId xmlns:a16="http://schemas.microsoft.com/office/drawing/2014/main" id="{BD3892C7-73D4-432D-B502-AD30FC2A8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5067300"/>
            <a:ext cx="533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1">
                <a:solidFill>
                  <a:srgbClr val="002FA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02FA7"/>
                </a:solidFill>
                <a:latin typeface="Microsoft YaHei"/>
                <a:ea typeface="Microsoft YaHei"/>
                <a:cs typeface="Microsoft YaHei"/>
              </a:rPr>
              <a:t>八年级物理  ·  10 分钟微课</a:t>
            </a:r>
          </a:p>
        </p:txBody>
      </p:sp>
    </p:spTree>
    <p:extLst>
      <p:ext uri="{BB962C8B-B14F-4D97-AF65-F5344CB8AC3E}">
        <p14:creationId xmlns:p14="http://schemas.microsoft.com/office/powerpoint/2010/main" val="207535998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rail-2">
            <a:extLst xmlns:a="http://schemas.openxmlformats.org/drawingml/2006/main">
              <a:ext uri="{FF2B5EF4-FFF2-40B4-BE49-F238E27FC236}">
                <a16:creationId xmlns:a16="http://schemas.microsoft.com/office/drawing/2014/main" id="{4CE45987-2AE3-4B36-BCEE-EE2861B51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FA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op-rule-2">
            <a:extLst xmlns:a="http://schemas.openxmlformats.org/drawingml/2006/main">
              <a:ext uri="{FF2B5EF4-FFF2-40B4-BE49-F238E27FC236}">
                <a16:creationId xmlns:a16="http://schemas.microsoft.com/office/drawing/2014/main" id="{7A5228BE-E3B4-48E6-A9E5-31325DB16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1085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02FA7"/>
            </a:solidFill>
            <a:prstDash val="solid"/>
          </a:ln>
        </p:spPr>
      </p:sp>
      <p:sp>
        <p:nvSpPr>
          <p:cNvPr id="3" name="section-2">
            <a:extLst xmlns:a="http://schemas.openxmlformats.org/drawingml/2006/main">
              <a:ext uri="{FF2B5EF4-FFF2-40B4-BE49-F238E27FC236}">
                <a16:creationId xmlns:a16="http://schemas.microsoft.com/office/drawing/2014/main" id="{216E3F7A-F958-41B9-A993-3CC90259C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1">
                <a:solidFill>
                  <a:srgbClr val="002FA7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02FA7"/>
                </a:solidFill>
                <a:latin typeface="Arial"/>
                <a:ea typeface="Arial"/>
                <a:cs typeface="Arial"/>
              </a:rPr>
              <a:t>学习目标</a:t>
            </a:r>
          </a:p>
        </p:txBody>
      </p:sp>
      <p:sp>
        <p:nvSpPr>
          <p:cNvPr id="4" name="page-2">
            <a:extLst xmlns:a="http://schemas.openxmlformats.org/drawingml/2006/main">
              <a:ext uri="{FF2B5EF4-FFF2-40B4-BE49-F238E27FC236}">
                <a16:creationId xmlns:a16="http://schemas.microsoft.com/office/drawing/2014/main" id="{6B42D8E0-4F32-4774-9889-BD1F3F8F8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619125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050" b="1">
                <a:solidFill>
                  <a:srgbClr val="646B78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46B7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5" name="title-2">
            <a:extLst xmlns:a="http://schemas.openxmlformats.org/drawingml/2006/main">
              <a:ext uri="{FF2B5EF4-FFF2-40B4-BE49-F238E27FC236}">
                <a16:creationId xmlns:a16="http://schemas.microsoft.com/office/drawing/2014/main" id="{53D5873F-F7BC-4BD0-AD2B-68AE54ADE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9715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925" b="1">
                <a:solidFill>
                  <a:srgbClr val="161A2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25" b="1">
                <a:solidFill>
                  <a:srgbClr val="161A22"/>
                </a:solidFill>
                <a:latin typeface="Microsoft YaHei"/>
                <a:ea typeface="Microsoft YaHei"/>
                <a:cs typeface="Microsoft YaHei"/>
              </a:rPr>
              <a:t>三步建立浮力的完整认识</a:t>
            </a:r>
          </a:p>
        </p:txBody>
      </p:sp>
      <p:sp>
        <p:nvSpPr>
          <p:cNvPr id="6" name="subtitle-2">
            <a:extLst xmlns:a="http://schemas.openxmlformats.org/drawingml/2006/main">
              <a:ext uri="{FF2B5EF4-FFF2-40B4-BE49-F238E27FC236}">
                <a16:creationId xmlns:a16="http://schemas.microsoft.com/office/drawing/2014/main" id="{B1D6671B-6317-48DB-B8F9-08DA41C57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895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646B7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46B78"/>
                </a:solidFill>
                <a:latin typeface="Microsoft YaHei"/>
                <a:ea typeface="Microsoft YaHei"/>
                <a:cs typeface="Microsoft YaHei"/>
              </a:rPr>
              <a:t>理解来源、掌握测量、能够解释</a:t>
            </a:r>
          </a:p>
        </p:txBody>
      </p:sp>
      <p:sp>
        <p:nvSpPr>
          <p:cNvPr id="7" name="goal-surface-0">
            <a:extLst xmlns:a="http://schemas.openxmlformats.org/drawingml/2006/main">
              <a:ext uri="{FF2B5EF4-FFF2-40B4-BE49-F238E27FC236}">
                <a16:creationId xmlns:a16="http://schemas.microsoft.com/office/drawing/2014/main" id="{4C08F7AA-53B3-46B5-9E6F-94A03C9F5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3282950" cy="3105150"/>
          </a:xfrm>
          <a:prstGeom xmlns:a="http://schemas.openxmlformats.org/drawingml/2006/main" prst="roundRect">
            <a:avLst>
              <a:gd name="adj" fmla="val 6748"/>
            </a:avLst>
          </a:prstGeom>
          <a:solidFill xmlns:a="http://schemas.openxmlformats.org/drawingml/2006/main">
            <a:srgbClr val="F7F7F8"/>
          </a:solidFill>
          <a:ln xmlns:a="http://schemas.openxmlformats.org/drawingml/2006/main" w="9525">
            <a:solidFill>
              <a:srgbClr val="DCE7FF"/>
            </a:solidFill>
            <a:prstDash val="solid"/>
          </a:ln>
        </p:spPr>
      </p:sp>
      <p:sp>
        <p:nvSpPr>
          <p:cNvPr id="8" name="goal-number-0">
            <a:extLst xmlns:a="http://schemas.openxmlformats.org/drawingml/2006/main">
              <a:ext uri="{FF2B5EF4-FFF2-40B4-BE49-F238E27FC236}">
                <a16:creationId xmlns:a16="http://schemas.microsoft.com/office/drawing/2014/main" id="{16464DE7-42B4-474F-B40E-2F734822E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76500"/>
            <a:ext cx="781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002FA7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2FA7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9" name="goal-title-0">
            <a:extLst xmlns:a="http://schemas.openxmlformats.org/drawingml/2006/main">
              <a:ext uri="{FF2B5EF4-FFF2-40B4-BE49-F238E27FC236}">
                <a16:creationId xmlns:a16="http://schemas.microsoft.com/office/drawing/2014/main" id="{9F007D17-284E-47DB-9310-5C545DEB5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43250"/>
            <a:ext cx="2825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1">
                <a:solidFill>
                  <a:srgbClr val="161A2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61A22"/>
                </a:solidFill>
                <a:latin typeface="Microsoft YaHei"/>
                <a:ea typeface="Microsoft YaHei"/>
                <a:cs typeface="Microsoft YaHei"/>
              </a:rPr>
              <a:t>看见来源</a:t>
            </a:r>
          </a:p>
        </p:txBody>
      </p:sp>
      <p:sp>
        <p:nvSpPr>
          <p:cNvPr id="10" name="goal-body-0">
            <a:extLst xmlns:a="http://schemas.openxmlformats.org/drawingml/2006/main">
              <a:ext uri="{FF2B5EF4-FFF2-40B4-BE49-F238E27FC236}">
                <a16:creationId xmlns:a16="http://schemas.microsoft.com/office/drawing/2014/main" id="{C3E36F35-CA8B-4771-AE72-E93D58FA7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857625"/>
            <a:ext cx="2825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575" b="0">
                <a:solidFill>
                  <a:srgbClr val="646B7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46B78"/>
                </a:solidFill>
                <a:latin typeface="Microsoft YaHei"/>
                <a:ea typeface="Microsoft YaHei"/>
                <a:cs typeface="Microsoft YaHei"/>
              </a:rPr>
              <a:t>用上下表面的压力差解释浮力方向</a:t>
            </a:r>
          </a:p>
        </p:txBody>
      </p:sp>
      <p:sp>
        <p:nvSpPr>
          <p:cNvPr id="11" name="goal-surface-1">
            <a:extLst xmlns:a="http://schemas.openxmlformats.org/drawingml/2006/main">
              <a:ext uri="{FF2B5EF4-FFF2-40B4-BE49-F238E27FC236}">
                <a16:creationId xmlns:a16="http://schemas.microsoft.com/office/drawing/2014/main" id="{D56F8EAC-D0C4-4D87-8FE0-1D995447C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5450" y="2247900"/>
            <a:ext cx="3282950" cy="3105150"/>
          </a:xfrm>
          <a:prstGeom xmlns:a="http://schemas.openxmlformats.org/drawingml/2006/main" prst="roundRect">
            <a:avLst>
              <a:gd name="adj" fmla="val 6748"/>
            </a:avLst>
          </a:prstGeom>
          <a:solidFill xmlns:a="http://schemas.openxmlformats.org/drawingml/2006/main">
            <a:srgbClr val="F7F7F8"/>
          </a:solidFill>
          <a:ln xmlns:a="http://schemas.openxmlformats.org/drawingml/2006/main" w="9525">
            <a:solidFill>
              <a:srgbClr val="DCE7FF"/>
            </a:solidFill>
            <a:prstDash val="solid"/>
          </a:ln>
        </p:spPr>
      </p:sp>
      <p:sp>
        <p:nvSpPr>
          <p:cNvPr id="12" name="goal-number-1">
            <a:extLst xmlns:a="http://schemas.openxmlformats.org/drawingml/2006/main">
              <a:ext uri="{FF2B5EF4-FFF2-40B4-BE49-F238E27FC236}">
                <a16:creationId xmlns:a16="http://schemas.microsoft.com/office/drawing/2014/main" id="{431086C5-CFA7-464E-AF50-3C90E4034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476500"/>
            <a:ext cx="781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002FA7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2FA7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3" name="goal-title-1">
            <a:extLst xmlns:a="http://schemas.openxmlformats.org/drawingml/2006/main">
              <a:ext uri="{FF2B5EF4-FFF2-40B4-BE49-F238E27FC236}">
                <a16:creationId xmlns:a16="http://schemas.microsoft.com/office/drawing/2014/main" id="{C0C6079C-3973-4CDC-AC1C-52B4F369D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3143250"/>
            <a:ext cx="2825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1">
                <a:solidFill>
                  <a:srgbClr val="161A2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61A22"/>
                </a:solidFill>
                <a:latin typeface="Microsoft YaHei"/>
                <a:ea typeface="Microsoft YaHei"/>
                <a:cs typeface="Microsoft YaHei"/>
              </a:rPr>
              <a:t>学会测量</a:t>
            </a:r>
          </a:p>
        </p:txBody>
      </p:sp>
      <p:sp>
        <p:nvSpPr>
          <p:cNvPr id="14" name="goal-body-1">
            <a:extLst xmlns:a="http://schemas.openxmlformats.org/drawingml/2006/main">
              <a:ext uri="{FF2B5EF4-FFF2-40B4-BE49-F238E27FC236}">
                <a16:creationId xmlns:a16="http://schemas.microsoft.com/office/drawing/2014/main" id="{24D7A613-E9DC-49CB-801F-34353D8F9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3857625"/>
            <a:ext cx="2825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575" b="0">
                <a:solidFill>
                  <a:srgbClr val="646B7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46B78"/>
                </a:solidFill>
                <a:latin typeface="Microsoft YaHei"/>
                <a:ea typeface="Microsoft YaHei"/>
                <a:cs typeface="Microsoft YaHei"/>
              </a:rPr>
              <a:t>用弹簧测力计测出物体所受浮力</a:t>
            </a:r>
          </a:p>
        </p:txBody>
      </p:sp>
      <p:sp>
        <p:nvSpPr>
          <p:cNvPr id="15" name="goal-surface-2">
            <a:extLst xmlns:a="http://schemas.openxmlformats.org/drawingml/2006/main">
              <a:ext uri="{FF2B5EF4-FFF2-40B4-BE49-F238E27FC236}">
                <a16:creationId xmlns:a16="http://schemas.microsoft.com/office/drawing/2014/main" id="{291E8263-396C-4F60-BD2E-9173C7F43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5100" y="2247900"/>
            <a:ext cx="3282950" cy="3105150"/>
          </a:xfrm>
          <a:prstGeom xmlns:a="http://schemas.openxmlformats.org/drawingml/2006/main" prst="roundRect">
            <a:avLst>
              <a:gd name="adj" fmla="val 6748"/>
            </a:avLst>
          </a:prstGeom>
          <a:solidFill xmlns:a="http://schemas.openxmlformats.org/drawingml/2006/main">
            <a:srgbClr val="F7F7F8"/>
          </a:solidFill>
          <a:ln xmlns:a="http://schemas.openxmlformats.org/drawingml/2006/main" w="9525">
            <a:solidFill>
              <a:srgbClr val="DCE7FF"/>
            </a:solidFill>
            <a:prstDash val="solid"/>
          </a:ln>
        </p:spPr>
      </p:sp>
      <p:sp>
        <p:nvSpPr>
          <p:cNvPr id="16" name="goal-number-2">
            <a:extLst xmlns:a="http://schemas.openxmlformats.org/drawingml/2006/main">
              <a:ext uri="{FF2B5EF4-FFF2-40B4-BE49-F238E27FC236}">
                <a16:creationId xmlns:a16="http://schemas.microsoft.com/office/drawing/2014/main" id="{85B21543-C1EB-4E05-B3F1-0EA435D4D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476500"/>
            <a:ext cx="781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002FA7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2FA7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7" name="goal-title-2">
            <a:extLst xmlns:a="http://schemas.openxmlformats.org/drawingml/2006/main">
              <a:ext uri="{FF2B5EF4-FFF2-40B4-BE49-F238E27FC236}">
                <a16:creationId xmlns:a16="http://schemas.microsoft.com/office/drawing/2014/main" id="{E679F5EE-9D12-49D9-8C20-1CDEC7C18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3143250"/>
            <a:ext cx="2825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1">
                <a:solidFill>
                  <a:srgbClr val="161A2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61A22"/>
                </a:solidFill>
                <a:latin typeface="Microsoft YaHei"/>
                <a:ea typeface="Microsoft YaHei"/>
                <a:cs typeface="Microsoft YaHei"/>
              </a:rPr>
              <a:t>建立关系</a:t>
            </a:r>
          </a:p>
        </p:txBody>
      </p:sp>
      <p:sp>
        <p:nvSpPr>
          <p:cNvPr id="18" name="goal-body-2">
            <a:extLst xmlns:a="http://schemas.openxmlformats.org/drawingml/2006/main">
              <a:ext uri="{FF2B5EF4-FFF2-40B4-BE49-F238E27FC236}">
                <a16:creationId xmlns:a16="http://schemas.microsoft.com/office/drawing/2014/main" id="{4B56F852-9AE5-4EAC-AFDE-91AE68AA5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3857625"/>
            <a:ext cx="2825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575" b="0">
                <a:solidFill>
                  <a:srgbClr val="646B7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46B78"/>
                </a:solidFill>
                <a:latin typeface="Microsoft YaHei"/>
                <a:ea typeface="Microsoft YaHei"/>
                <a:cs typeface="Microsoft YaHei"/>
              </a:rPr>
              <a:t>验证浮力等于排开液体的重力</a:t>
            </a:r>
          </a:p>
        </p:txBody>
      </p:sp>
    </p:spTree>
    <p:extLst>
      <p:ext uri="{BB962C8B-B14F-4D97-AF65-F5344CB8AC3E}">
        <p14:creationId xmlns:p14="http://schemas.microsoft.com/office/powerpoint/2010/main" val="22929708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rail-3">
            <a:extLst xmlns:a="http://schemas.openxmlformats.org/drawingml/2006/main">
              <a:ext uri="{FF2B5EF4-FFF2-40B4-BE49-F238E27FC236}">
                <a16:creationId xmlns:a16="http://schemas.microsoft.com/office/drawing/2014/main" id="{80C0404C-032C-4B69-A4FC-FA1939F96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FA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op-rule-3">
            <a:extLst xmlns:a="http://schemas.openxmlformats.org/drawingml/2006/main">
              <a:ext uri="{FF2B5EF4-FFF2-40B4-BE49-F238E27FC236}">
                <a16:creationId xmlns:a16="http://schemas.microsoft.com/office/drawing/2014/main" id="{02AA61E8-3A38-4A05-A86C-B7A179C17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1085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02FA7"/>
            </a:solidFill>
            <a:prstDash val="solid"/>
          </a:ln>
        </p:spPr>
      </p:sp>
      <p:sp>
        <p:nvSpPr>
          <p:cNvPr id="3" name="section-3">
            <a:extLst xmlns:a="http://schemas.openxmlformats.org/drawingml/2006/main">
              <a:ext uri="{FF2B5EF4-FFF2-40B4-BE49-F238E27FC236}">
                <a16:creationId xmlns:a16="http://schemas.microsoft.com/office/drawing/2014/main" id="{F5003128-7BC8-4A42-8DEB-F38088D23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1">
                <a:solidFill>
                  <a:srgbClr val="002FA7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02FA7"/>
                </a:solidFill>
                <a:latin typeface="Arial"/>
                <a:ea typeface="Arial"/>
                <a:cs typeface="Arial"/>
              </a:rPr>
              <a:t>核心概念</a:t>
            </a:r>
          </a:p>
        </p:txBody>
      </p:sp>
      <p:sp>
        <p:nvSpPr>
          <p:cNvPr id="4" name="page-3">
            <a:extLst xmlns:a="http://schemas.openxmlformats.org/drawingml/2006/main">
              <a:ext uri="{FF2B5EF4-FFF2-40B4-BE49-F238E27FC236}">
                <a16:creationId xmlns:a16="http://schemas.microsoft.com/office/drawing/2014/main" id="{B3207400-A512-4801-8290-175D6863B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619125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050" b="1">
                <a:solidFill>
                  <a:srgbClr val="646B78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46B7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5" name="title-3">
            <a:extLst xmlns:a="http://schemas.openxmlformats.org/drawingml/2006/main">
              <a:ext uri="{FF2B5EF4-FFF2-40B4-BE49-F238E27FC236}">
                <a16:creationId xmlns:a16="http://schemas.microsoft.com/office/drawing/2014/main" id="{46CB73D6-4F83-4E9D-BA88-91F89D410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9715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925" b="1">
                <a:solidFill>
                  <a:srgbClr val="161A2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25" b="1">
                <a:solidFill>
                  <a:srgbClr val="161A22"/>
                </a:solidFill>
                <a:latin typeface="Microsoft YaHei"/>
                <a:ea typeface="Microsoft YaHei"/>
                <a:cs typeface="Microsoft YaHei"/>
              </a:rPr>
              <a:t>浮力来自液体上下表面的压力差</a:t>
            </a:r>
          </a:p>
        </p:txBody>
      </p:sp>
      <p:sp>
        <p:nvSpPr>
          <p:cNvPr id="6" name="subtitle-3">
            <a:extLst xmlns:a="http://schemas.openxmlformats.org/drawingml/2006/main">
              <a:ext uri="{FF2B5EF4-FFF2-40B4-BE49-F238E27FC236}">
                <a16:creationId xmlns:a16="http://schemas.microsoft.com/office/drawing/2014/main" id="{48462795-A639-4302-976F-010169525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895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646B7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46B78"/>
                </a:solidFill>
                <a:latin typeface="Microsoft YaHei"/>
                <a:ea typeface="Microsoft YaHei"/>
                <a:cs typeface="Microsoft YaHei"/>
              </a:rPr>
              <a:t>越深的位置，液体产生的压力通常越大</a:t>
            </a:r>
          </a:p>
        </p:txBody>
      </p:sp>
      <p:sp>
        <p:nvSpPr>
          <p:cNvPr id="7" name="split-points">
            <a:extLst xmlns:a="http://schemas.openxmlformats.org/drawingml/2006/main">
              <a:ext uri="{FF2B5EF4-FFF2-40B4-BE49-F238E27FC236}">
                <a16:creationId xmlns:a16="http://schemas.microsoft.com/office/drawing/2014/main" id="{02340CD5-333A-4D67-BB18-7A7C1F8E5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43150"/>
            <a:ext cx="4857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161A2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61A22"/>
                </a:solidFill>
                <a:latin typeface="Microsoft YaHei"/>
                <a:ea typeface="Microsoft YaHei"/>
                <a:cs typeface="Microsoft YaHei"/>
              </a:rPr>
              <a:t>• 液体从各个方向压向物体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161A2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61A22"/>
                </a:solidFill>
                <a:latin typeface="Microsoft YaHei"/>
                <a:ea typeface="Microsoft YaHei"/>
                <a:cs typeface="Microsoft YaHei"/>
              </a:rPr>
              <a:t>• 下表面通常比上表面更深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161A2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61A22"/>
                </a:solidFill>
                <a:latin typeface="Microsoft YaHei"/>
                <a:ea typeface="Microsoft YaHei"/>
                <a:cs typeface="Microsoft YaHei"/>
              </a:rPr>
              <a:t>• 向上的压力大于向下的压力</a:t>
            </a:r>
          </a:p>
        </p:txBody>
      </p:sp>
      <p:sp>
        <p:nvSpPr>
          <p:cNvPr id="8" name="split-divider">
            <a:extLst xmlns:a="http://schemas.openxmlformats.org/drawingml/2006/main">
              <a:ext uri="{FF2B5EF4-FFF2-40B4-BE49-F238E27FC236}">
                <a16:creationId xmlns:a16="http://schemas.microsoft.com/office/drawing/2014/main" id="{191130DF-D24F-4CFF-9348-B6535101D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1675" y="2152650"/>
            <a:ext cx="0" cy="3429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CE7FF"/>
            </a:solidFill>
            <a:prstDash val="solid"/>
          </a:ln>
        </p:spPr>
      </p:sp>
      <p:sp>
        <p:nvSpPr>
          <p:cNvPr id="9" name="water-field">
            <a:extLst xmlns:a="http://schemas.openxmlformats.org/drawingml/2006/main">
              <a:ext uri="{FF2B5EF4-FFF2-40B4-BE49-F238E27FC236}">
                <a16:creationId xmlns:a16="http://schemas.microsoft.com/office/drawing/2014/main" id="{C6D81215-C117-4651-B022-9D23E766B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781300"/>
            <a:ext cx="3905250" cy="2476500"/>
          </a:xfrm>
          <a:prstGeom xmlns:a="http://schemas.openxmlformats.org/drawingml/2006/main" prst="roundRect">
            <a:avLst>
              <a:gd name="adj" fmla="val 6923"/>
            </a:avLst>
          </a:prstGeom>
          <a:solidFill xmlns:a="http://schemas.openxmlformats.org/drawingml/2006/main">
            <a:srgbClr val="DCE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object">
            <a:extLst xmlns:a="http://schemas.openxmlformats.org/drawingml/2006/main">
              <a:ext uri="{FF2B5EF4-FFF2-40B4-BE49-F238E27FC236}">
                <a16:creationId xmlns:a16="http://schemas.microsoft.com/office/drawing/2014/main" id="{2738ACF9-70E7-4A0D-B140-0720653ED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3333750"/>
            <a:ext cx="1333500" cy="1238250"/>
          </a:xfrm>
          <a:prstGeom xmlns:a="http://schemas.openxmlformats.org/drawingml/2006/main" prst="roundRect">
            <a:avLst>
              <a:gd name="adj" fmla="val 13846"/>
            </a:avLst>
          </a:prstGeom>
          <a:solidFill xmlns:a="http://schemas.openxmlformats.org/drawingml/2006/main">
            <a:srgbClr val="F7F7F8"/>
          </a:solidFill>
          <a:ln xmlns:a="http://schemas.openxmlformats.org/drawingml/2006/main" w="9525">
            <a:solidFill>
              <a:srgbClr val="002FA7"/>
            </a:solidFill>
            <a:prstDash val="solid"/>
          </a:ln>
        </p:spPr>
      </p:sp>
      <p:sp>
        <p:nvSpPr>
          <p:cNvPr id="11" name="up-arrow">
            <a:extLst xmlns:a="http://schemas.openxmlformats.org/drawingml/2006/main">
              <a:ext uri="{FF2B5EF4-FFF2-40B4-BE49-F238E27FC236}">
                <a16:creationId xmlns:a16="http://schemas.microsoft.com/office/drawing/2014/main" id="{04E26F1C-167A-4CA9-9C30-2091E0942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2038350"/>
            <a:ext cx="762000" cy="1123950"/>
          </a:xfrm>
          <a:prstGeom xmlns:a="http://schemas.openxmlformats.org/drawingml/2006/main" prst="upArrow">
            <a:avLst/>
          </a:prstGeom>
          <a:solidFill xmlns:a="http://schemas.openxmlformats.org/drawingml/2006/main">
            <a:srgbClr val="002FA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down-arrow">
            <a:extLst xmlns:a="http://schemas.openxmlformats.org/drawingml/2006/main">
              <a:ext uri="{FF2B5EF4-FFF2-40B4-BE49-F238E27FC236}">
                <a16:creationId xmlns:a16="http://schemas.microsoft.com/office/drawing/2014/main" id="{03B4E155-64F8-4F03-AE99-92EABB6A7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6725" y="4476750"/>
            <a:ext cx="533400" cy="72390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646B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up-label">
            <a:extLst xmlns:a="http://schemas.openxmlformats.org/drawingml/2006/main">
              <a:ext uri="{FF2B5EF4-FFF2-40B4-BE49-F238E27FC236}">
                <a16:creationId xmlns:a16="http://schemas.microsoft.com/office/drawing/2014/main" id="{BB055275-A23A-49A9-B94E-EC1F21D11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152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1">
                <a:solidFill>
                  <a:srgbClr val="002FA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02FA7"/>
                </a:solidFill>
                <a:latin typeface="Microsoft YaHei"/>
                <a:ea typeface="Microsoft YaHei"/>
                <a:cs typeface="Microsoft YaHei"/>
              </a:rPr>
              <a:t>向上压力较大</a:t>
            </a:r>
          </a:p>
        </p:txBody>
      </p:sp>
      <p:sp>
        <p:nvSpPr>
          <p:cNvPr id="14" name="down-label">
            <a:extLst xmlns:a="http://schemas.openxmlformats.org/drawingml/2006/main">
              <a:ext uri="{FF2B5EF4-FFF2-40B4-BE49-F238E27FC236}">
                <a16:creationId xmlns:a16="http://schemas.microsoft.com/office/drawing/2014/main" id="{2D271EEF-81B7-4D0C-AE25-3784477ED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4800600"/>
            <a:ext cx="1562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0">
                <a:solidFill>
                  <a:srgbClr val="646B7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46B78"/>
                </a:solidFill>
                <a:latin typeface="Microsoft YaHei"/>
                <a:ea typeface="Microsoft YaHei"/>
                <a:cs typeface="Microsoft YaHei"/>
              </a:rPr>
              <a:t>向下压力较小</a:t>
            </a:r>
          </a:p>
        </p:txBody>
      </p:sp>
    </p:spTree>
    <p:extLst>
      <p:ext uri="{BB962C8B-B14F-4D97-AF65-F5344CB8AC3E}">
        <p14:creationId xmlns:p14="http://schemas.microsoft.com/office/powerpoint/2010/main" val="111483581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rail-4">
            <a:extLst xmlns:a="http://schemas.openxmlformats.org/drawingml/2006/main">
              <a:ext uri="{FF2B5EF4-FFF2-40B4-BE49-F238E27FC236}">
                <a16:creationId xmlns:a16="http://schemas.microsoft.com/office/drawing/2014/main" id="{D82DADA6-F363-49CC-A253-375293718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FA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op-rule-4">
            <a:extLst xmlns:a="http://schemas.openxmlformats.org/drawingml/2006/main">
              <a:ext uri="{FF2B5EF4-FFF2-40B4-BE49-F238E27FC236}">
                <a16:creationId xmlns:a16="http://schemas.microsoft.com/office/drawing/2014/main" id="{8616FB05-E9A8-4803-9790-A0D2E5CD3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1085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02FA7"/>
            </a:solidFill>
            <a:prstDash val="solid"/>
          </a:ln>
        </p:spPr>
      </p:sp>
      <p:sp>
        <p:nvSpPr>
          <p:cNvPr id="3" name="section-4">
            <a:extLst xmlns:a="http://schemas.openxmlformats.org/drawingml/2006/main">
              <a:ext uri="{FF2B5EF4-FFF2-40B4-BE49-F238E27FC236}">
                <a16:creationId xmlns:a16="http://schemas.microsoft.com/office/drawing/2014/main" id="{FC034ECB-E798-4E36-B4DE-64A372F6A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1">
                <a:solidFill>
                  <a:srgbClr val="002FA7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02FA7"/>
                </a:solidFill>
                <a:latin typeface="Arial"/>
                <a:ea typeface="Arial"/>
                <a:cs typeface="Arial"/>
              </a:rPr>
              <a:t>实验推理</a:t>
            </a:r>
          </a:p>
        </p:txBody>
      </p:sp>
      <p:sp>
        <p:nvSpPr>
          <p:cNvPr id="4" name="page-4">
            <a:extLst xmlns:a="http://schemas.openxmlformats.org/drawingml/2006/main">
              <a:ext uri="{FF2B5EF4-FFF2-40B4-BE49-F238E27FC236}">
                <a16:creationId xmlns:a16="http://schemas.microsoft.com/office/drawing/2014/main" id="{A7B357F7-10F4-48CE-A19B-D9330B80F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619125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050" b="1">
                <a:solidFill>
                  <a:srgbClr val="646B78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46B78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5" name="title-4">
            <a:extLst xmlns:a="http://schemas.openxmlformats.org/drawingml/2006/main">
              <a:ext uri="{FF2B5EF4-FFF2-40B4-BE49-F238E27FC236}">
                <a16:creationId xmlns:a16="http://schemas.microsoft.com/office/drawing/2014/main" id="{7607E0F5-C095-4760-A279-925811B0F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9715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925" b="1">
                <a:solidFill>
                  <a:srgbClr val="161A2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25" b="1">
                <a:solidFill>
                  <a:srgbClr val="161A22"/>
                </a:solidFill>
                <a:latin typeface="Microsoft YaHei"/>
                <a:ea typeface="Microsoft YaHei"/>
                <a:cs typeface="Microsoft YaHei"/>
              </a:rPr>
              <a:t>四步溢水法验证阿基米德原理</a:t>
            </a:r>
          </a:p>
        </p:txBody>
      </p:sp>
      <p:sp>
        <p:nvSpPr>
          <p:cNvPr id="6" name="subtitle-4">
            <a:extLst xmlns:a="http://schemas.openxmlformats.org/drawingml/2006/main">
              <a:ext uri="{FF2B5EF4-FFF2-40B4-BE49-F238E27FC236}">
                <a16:creationId xmlns:a16="http://schemas.microsoft.com/office/drawing/2014/main" id="{AA147057-97F6-45BE-9328-F2224B0AE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895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646B7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46B78"/>
                </a:solidFill>
                <a:latin typeface="Microsoft YaHei"/>
                <a:ea typeface="Microsoft YaHei"/>
                <a:cs typeface="Microsoft YaHei"/>
              </a:rPr>
              <a:t>同一个实验，同时得到浮力与排开水重力</a:t>
            </a:r>
          </a:p>
        </p:txBody>
      </p:sp>
      <p:sp>
        <p:nvSpPr>
          <p:cNvPr id="7" name="process-link-0">
            <a:extLst xmlns:a="http://schemas.openxmlformats.org/drawingml/2006/main">
              <a:ext uri="{FF2B5EF4-FFF2-40B4-BE49-F238E27FC236}">
                <a16:creationId xmlns:a16="http://schemas.microsoft.com/office/drawing/2014/main" id="{0E7F7473-1405-454D-8D27-E50090A8D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3657600"/>
            <a:ext cx="266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2FA7"/>
            </a:solidFill>
            <a:prstDash val="solid"/>
          </a:ln>
        </p:spPr>
      </p:sp>
      <p:sp>
        <p:nvSpPr>
          <p:cNvPr id="8" name="step-num-0">
            <a:extLst xmlns:a="http://schemas.openxmlformats.org/drawingml/2006/main">
              <a:ext uri="{FF2B5EF4-FFF2-40B4-BE49-F238E27FC236}">
                <a16:creationId xmlns:a16="http://schemas.microsoft.com/office/drawing/2014/main" id="{0CDE6410-EADF-4FAF-8535-41EBF567D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1460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2FA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step-index-0">
            <a:extLst xmlns:a="http://schemas.openxmlformats.org/drawingml/2006/main">
              <a:ext uri="{FF2B5EF4-FFF2-40B4-BE49-F238E27FC236}">
                <a16:creationId xmlns:a16="http://schemas.microsoft.com/office/drawing/2014/main" id="{0B1DDEA0-9215-4E5F-B9D8-FA8985771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00325"/>
            <a:ext cx="609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0" name="step-title-0">
            <a:extLst xmlns:a="http://schemas.openxmlformats.org/drawingml/2006/main">
              <a:ext uri="{FF2B5EF4-FFF2-40B4-BE49-F238E27FC236}">
                <a16:creationId xmlns:a16="http://schemas.microsoft.com/office/drawing/2014/main" id="{E84C5B1B-4524-4764-AD72-A1DEE018B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71850"/>
            <a:ext cx="24479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161A2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61A22"/>
                </a:solidFill>
                <a:latin typeface="Microsoft YaHei"/>
                <a:ea typeface="Microsoft YaHei"/>
                <a:cs typeface="Microsoft YaHei"/>
              </a:rPr>
              <a:t>测物重</a:t>
            </a:r>
          </a:p>
        </p:txBody>
      </p:sp>
      <p:sp>
        <p:nvSpPr>
          <p:cNvPr id="11" name="step-body-0">
            <a:extLst xmlns:a="http://schemas.openxmlformats.org/drawingml/2006/main">
              <a:ext uri="{FF2B5EF4-FFF2-40B4-BE49-F238E27FC236}">
                <a16:creationId xmlns:a16="http://schemas.microsoft.com/office/drawing/2014/main" id="{3A55A74A-F629-498F-AAC9-F21BE3331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62400"/>
            <a:ext cx="233362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646B7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646B78"/>
                </a:solidFill>
                <a:latin typeface="Microsoft YaHei"/>
                <a:ea typeface="Microsoft YaHei"/>
                <a:cs typeface="Microsoft YaHei"/>
              </a:rPr>
              <a:t>记录物体重力 G</a:t>
            </a:r>
          </a:p>
        </p:txBody>
      </p:sp>
      <p:sp>
        <p:nvSpPr>
          <p:cNvPr id="12" name="process-link-1">
            <a:extLst xmlns:a="http://schemas.openxmlformats.org/drawingml/2006/main">
              <a:ext uri="{FF2B5EF4-FFF2-40B4-BE49-F238E27FC236}">
                <a16:creationId xmlns:a16="http://schemas.microsoft.com/office/drawing/2014/main" id="{BDEF9C6A-719B-404A-8FE3-976EBD155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3657600"/>
            <a:ext cx="266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2FA7"/>
            </a:solidFill>
            <a:prstDash val="solid"/>
          </a:ln>
        </p:spPr>
      </p:sp>
      <p:sp>
        <p:nvSpPr>
          <p:cNvPr id="13" name="step-num-1">
            <a:extLst xmlns:a="http://schemas.openxmlformats.org/drawingml/2006/main">
              <a:ext uri="{FF2B5EF4-FFF2-40B4-BE49-F238E27FC236}">
                <a16:creationId xmlns:a16="http://schemas.microsoft.com/office/drawing/2014/main" id="{BB2862B0-B859-4F38-853B-BCFEB18DF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3275" y="251460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2FA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step-index-1">
            <a:extLst xmlns:a="http://schemas.openxmlformats.org/drawingml/2006/main">
              <a:ext uri="{FF2B5EF4-FFF2-40B4-BE49-F238E27FC236}">
                <a16:creationId xmlns:a16="http://schemas.microsoft.com/office/drawing/2014/main" id="{D8E2EEAD-1390-417D-81DE-77EEEAE64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3275" y="2600325"/>
            <a:ext cx="609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5" name="step-title-1">
            <a:extLst xmlns:a="http://schemas.openxmlformats.org/drawingml/2006/main">
              <a:ext uri="{FF2B5EF4-FFF2-40B4-BE49-F238E27FC236}">
                <a16:creationId xmlns:a16="http://schemas.microsoft.com/office/drawing/2014/main" id="{208E6107-AAF5-499C-A770-1B9CF303A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3275" y="3371850"/>
            <a:ext cx="24479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161A2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61A22"/>
                </a:solidFill>
                <a:latin typeface="Microsoft YaHei"/>
                <a:ea typeface="Microsoft YaHei"/>
                <a:cs typeface="Microsoft YaHei"/>
              </a:rPr>
              <a:t>测拉力</a:t>
            </a:r>
          </a:p>
        </p:txBody>
      </p:sp>
      <p:sp>
        <p:nvSpPr>
          <p:cNvPr id="16" name="step-body-1">
            <a:extLst xmlns:a="http://schemas.openxmlformats.org/drawingml/2006/main">
              <a:ext uri="{FF2B5EF4-FFF2-40B4-BE49-F238E27FC236}">
                <a16:creationId xmlns:a16="http://schemas.microsoft.com/office/drawing/2014/main" id="{45710D83-4A1A-4665-A27B-96F10AB42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3275" y="3962400"/>
            <a:ext cx="233362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646B7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646B78"/>
                </a:solidFill>
                <a:latin typeface="Microsoft YaHei"/>
                <a:ea typeface="Microsoft YaHei"/>
                <a:cs typeface="Microsoft YaHei"/>
              </a:rPr>
              <a:t>浸没后记录 F拉</a:t>
            </a:r>
          </a:p>
        </p:txBody>
      </p:sp>
      <p:sp>
        <p:nvSpPr>
          <p:cNvPr id="17" name="process-link-2">
            <a:extLst xmlns:a="http://schemas.openxmlformats.org/drawingml/2006/main">
              <a:ext uri="{FF2B5EF4-FFF2-40B4-BE49-F238E27FC236}">
                <a16:creationId xmlns:a16="http://schemas.microsoft.com/office/drawing/2014/main" id="{99380F95-7078-48A2-923D-3CCBBF005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3657600"/>
            <a:ext cx="266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2FA7"/>
            </a:solidFill>
            <a:prstDash val="solid"/>
          </a:ln>
        </p:spPr>
      </p:sp>
      <p:sp>
        <p:nvSpPr>
          <p:cNvPr id="18" name="step-num-2">
            <a:extLst xmlns:a="http://schemas.openxmlformats.org/drawingml/2006/main">
              <a:ext uri="{FF2B5EF4-FFF2-40B4-BE49-F238E27FC236}">
                <a16:creationId xmlns:a16="http://schemas.microsoft.com/office/drawing/2014/main" id="{E9E5A1AD-0780-4083-B414-67CE5B32A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51460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2FA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step-index-2">
            <a:extLst xmlns:a="http://schemas.openxmlformats.org/drawingml/2006/main">
              <a:ext uri="{FF2B5EF4-FFF2-40B4-BE49-F238E27FC236}">
                <a16:creationId xmlns:a16="http://schemas.microsoft.com/office/drawing/2014/main" id="{9F6D7C06-1CBF-4216-842B-38AB57BAF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600325"/>
            <a:ext cx="609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0" name="step-title-2">
            <a:extLst xmlns:a="http://schemas.openxmlformats.org/drawingml/2006/main">
              <a:ext uri="{FF2B5EF4-FFF2-40B4-BE49-F238E27FC236}">
                <a16:creationId xmlns:a16="http://schemas.microsoft.com/office/drawing/2014/main" id="{C50B6908-6D20-4525-B313-8B40B5E1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3371850"/>
            <a:ext cx="24479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161A2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61A22"/>
                </a:solidFill>
                <a:latin typeface="Microsoft YaHei"/>
                <a:ea typeface="Microsoft YaHei"/>
                <a:cs typeface="Microsoft YaHei"/>
              </a:rPr>
              <a:t>测空桶</a:t>
            </a:r>
          </a:p>
        </p:txBody>
      </p:sp>
      <p:sp>
        <p:nvSpPr>
          <p:cNvPr id="21" name="step-body-2">
            <a:extLst xmlns:a="http://schemas.openxmlformats.org/drawingml/2006/main">
              <a:ext uri="{FF2B5EF4-FFF2-40B4-BE49-F238E27FC236}">
                <a16:creationId xmlns:a16="http://schemas.microsoft.com/office/drawing/2014/main" id="{9B74F6D1-158C-457C-B58A-5A866C6BD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3962400"/>
            <a:ext cx="233362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646B7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646B78"/>
                </a:solidFill>
                <a:latin typeface="Microsoft YaHei"/>
                <a:ea typeface="Microsoft YaHei"/>
                <a:cs typeface="Microsoft YaHei"/>
              </a:rPr>
              <a:t>记录小桶重力 G桶</a:t>
            </a:r>
          </a:p>
        </p:txBody>
      </p:sp>
      <p:sp>
        <p:nvSpPr>
          <p:cNvPr id="22" name="step-num-3">
            <a:extLst xmlns:a="http://schemas.openxmlformats.org/drawingml/2006/main">
              <a:ext uri="{FF2B5EF4-FFF2-40B4-BE49-F238E27FC236}">
                <a16:creationId xmlns:a16="http://schemas.microsoft.com/office/drawing/2014/main" id="{80A259CB-A29D-4771-90BF-54DF72F6D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251460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2FA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step-index-3">
            <a:extLst xmlns:a="http://schemas.openxmlformats.org/drawingml/2006/main">
              <a:ext uri="{FF2B5EF4-FFF2-40B4-BE49-F238E27FC236}">
                <a16:creationId xmlns:a16="http://schemas.microsoft.com/office/drawing/2014/main" id="{C15AD3DC-F5D7-44FE-9AF1-65CE918CD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2600325"/>
            <a:ext cx="609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4" name="step-title-3">
            <a:extLst xmlns:a="http://schemas.openxmlformats.org/drawingml/2006/main">
              <a:ext uri="{FF2B5EF4-FFF2-40B4-BE49-F238E27FC236}">
                <a16:creationId xmlns:a16="http://schemas.microsoft.com/office/drawing/2014/main" id="{B3BA83D2-4780-4181-BB74-853178D9A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3371850"/>
            <a:ext cx="24479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161A2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61A22"/>
                </a:solidFill>
                <a:latin typeface="Microsoft YaHei"/>
                <a:ea typeface="Microsoft YaHei"/>
                <a:cs typeface="Microsoft YaHei"/>
              </a:rPr>
              <a:t>测总重</a:t>
            </a:r>
          </a:p>
        </p:txBody>
      </p:sp>
      <p:sp>
        <p:nvSpPr>
          <p:cNvPr id="25" name="step-body-3">
            <a:extLst xmlns:a="http://schemas.openxmlformats.org/drawingml/2006/main">
              <a:ext uri="{FF2B5EF4-FFF2-40B4-BE49-F238E27FC236}">
                <a16:creationId xmlns:a16="http://schemas.microsoft.com/office/drawing/2014/main" id="{9BB2B151-CB14-40CE-9D2F-E3652F302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3962400"/>
            <a:ext cx="233362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646B7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646B78"/>
                </a:solidFill>
                <a:latin typeface="Microsoft YaHei"/>
                <a:ea typeface="Microsoft YaHei"/>
                <a:cs typeface="Microsoft YaHei"/>
              </a:rPr>
              <a:t>记录水与桶总重 G总</a:t>
            </a:r>
          </a:p>
        </p:txBody>
      </p:sp>
      <p:sp>
        <p:nvSpPr>
          <p:cNvPr id="26" name="process-result">
            <a:extLst xmlns:a="http://schemas.openxmlformats.org/drawingml/2006/main">
              <a:ext uri="{FF2B5EF4-FFF2-40B4-BE49-F238E27FC236}">
                <a16:creationId xmlns:a16="http://schemas.microsoft.com/office/drawing/2014/main" id="{3FD5CD0A-6DEA-4A3C-8F5B-950B79AAB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19700"/>
            <a:ext cx="10420350" cy="609600"/>
          </a:xfrm>
          <a:prstGeom xmlns:a="http://schemas.openxmlformats.org/drawingml/2006/main" prst="roundRect">
            <a:avLst>
              <a:gd name="adj" fmla="val 28125"/>
            </a:avLst>
          </a:prstGeom>
          <a:solidFill xmlns:a="http://schemas.openxmlformats.org/drawingml/2006/main">
            <a:srgbClr val="DCE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process-formula">
            <a:extLst xmlns:a="http://schemas.openxmlformats.org/drawingml/2006/main">
              <a:ext uri="{FF2B5EF4-FFF2-40B4-BE49-F238E27FC236}">
                <a16:creationId xmlns:a16="http://schemas.microsoft.com/office/drawing/2014/main" id="{27580F3D-C4B0-4D66-84AB-E0AE273EF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353050"/>
            <a:ext cx="9963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650" b="1">
                <a:solidFill>
                  <a:srgbClr val="161A22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61A22"/>
                </a:solidFill>
                <a:latin typeface="Arial"/>
                <a:ea typeface="Arial"/>
                <a:cs typeface="Arial"/>
              </a:rPr>
              <a:t>F浮 = G − F拉     ｜     G排 = G总 − G桶     ｜     实验结果：F浮 = G排</a:t>
            </a:r>
          </a:p>
        </p:txBody>
      </p:sp>
    </p:spTree>
    <p:extLst>
      <p:ext uri="{BB962C8B-B14F-4D97-AF65-F5344CB8AC3E}">
        <p14:creationId xmlns:p14="http://schemas.microsoft.com/office/powerpoint/2010/main" val="3116815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rail-5">
            <a:extLst xmlns:a="http://schemas.openxmlformats.org/drawingml/2006/main">
              <a:ext uri="{FF2B5EF4-FFF2-40B4-BE49-F238E27FC236}">
                <a16:creationId xmlns:a16="http://schemas.microsoft.com/office/drawing/2014/main" id="{07C73C7B-239E-49F4-B286-25EE6E943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FA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op-rule-5">
            <a:extLst xmlns:a="http://schemas.openxmlformats.org/drawingml/2006/main">
              <a:ext uri="{FF2B5EF4-FFF2-40B4-BE49-F238E27FC236}">
                <a16:creationId xmlns:a16="http://schemas.microsoft.com/office/drawing/2014/main" id="{2508FD40-7BBB-4C9F-97AA-4C642AC52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1085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02FA7"/>
            </a:solidFill>
            <a:prstDash val="solid"/>
          </a:ln>
        </p:spPr>
      </p:sp>
      <p:sp>
        <p:nvSpPr>
          <p:cNvPr id="3" name="section-5">
            <a:extLst xmlns:a="http://schemas.openxmlformats.org/drawingml/2006/main">
              <a:ext uri="{FF2B5EF4-FFF2-40B4-BE49-F238E27FC236}">
                <a16:creationId xmlns:a16="http://schemas.microsoft.com/office/drawing/2014/main" id="{DEC25F30-149D-453A-855E-28D611404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1">
                <a:solidFill>
                  <a:srgbClr val="002FA7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02FA7"/>
                </a:solidFill>
                <a:latin typeface="Arial"/>
                <a:ea typeface="Arial"/>
                <a:cs typeface="Arial"/>
              </a:rPr>
              <a:t>课堂练习</a:t>
            </a:r>
          </a:p>
        </p:txBody>
      </p:sp>
      <p:sp>
        <p:nvSpPr>
          <p:cNvPr id="4" name="page-5">
            <a:extLst xmlns:a="http://schemas.openxmlformats.org/drawingml/2006/main">
              <a:ext uri="{FF2B5EF4-FFF2-40B4-BE49-F238E27FC236}">
                <a16:creationId xmlns:a16="http://schemas.microsoft.com/office/drawing/2014/main" id="{FA86098A-5BBA-41C7-AD1B-0A2C2F203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619125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050" b="1">
                <a:solidFill>
                  <a:srgbClr val="646B78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46B78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5" name="title-5">
            <a:extLst xmlns:a="http://schemas.openxmlformats.org/drawingml/2006/main">
              <a:ext uri="{FF2B5EF4-FFF2-40B4-BE49-F238E27FC236}">
                <a16:creationId xmlns:a16="http://schemas.microsoft.com/office/drawing/2014/main" id="{7C42DAF2-860C-4861-8F3A-349E487BE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9715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925" b="1">
                <a:solidFill>
                  <a:srgbClr val="161A2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25" b="1">
                <a:solidFill>
                  <a:srgbClr val="161A22"/>
                </a:solidFill>
                <a:latin typeface="Microsoft YaHei"/>
                <a:ea typeface="Microsoft YaHei"/>
                <a:cs typeface="Microsoft YaHei"/>
              </a:rPr>
              <a:t>同一物体浸入水中更深，浮力一定变大吗？</a:t>
            </a:r>
          </a:p>
        </p:txBody>
      </p:sp>
      <p:sp>
        <p:nvSpPr>
          <p:cNvPr id="6" name="subtitle-5">
            <a:extLst xmlns:a="http://schemas.openxmlformats.org/drawingml/2006/main">
              <a:ext uri="{FF2B5EF4-FFF2-40B4-BE49-F238E27FC236}">
                <a16:creationId xmlns:a16="http://schemas.microsoft.com/office/drawing/2014/main" id="{19789025-7722-4FCC-B78C-9368B510A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895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646B7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46B78"/>
                </a:solidFill>
                <a:latin typeface="Microsoft YaHei"/>
                <a:ea typeface="Microsoft YaHei"/>
                <a:cs typeface="Microsoft YaHei"/>
              </a:rPr>
              <a:t>先判断，再说明你关注的是“深度”还是“排开水的体积”</a:t>
            </a:r>
          </a:p>
        </p:txBody>
      </p:sp>
      <p:sp>
        <p:nvSpPr>
          <p:cNvPr id="7" name="question-accent">
            <a:extLst xmlns:a="http://schemas.openxmlformats.org/drawingml/2006/main">
              <a:ext uri="{FF2B5EF4-FFF2-40B4-BE49-F238E27FC236}">
                <a16:creationId xmlns:a16="http://schemas.microsoft.com/office/drawing/2014/main" id="{F58166A9-686D-4B4E-A116-6DF382817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66950"/>
            <a:ext cx="1143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FA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question">
            <a:extLst xmlns:a="http://schemas.openxmlformats.org/drawingml/2006/main">
              <a:ext uri="{FF2B5EF4-FFF2-40B4-BE49-F238E27FC236}">
                <a16:creationId xmlns:a16="http://schemas.microsoft.com/office/drawing/2014/main" id="{D4DF3963-456D-4E4D-A1A5-0C1F53B5F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43150"/>
            <a:ext cx="4953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100" b="1">
                <a:solidFill>
                  <a:srgbClr val="161A2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61A22"/>
                </a:solidFill>
                <a:latin typeface="Microsoft YaHei"/>
                <a:ea typeface="Microsoft YaHei"/>
                <a:cs typeface="Microsoft YaHei"/>
              </a:rPr>
              <a:t>一个木块完全浸没在水中后，继续向下移动但不接触容器底。它受到的浮力如何变化？</a:t>
            </a:r>
          </a:p>
        </p:txBody>
      </p:sp>
      <p:sp>
        <p:nvSpPr>
          <p:cNvPr id="9" name="hint">
            <a:extLst xmlns:a="http://schemas.openxmlformats.org/drawingml/2006/main">
              <a:ext uri="{FF2B5EF4-FFF2-40B4-BE49-F238E27FC236}">
                <a16:creationId xmlns:a16="http://schemas.microsoft.com/office/drawing/2014/main" id="{B8CCADEA-B6B4-4190-9883-014AB7DD5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248150"/>
            <a:ext cx="476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002FA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002FA7"/>
                </a:solidFill>
                <a:latin typeface="Microsoft YaHei"/>
                <a:ea typeface="Microsoft YaHei"/>
                <a:cs typeface="Microsoft YaHei"/>
              </a:rPr>
              <a:t>提示：完全浸没后，V排 是否改变？</a:t>
            </a:r>
          </a:p>
        </p:txBody>
      </p:sp>
      <p:sp>
        <p:nvSpPr>
          <p:cNvPr id="10" name="option-index-0">
            <a:extLst xmlns:a="http://schemas.openxmlformats.org/drawingml/2006/main">
              <a:ext uri="{FF2B5EF4-FFF2-40B4-BE49-F238E27FC236}">
                <a16:creationId xmlns:a16="http://schemas.microsoft.com/office/drawing/2014/main" id="{98CA1556-D66B-4786-B9FE-EBF40578E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3812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option-letter-0">
            <a:extLst xmlns:a="http://schemas.openxmlformats.org/drawingml/2006/main">
              <a:ext uri="{FF2B5EF4-FFF2-40B4-BE49-F238E27FC236}">
                <a16:creationId xmlns:a16="http://schemas.microsoft.com/office/drawing/2014/main" id="{D0E465F9-069A-4696-8DBC-889795605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457450"/>
            <a:ext cx="552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725" b="1">
                <a:solidFill>
                  <a:srgbClr val="161A22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61A22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12" name="option-text-0">
            <a:extLst xmlns:a="http://schemas.openxmlformats.org/drawingml/2006/main">
              <a:ext uri="{FF2B5EF4-FFF2-40B4-BE49-F238E27FC236}">
                <a16:creationId xmlns:a16="http://schemas.microsoft.com/office/drawing/2014/main" id="{1D586931-411B-4D28-B7A4-3F7938F28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438400"/>
            <a:ext cx="2190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161A2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61A22"/>
                </a:solidFill>
                <a:latin typeface="Microsoft YaHei"/>
                <a:ea typeface="Microsoft YaHei"/>
                <a:cs typeface="Microsoft YaHei"/>
              </a:rPr>
              <a:t>变大</a:t>
            </a:r>
          </a:p>
        </p:txBody>
      </p:sp>
      <p:sp>
        <p:nvSpPr>
          <p:cNvPr id="13" name="option-index-1">
            <a:extLst xmlns:a="http://schemas.openxmlformats.org/drawingml/2006/main">
              <a:ext uri="{FF2B5EF4-FFF2-40B4-BE49-F238E27FC236}">
                <a16:creationId xmlns:a16="http://schemas.microsoft.com/office/drawing/2014/main" id="{2D7F36EB-F618-4EA1-95E1-6E7E55A33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38137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2FA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option-letter-1">
            <a:extLst xmlns:a="http://schemas.openxmlformats.org/drawingml/2006/main">
              <a:ext uri="{FF2B5EF4-FFF2-40B4-BE49-F238E27FC236}">
                <a16:creationId xmlns:a16="http://schemas.microsoft.com/office/drawing/2014/main" id="{F423D42D-78DC-4E53-B3C8-724C05502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457575"/>
            <a:ext cx="552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15" name="option-text-1">
            <a:extLst xmlns:a="http://schemas.openxmlformats.org/drawingml/2006/main">
              <a:ext uri="{FF2B5EF4-FFF2-40B4-BE49-F238E27FC236}">
                <a16:creationId xmlns:a16="http://schemas.microsoft.com/office/drawing/2014/main" id="{8764F7EA-9D0C-4B65-B4C2-AD1C9D3A7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438525"/>
            <a:ext cx="2190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1">
                <a:solidFill>
                  <a:srgbClr val="002FA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002FA7"/>
                </a:solidFill>
                <a:latin typeface="Microsoft YaHei"/>
                <a:ea typeface="Microsoft YaHei"/>
                <a:cs typeface="Microsoft YaHei"/>
              </a:rPr>
              <a:t>不变</a:t>
            </a:r>
          </a:p>
        </p:txBody>
      </p:sp>
      <p:sp>
        <p:nvSpPr>
          <p:cNvPr id="16" name="option-index-2">
            <a:extLst xmlns:a="http://schemas.openxmlformats.org/drawingml/2006/main">
              <a:ext uri="{FF2B5EF4-FFF2-40B4-BE49-F238E27FC236}">
                <a16:creationId xmlns:a16="http://schemas.microsoft.com/office/drawing/2014/main" id="{6F32FE2D-5489-43BD-BF5F-B224C53E0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43815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option-letter-2">
            <a:extLst xmlns:a="http://schemas.openxmlformats.org/drawingml/2006/main">
              <a:ext uri="{FF2B5EF4-FFF2-40B4-BE49-F238E27FC236}">
                <a16:creationId xmlns:a16="http://schemas.microsoft.com/office/drawing/2014/main" id="{3824CEE2-D22F-48F4-8D6F-79616B480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4457700"/>
            <a:ext cx="552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725" b="1">
                <a:solidFill>
                  <a:srgbClr val="161A22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61A22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18" name="option-text-2">
            <a:extLst xmlns:a="http://schemas.openxmlformats.org/drawingml/2006/main">
              <a:ext uri="{FF2B5EF4-FFF2-40B4-BE49-F238E27FC236}">
                <a16:creationId xmlns:a16="http://schemas.microsoft.com/office/drawing/2014/main" id="{FBF796B4-D63F-4645-AD0E-39D3F4952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438650"/>
            <a:ext cx="2190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161A2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61A22"/>
                </a:solidFill>
                <a:latin typeface="Microsoft YaHei"/>
                <a:ea typeface="Microsoft YaHei"/>
                <a:cs typeface="Microsoft YaHei"/>
              </a:rPr>
              <a:t>变小</a:t>
            </a:r>
          </a:p>
        </p:txBody>
      </p:sp>
    </p:spTree>
    <p:extLst>
      <p:ext uri="{BB962C8B-B14F-4D97-AF65-F5344CB8AC3E}">
        <p14:creationId xmlns:p14="http://schemas.microsoft.com/office/powerpoint/2010/main" val="177859541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rail-6">
            <a:extLst xmlns:a="http://schemas.openxmlformats.org/drawingml/2006/main">
              <a:ext uri="{FF2B5EF4-FFF2-40B4-BE49-F238E27FC236}">
                <a16:creationId xmlns:a16="http://schemas.microsoft.com/office/drawing/2014/main" id="{CE079A83-BC4F-43DE-AEEF-6D5006BBA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FA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op-rule-6">
            <a:extLst xmlns:a="http://schemas.openxmlformats.org/drawingml/2006/main">
              <a:ext uri="{FF2B5EF4-FFF2-40B4-BE49-F238E27FC236}">
                <a16:creationId xmlns:a16="http://schemas.microsoft.com/office/drawing/2014/main" id="{6D689F55-91FA-499D-B569-D9DA35114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1085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02FA7"/>
            </a:solidFill>
            <a:prstDash val="solid"/>
          </a:ln>
        </p:spPr>
      </p:sp>
      <p:sp>
        <p:nvSpPr>
          <p:cNvPr id="3" name="section-6">
            <a:extLst xmlns:a="http://schemas.openxmlformats.org/drawingml/2006/main">
              <a:ext uri="{FF2B5EF4-FFF2-40B4-BE49-F238E27FC236}">
                <a16:creationId xmlns:a16="http://schemas.microsoft.com/office/drawing/2014/main" id="{77EB1C7B-7250-4D88-AC0C-8BEB9AF39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1">
                <a:solidFill>
                  <a:srgbClr val="002FA7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02FA7"/>
                </a:solidFill>
                <a:latin typeface="Arial"/>
                <a:ea typeface="Arial"/>
                <a:cs typeface="Arial"/>
              </a:rPr>
              <a:t>课堂小结</a:t>
            </a:r>
          </a:p>
        </p:txBody>
      </p:sp>
      <p:sp>
        <p:nvSpPr>
          <p:cNvPr id="4" name="page-6">
            <a:extLst xmlns:a="http://schemas.openxmlformats.org/drawingml/2006/main">
              <a:ext uri="{FF2B5EF4-FFF2-40B4-BE49-F238E27FC236}">
                <a16:creationId xmlns:a16="http://schemas.microsoft.com/office/drawing/2014/main" id="{E5482754-D44F-46A7-87F2-92ED170B7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619125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050" b="1">
                <a:solidFill>
                  <a:srgbClr val="646B78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46B78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5" name="title-6">
            <a:extLst xmlns:a="http://schemas.openxmlformats.org/drawingml/2006/main">
              <a:ext uri="{FF2B5EF4-FFF2-40B4-BE49-F238E27FC236}">
                <a16:creationId xmlns:a16="http://schemas.microsoft.com/office/drawing/2014/main" id="{E18D3337-12BA-4426-B171-9E8BA8888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9715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925" b="1">
                <a:solidFill>
                  <a:srgbClr val="161A2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25" b="1">
                <a:solidFill>
                  <a:srgbClr val="161A22"/>
                </a:solidFill>
                <a:latin typeface="Microsoft YaHei"/>
                <a:ea typeface="Microsoft YaHei"/>
                <a:cs typeface="Microsoft YaHei"/>
              </a:rPr>
              <a:t>一条关系串起浮力的来源、测量与大小</a:t>
            </a:r>
          </a:p>
        </p:txBody>
      </p:sp>
      <p:sp>
        <p:nvSpPr>
          <p:cNvPr id="6" name="subtitle-6">
            <a:extLst xmlns:a="http://schemas.openxmlformats.org/drawingml/2006/main">
              <a:ext uri="{FF2B5EF4-FFF2-40B4-BE49-F238E27FC236}">
                <a16:creationId xmlns:a16="http://schemas.microsoft.com/office/drawing/2014/main" id="{FFADCBF0-4278-4667-B750-2E7135501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895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646B7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46B78"/>
                </a:solidFill>
                <a:latin typeface="Microsoft YaHei"/>
                <a:ea typeface="Microsoft YaHei"/>
                <a:cs typeface="Microsoft YaHei"/>
              </a:rPr>
              <a:t>从现象走向可验证的物理关系</a:t>
            </a:r>
          </a:p>
        </p:txBody>
      </p:sp>
      <p:sp>
        <p:nvSpPr>
          <p:cNvPr id="7" name="summary-formula">
            <a:extLst xmlns:a="http://schemas.openxmlformats.org/drawingml/2006/main">
              <a:ext uri="{FF2B5EF4-FFF2-40B4-BE49-F238E27FC236}">
                <a16:creationId xmlns:a16="http://schemas.microsoft.com/office/drawing/2014/main" id="{A149C0C8-9666-4693-BEC6-38673DC62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10401300" cy="10668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7F7F8"/>
          </a:solidFill>
          <a:ln xmlns:a="http://schemas.openxmlformats.org/drawingml/2006/main" w="9525">
            <a:solidFill>
              <a:srgbClr val="DCE7FF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3450" b="1">
                <a:solidFill>
                  <a:srgbClr val="002FA7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002FA7"/>
                </a:solidFill>
                <a:latin typeface="Arial"/>
                <a:ea typeface="Arial"/>
                <a:cs typeface="Arial"/>
              </a:rPr>
              <a:t>F浮 = G排 = ρ液 g V排</a:t>
            </a:r>
          </a:p>
        </p:txBody>
      </p:sp>
      <p:sp>
        <p:nvSpPr>
          <p:cNvPr id="8" name="summary-dot-0">
            <a:extLst xmlns:a="http://schemas.openxmlformats.org/drawingml/2006/main">
              <a:ext uri="{FF2B5EF4-FFF2-40B4-BE49-F238E27FC236}">
                <a16:creationId xmlns:a16="http://schemas.microsoft.com/office/drawing/2014/main" id="{5A9C133D-501F-40FC-8EF3-560754804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386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2FA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summary-point-0">
            <a:extLst xmlns:a="http://schemas.openxmlformats.org/drawingml/2006/main">
              <a:ext uri="{FF2B5EF4-FFF2-40B4-BE49-F238E27FC236}">
                <a16:creationId xmlns:a16="http://schemas.microsoft.com/office/drawing/2014/main" id="{972268B4-5C93-4367-B712-0975A351A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981450"/>
            <a:ext cx="27432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650" b="1">
                <a:solidFill>
                  <a:srgbClr val="161A2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61A22"/>
                </a:solidFill>
                <a:latin typeface="Microsoft YaHei"/>
                <a:ea typeface="Microsoft YaHei"/>
                <a:cs typeface="Microsoft YaHei"/>
              </a:rPr>
              <a:t>来源：上下表面的压力差</a:t>
            </a:r>
          </a:p>
        </p:txBody>
      </p:sp>
      <p:sp>
        <p:nvSpPr>
          <p:cNvPr id="10" name="summary-dot-1">
            <a:extLst xmlns:a="http://schemas.openxmlformats.org/drawingml/2006/main">
              <a:ext uri="{FF2B5EF4-FFF2-40B4-BE49-F238E27FC236}">
                <a16:creationId xmlns:a16="http://schemas.microsoft.com/office/drawing/2014/main" id="{0D0B3163-220C-4407-AD81-9711CD7B1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40386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2FA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summary-point-1">
            <a:extLst xmlns:a="http://schemas.openxmlformats.org/drawingml/2006/main">
              <a:ext uri="{FF2B5EF4-FFF2-40B4-BE49-F238E27FC236}">
                <a16:creationId xmlns:a16="http://schemas.microsoft.com/office/drawing/2014/main" id="{B961C9C1-739F-432F-9A3F-C03A98314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3981450"/>
            <a:ext cx="27432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650" b="1">
                <a:solidFill>
                  <a:srgbClr val="161A2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61A22"/>
                </a:solidFill>
                <a:latin typeface="Microsoft YaHei"/>
                <a:ea typeface="Microsoft YaHei"/>
                <a:cs typeface="Microsoft YaHei"/>
              </a:rPr>
              <a:t>测量：F浮 = G − F拉</a:t>
            </a:r>
          </a:p>
        </p:txBody>
      </p:sp>
      <p:sp>
        <p:nvSpPr>
          <p:cNvPr id="12" name="summary-dot-2">
            <a:extLst xmlns:a="http://schemas.openxmlformats.org/drawingml/2006/main">
              <a:ext uri="{FF2B5EF4-FFF2-40B4-BE49-F238E27FC236}">
                <a16:creationId xmlns:a16="http://schemas.microsoft.com/office/drawing/2014/main" id="{B3A05B38-0D46-451F-994F-D6A9A14AD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0386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2FA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summary-point-2">
            <a:extLst xmlns:a="http://schemas.openxmlformats.org/drawingml/2006/main">
              <a:ext uri="{FF2B5EF4-FFF2-40B4-BE49-F238E27FC236}">
                <a16:creationId xmlns:a16="http://schemas.microsoft.com/office/drawing/2014/main" id="{6D5B2445-F16F-4AB0-B242-490B356A5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981450"/>
            <a:ext cx="27432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650" b="1">
                <a:solidFill>
                  <a:srgbClr val="161A2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61A22"/>
                </a:solidFill>
                <a:latin typeface="Microsoft YaHei"/>
                <a:ea typeface="Microsoft YaHei"/>
                <a:cs typeface="Microsoft YaHei"/>
              </a:rPr>
              <a:t>规律：等于排开液体的重力</a:t>
            </a:r>
          </a:p>
        </p:txBody>
      </p:sp>
      <p:sp>
        <p:nvSpPr>
          <p:cNvPr id="14" name="summary-close">
            <a:extLst xmlns:a="http://schemas.openxmlformats.org/drawingml/2006/main">
              <a:ext uri="{FF2B5EF4-FFF2-40B4-BE49-F238E27FC236}">
                <a16:creationId xmlns:a16="http://schemas.microsoft.com/office/drawing/2014/main" id="{F587ADD2-5D89-401D-B3A4-B6883EB2F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29250"/>
            <a:ext cx="10382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800" b="0">
                <a:solidFill>
                  <a:srgbClr val="646B7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646B78"/>
                </a:solidFill>
                <a:latin typeface="Microsoft YaHei"/>
                <a:ea typeface="Microsoft YaHei"/>
                <a:cs typeface="Microsoft YaHei"/>
              </a:rPr>
              <a:t>下一次看到漂浮或下沉，先问：它排开了多少液体？</a:t>
            </a:r>
          </a:p>
        </p:txBody>
      </p:sp>
    </p:spTree>
    <p:extLst>
      <p:ext uri="{BB962C8B-B14F-4D97-AF65-F5344CB8AC3E}">
        <p14:creationId xmlns:p14="http://schemas.microsoft.com/office/powerpoint/2010/main" val="107791317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2026-08-03T15:21:07.7130000Z</dcterms:created>
  <dcterms:modified xsi:type="dcterms:W3CDTF">2026-08-03T15:21:07.7130000Z</dcterms:modified>
</coreProperties>
</file>