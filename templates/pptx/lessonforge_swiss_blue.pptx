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围绕“课程主题”讲解，不照读页面文字。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围绕“学习目标”讲解，不照读页面文字。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围绕“从一个真实问题开始”讲解，不照读页面文字。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围绕“核心概念”讲解，不照读页面文字。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围绕“应用步骤”讲解，不照读页面文字。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围绕“现在试一试”讲解，不照读页面文字。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围绕“本课小结”讲解，不照读页面文字。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73152" cy="58521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2FA7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6858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1A22"/>
                </a:solidFill>
                <a:latin typeface="Microsoft YaHei"/>
              </a:defRPr>
            </a:pPr>
            <a:r>
              <a:t>课程主题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288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61A22"/>
                </a:solidFill>
                <a:latin typeface="Microsoft YaHei"/>
              </a:defRPr>
            </a:pPr>
            <a:r>
              <a:t>学科</a:t>
            </a:r>
          </a:p>
          <a:p>
            <a:pPr>
              <a:spcAft>
                <a:spcPts val="1800"/>
              </a:spcAft>
              <a:defRPr sz="2200">
                <a:solidFill>
                  <a:srgbClr val="161A22"/>
                </a:solidFill>
                <a:latin typeface="Microsoft YaHei"/>
              </a:defRPr>
            </a:pPr>
            <a:r>
              <a:t>学段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2636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B78"/>
                </a:solidFill>
                <a:latin typeface="Arial"/>
              </a:defRPr>
            </a:pPr>
            <a:r>
              <a:t>S01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73152" cy="58521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2FA7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6858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1A22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288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61A22"/>
                </a:solidFill>
                <a:latin typeface="Microsoft YaHei"/>
              </a:defRPr>
            </a:pPr>
            <a:r>
              <a:t>OBJ-01 · 解释：能准确说明核心概念及适用条件</a:t>
            </a:r>
          </a:p>
          <a:p>
            <a:pPr>
              <a:spcAft>
                <a:spcPts val="1800"/>
              </a:spcAft>
              <a:defRPr sz="2200">
                <a:solidFill>
                  <a:srgbClr val="161A22"/>
                </a:solidFill>
                <a:latin typeface="Microsoft YaHei"/>
              </a:defRPr>
            </a:pPr>
            <a:r>
              <a:t>OBJ-02 · 完成：步骤完整且结论合理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2636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B78"/>
                </a:solidFill>
                <a:latin typeface="Arial"/>
              </a:defRPr>
            </a:pPr>
            <a:r>
              <a:t>S02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73152" cy="58521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2FA7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6858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1A22"/>
                </a:solidFill>
                <a:latin typeface="Microsoft YaHei"/>
              </a:defRPr>
            </a:pPr>
            <a:r>
              <a:t>从一个真实问题开始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288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61A22"/>
                </a:solidFill>
                <a:latin typeface="Microsoft YaHei"/>
              </a:defRPr>
            </a:pPr>
            <a:r>
              <a:t>提出真实情境问题</a:t>
            </a:r>
          </a:p>
          <a:p>
            <a:pPr>
              <a:spcAft>
                <a:spcPts val="1800"/>
              </a:spcAft>
              <a:defRPr sz="2200">
                <a:solidFill>
                  <a:srgbClr val="161A22"/>
                </a:solidFill>
                <a:latin typeface="Microsoft YaHei"/>
              </a:defRPr>
            </a:pPr>
            <a:r>
              <a:t>先作出判断，再说明依据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2636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B78"/>
                </a:solidFill>
                <a:latin typeface="Arial"/>
              </a:defRPr>
            </a:pPr>
            <a:r>
              <a:t>S03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73152" cy="58521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2FA7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6858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1A22"/>
                </a:solidFill>
                <a:latin typeface="Microsoft YaHei"/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288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61A22"/>
                </a:solidFill>
                <a:latin typeface="Microsoft YaHei"/>
              </a:defRPr>
            </a:pPr>
            <a:r>
              <a:t>核心概念与关键关系</a:t>
            </a:r>
          </a:p>
          <a:p>
            <a:pPr>
              <a:spcAft>
                <a:spcPts val="1800"/>
              </a:spcAft>
              <a:defRPr sz="2200">
                <a:solidFill>
                  <a:srgbClr val="161A22"/>
                </a:solidFill>
                <a:latin typeface="Microsoft YaHei"/>
              </a:defRPr>
            </a:pPr>
            <a:r>
              <a:t>课程主题核心概念</a:t>
            </a:r>
          </a:p>
          <a:p>
            <a:pPr>
              <a:spcAft>
                <a:spcPts val="1800"/>
              </a:spcAft>
              <a:defRPr sz="2200">
                <a:solidFill>
                  <a:srgbClr val="161A22"/>
                </a:solidFill>
                <a:latin typeface="Microsoft YaHei"/>
              </a:defRPr>
            </a:pPr>
            <a:r>
              <a:t>课程主题应用方法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2636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B78"/>
                </a:solidFill>
                <a:latin typeface="Arial"/>
              </a:defRPr>
            </a:pPr>
            <a:r>
              <a:t>S04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73152" cy="58521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2FA7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6858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1A22"/>
                </a:solidFill>
                <a:latin typeface="Microsoft YaHei"/>
              </a:defRPr>
            </a:pPr>
            <a:r>
              <a:t>应用步骤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288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61A22"/>
                </a:solidFill>
                <a:latin typeface="Microsoft YaHei"/>
              </a:defRPr>
            </a:pPr>
            <a:r>
              <a:t>识别任务与条件</a:t>
            </a:r>
          </a:p>
          <a:p>
            <a:pPr>
              <a:spcAft>
                <a:spcPts val="1800"/>
              </a:spcAft>
              <a:defRPr sz="2200">
                <a:solidFill>
                  <a:srgbClr val="161A22"/>
                </a:solidFill>
                <a:latin typeface="Microsoft YaHei"/>
              </a:defRPr>
            </a:pPr>
            <a:r>
              <a:t>选择核心概念</a:t>
            </a:r>
          </a:p>
          <a:p>
            <a:pPr>
              <a:spcAft>
                <a:spcPts val="1800"/>
              </a:spcAft>
              <a:defRPr sz="2200">
                <a:solidFill>
                  <a:srgbClr val="161A22"/>
                </a:solidFill>
                <a:latin typeface="Microsoft YaHei"/>
              </a:defRPr>
            </a:pPr>
            <a:r>
              <a:t>完成推理并检查结论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2636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B78"/>
                </a:solidFill>
                <a:latin typeface="Arial"/>
              </a:defRPr>
            </a:pPr>
            <a:r>
              <a:t>S05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73152" cy="58521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2FA7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6858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1A22"/>
                </a:solidFill>
                <a:latin typeface="Microsoft YaHei"/>
              </a:defRPr>
            </a:pPr>
            <a:r>
              <a:t>现在试一试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288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61A22"/>
                </a:solidFill>
                <a:latin typeface="Microsoft YaHei"/>
              </a:defRPr>
            </a:pPr>
            <a:r>
              <a:t>完成一个基础任务</a:t>
            </a:r>
          </a:p>
          <a:p>
            <a:pPr>
              <a:spcAft>
                <a:spcPts val="1800"/>
              </a:spcAft>
              <a:defRPr sz="2200">
                <a:solidFill>
                  <a:srgbClr val="161A22"/>
                </a:solidFill>
                <a:latin typeface="Microsoft YaHei"/>
              </a:defRPr>
            </a:pPr>
            <a:r>
              <a:t>写出关键判断依据</a:t>
            </a:r>
          </a:p>
          <a:p>
            <a:pPr>
              <a:spcAft>
                <a:spcPts val="1800"/>
              </a:spcAft>
              <a:defRPr sz="2200">
                <a:solidFill>
                  <a:srgbClr val="161A22"/>
                </a:solidFill>
                <a:latin typeface="Microsoft YaHei"/>
              </a:defRPr>
            </a:pPr>
            <a:r>
              <a:t>对照标准自我检查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2636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B78"/>
                </a:solidFill>
                <a:latin typeface="Arial"/>
              </a:defRPr>
            </a:pPr>
            <a:r>
              <a:t>S06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73152" cy="58521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2FA7"/>
                </a:solidFill>
                <a:latin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6858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1A22"/>
                </a:solidFill>
                <a:latin typeface="Microsoft YaHei"/>
              </a:defRPr>
            </a:pPr>
            <a:r>
              <a:t>本课小结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288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61A22"/>
                </a:solidFill>
                <a:latin typeface="Microsoft YaHei"/>
              </a:defRPr>
            </a:pPr>
            <a:r>
              <a:t>核心概念</a:t>
            </a:r>
          </a:p>
          <a:p>
            <a:pPr>
              <a:spcAft>
                <a:spcPts val="1800"/>
              </a:spcAft>
              <a:defRPr sz="2200">
                <a:solidFill>
                  <a:srgbClr val="161A22"/>
                </a:solidFill>
                <a:latin typeface="Microsoft YaHei"/>
              </a:defRPr>
            </a:pPr>
            <a:r>
              <a:t>应用条件</a:t>
            </a:r>
          </a:p>
          <a:p>
            <a:pPr>
              <a:spcAft>
                <a:spcPts val="1800"/>
              </a:spcAft>
              <a:defRPr sz="2200">
                <a:solidFill>
                  <a:srgbClr val="161A22"/>
                </a:solidFill>
                <a:latin typeface="Microsoft YaHei"/>
              </a:defRPr>
            </a:pPr>
            <a:r>
              <a:t>解决问题的步骤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2636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B78"/>
                </a:solidFill>
                <a:latin typeface="Arial"/>
              </a:defRPr>
            </a:pPr>
            <a:r>
              <a:t>S07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