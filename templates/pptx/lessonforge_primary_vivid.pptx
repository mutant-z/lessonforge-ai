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a99316d27d4094" /><Relationship Type="http://schemas.openxmlformats.org/officeDocument/2006/relationships/extended-properties" Target="/docProps/app.xml" Id="Rb71d0d8d57ae4468" /><Relationship Type="http://schemas.openxmlformats.org/officeDocument/2006/relationships/officeDocument" Target="/ppt/presentation.xml" Id="R4a83cf51feb949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69daf99a5d4ad1"/>
  </p:sldMasterIdLst>
  <p:notesMasterIdLst>
    <p:notesMasterId xmlns:r="http://schemas.openxmlformats.org/officeDocument/2006/relationships" r:id="R408536b180924f18"/>
  </p:notesMasterIdLst>
  <p:sldIdLst>
    <p:sldId xmlns:r="http://schemas.openxmlformats.org/officeDocument/2006/relationships" id="256" r:id="Rbf3eaf8e053e4db1"/>
    <p:sldId xmlns:r="http://schemas.openxmlformats.org/officeDocument/2006/relationships" id="257" r:id="R0b490d3089f34112"/>
    <p:sldId xmlns:r="http://schemas.openxmlformats.org/officeDocument/2006/relationships" id="258" r:id="Rd9ac5662b2434940"/>
    <p:sldId xmlns:r="http://schemas.openxmlformats.org/officeDocument/2006/relationships" id="259" r:id="R36d9d1df1f684c8c"/>
    <p:sldId xmlns:r="http://schemas.openxmlformats.org/officeDocument/2006/relationships" id="260" r:id="Re3e46cca943f4014"/>
    <p:sldId xmlns:r="http://schemas.openxmlformats.org/officeDocument/2006/relationships" id="261" r:id="R0b0391fee7244e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76e63b89e64b48" /><Relationship Type="http://schemas.openxmlformats.org/officeDocument/2006/relationships/slideMaster" Target="/ppt/slideMasters/slideMaster1.xml" Id="R6869daf99a5d4ad1" /><Relationship Type="http://schemas.openxmlformats.org/officeDocument/2006/relationships/notesMaster" Target="/ppt/notesMasters/notesMaster1.xml" Id="R408536b180924f18" /><Relationship Type="http://schemas.openxmlformats.org/officeDocument/2006/relationships/presProps" Target="/ppt/presProps.xml" Id="R631ae4e1959546a0" /><Relationship Type="http://schemas.openxmlformats.org/officeDocument/2006/relationships/tableStyles" Target="/ppt/tableStyles.xml" Id="R860b5e99f3214cb3" /><Relationship Type="http://schemas.openxmlformats.org/officeDocument/2006/relationships/slide" Target="/ppt/slides/slide1.xml" Id="Rbf3eaf8e053e4db1" /><Relationship Type="http://schemas.openxmlformats.org/officeDocument/2006/relationships/slide" Target="/ppt/slides/slide2.xml" Id="R0b490d3089f34112" /><Relationship Type="http://schemas.openxmlformats.org/officeDocument/2006/relationships/slide" Target="/ppt/slides/slide3.xml" Id="Rd9ac5662b2434940" /><Relationship Type="http://schemas.openxmlformats.org/officeDocument/2006/relationships/slide" Target="/ppt/slides/slide4.xml" Id="R36d9d1df1f684c8c" /><Relationship Type="http://schemas.openxmlformats.org/officeDocument/2006/relationships/slide" Target="/ppt/slides/slide5.xml" Id="Re3e46cca943f4014" /><Relationship Type="http://schemas.openxmlformats.org/officeDocument/2006/relationships/slide" Target="/ppt/slides/slide6.xml" Id="R0b0391fee7244e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e2562f8a464d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ba725b4e274047" /><Relationship Type="http://schemas.openxmlformats.org/officeDocument/2006/relationships/notesMaster" Target="/ppt/notesMasters/notesMaster1.xml" Id="Rc0ff36d3490b48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87ef9fe62e471f" /><Relationship Type="http://schemas.openxmlformats.org/officeDocument/2006/relationships/notesMaster" Target="/ppt/notesMasters/notesMaster1.xml" Id="Rceccf5126c884d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4682b5a93f41a1" /><Relationship Type="http://schemas.openxmlformats.org/officeDocument/2006/relationships/notesMaster" Target="/ppt/notesMasters/notesMaster1.xml" Id="Rfd2eceebdd5849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77ea79842347c6" /><Relationship Type="http://schemas.openxmlformats.org/officeDocument/2006/relationships/notesMaster" Target="/ppt/notesMasters/notesMaster1.xml" Id="R3e02aeee48ad48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14313f60574173" /><Relationship Type="http://schemas.openxmlformats.org/officeDocument/2006/relationships/notesMaster" Target="/ppt/notesMasters/notesMaster1.xml" Id="Rd39cdd1b18c041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0279e0e14b4d70" /><Relationship Type="http://schemas.openxmlformats.org/officeDocument/2006/relationships/notesMaster" Target="/ppt/notesMasters/notesMaster1.xml" Id="Rd370e2531ae048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用生活中的漂浮现象引出问题：浮力到底有多大？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目标不要求学生机械记忆；强调观察、测量与解释之间的联系。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借助上下表面压力差说明浮力方向，避免把浮力误解为液体主动托举。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 1—4 的顺序记录数据，最后比较两组差值是否相等。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答案是不变。完全浸没后排开水的体积不变，液体密度也不变，因此浮力不变。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用公式回扣三个问题：浮力从哪里来、怎样测、由什么决定。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72b01ea28a46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77bcde6a154232" /><Relationship Type="http://schemas.openxmlformats.org/officeDocument/2006/relationships/slideLayout" Target="/ppt/slideLayouts/slideLayout1.xml" Id="R0323cc469cfc46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23cc469cfc46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c5801be2b4d1c" /><Relationship Type="http://schemas.openxmlformats.org/officeDocument/2006/relationships/notesSlide" Target="/ppt/notesSlides/notesSlide1.xml" Id="Rfaaae67017dc4d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b4205102944e1" /><Relationship Type="http://schemas.openxmlformats.org/officeDocument/2006/relationships/notesSlide" Target="/ppt/notesSlides/notesSlide2.xml" Id="R4a9f8988fff84d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806490e0b424e" /><Relationship Type="http://schemas.openxmlformats.org/officeDocument/2006/relationships/notesSlide" Target="/ppt/notesSlides/notesSlide3.xml" Id="R03ae77a9d9a24d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d5fd3542b444a" /><Relationship Type="http://schemas.openxmlformats.org/officeDocument/2006/relationships/notesSlide" Target="/ppt/notesSlides/notesSlide4.xml" Id="Ra904ef0ad6ac4c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f7aadac1245f0" /><Relationship Type="http://schemas.openxmlformats.org/officeDocument/2006/relationships/notesSlide" Target="/ppt/notesSlides/notesSlide5.xml" Id="R4f58319d468f45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9264f26874643" /><Relationship Type="http://schemas.openxmlformats.org/officeDocument/2006/relationships/notesSlide" Target="/ppt/notesSlides/notesSlide6.xml" Id="Ra8502c43dc7340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orange">
            <a:extLst xmlns:a="http://schemas.openxmlformats.org/drawingml/2006/main">
              <a:ext uri="{FF2B5EF4-FFF2-40B4-BE49-F238E27FC236}">
                <a16:creationId xmlns:a16="http://schemas.microsoft.com/office/drawing/2014/main" id="{FFE45ABF-2546-44E8-A65B-8413AD4F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1910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blue">
            <a:extLst xmlns:a="http://schemas.openxmlformats.org/drawingml/2006/main">
              <a:ext uri="{FF2B5EF4-FFF2-40B4-BE49-F238E27FC236}">
                <a16:creationId xmlns:a16="http://schemas.microsoft.com/office/drawing/2014/main" id="{493FD405-E412-49E7-9FF6-E1979B32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66800"/>
            <a:ext cx="4762500" cy="4591050"/>
          </a:xfrm>
          <a:prstGeom xmlns:a="http://schemas.openxmlformats.org/drawingml/2006/main" prst="roundRect">
            <a:avLst>
              <a:gd name="adj" fmla="val 829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white-dot">
            <a:extLst xmlns:a="http://schemas.openxmlformats.org/drawingml/2006/main">
              <a:ext uri="{FF2B5EF4-FFF2-40B4-BE49-F238E27FC236}">
                <a16:creationId xmlns:a16="http://schemas.microsoft.com/office/drawing/2014/main" id="{EB303F58-3369-41C1-B020-B8182780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1437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C15EED84-A810-4C8A-B338-1FAAE973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八年级物理 · 活力课堂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0E1A905-70F9-4995-8A28-40254659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阿基米德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原理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C7E9041-FB0A-47BB-AB1E-7212264C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479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浮力到底有多大？</a:t>
            </a:r>
          </a:p>
        </p:txBody>
      </p: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6EE00D94-36FF-4C94-A645-F999D3CC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433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分钟微课</a:t>
            </a:r>
          </a:p>
        </p:txBody>
      </p:sp>
    </p:spTree>
    <p:extLst>
      <p:ext uri="{BB962C8B-B14F-4D97-AF65-F5344CB8AC3E}">
        <p14:creationId xmlns:p14="http://schemas.microsoft.com/office/powerpoint/2010/main" val="20483460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dot-a-2">
            <a:extLst xmlns:a="http://schemas.openxmlformats.org/drawingml/2006/main">
              <a:ext uri="{FF2B5EF4-FFF2-40B4-BE49-F238E27FC236}">
                <a16:creationId xmlns:a16="http://schemas.microsoft.com/office/drawing/2014/main" id="{4A7AA350-A16D-4C6E-BB91-DAF55B86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905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ot-b-2">
            <a:extLst xmlns:a="http://schemas.openxmlformats.org/drawingml/2006/main">
              <a:ext uri="{FF2B5EF4-FFF2-40B4-BE49-F238E27FC236}">
                <a16:creationId xmlns:a16="http://schemas.microsoft.com/office/drawing/2014/main" id="{3F24DE0D-D4D6-4964-B984-684E6E15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00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2">
            <a:extLst xmlns:a="http://schemas.openxmlformats.org/drawingml/2006/main">
              <a:ext uri="{FF2B5EF4-FFF2-40B4-BE49-F238E27FC236}">
                <a16:creationId xmlns:a16="http://schemas.microsoft.com/office/drawing/2014/main" id="{AC1F39E0-9FCB-4991-8A17-B9FA150B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96B8AC5D-021D-49B3-BEFB-712C6B8A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91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7667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67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1DCC8D3A-E1F9-4BF7-AF41-68923A66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rPr>
              <a:t>三步建立浮力的完整认识</a:t>
            </a:r>
          </a:p>
        </p:txBody>
      </p:sp>
      <p:sp>
        <p:nvSpPr>
          <p:cNvPr id="6" name="subtitle-2">
            <a:extLst xmlns:a="http://schemas.openxmlformats.org/drawingml/2006/main">
              <a:ext uri="{FF2B5EF4-FFF2-40B4-BE49-F238E27FC236}">
                <a16:creationId xmlns:a16="http://schemas.microsoft.com/office/drawing/2014/main" id="{CD217F81-C262-40B6-A5B7-9EAD9CF1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rPr>
              <a:t>理解来源、掌握测量、能够解释</a:t>
            </a:r>
          </a:p>
        </p:txBody>
      </p:sp>
      <p:sp>
        <p:nvSpPr>
          <p:cNvPr id="7" name="goal-surface-0">
            <a:extLst xmlns:a="http://schemas.openxmlformats.org/drawingml/2006/main">
              <a:ext uri="{FF2B5EF4-FFF2-40B4-BE49-F238E27FC236}">
                <a16:creationId xmlns:a16="http://schemas.microsoft.com/office/drawing/2014/main" id="{8A2809E0-4670-4B1E-A2B0-F5B05656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28295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goal-number-0">
            <a:extLst xmlns:a="http://schemas.openxmlformats.org/drawingml/2006/main">
              <a:ext uri="{FF2B5EF4-FFF2-40B4-BE49-F238E27FC236}">
                <a16:creationId xmlns:a16="http://schemas.microsoft.com/office/drawing/2014/main" id="{95624B9D-5B59-4079-B42E-8FABF5BF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goal-title-0">
            <a:extLst xmlns:a="http://schemas.openxmlformats.org/drawingml/2006/main">
              <a:ext uri="{FF2B5EF4-FFF2-40B4-BE49-F238E27FC236}">
                <a16:creationId xmlns:a16="http://schemas.microsoft.com/office/drawing/2014/main" id="{0518BC56-5A2D-47BB-979C-E427C95F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82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rPr>
              <a:t>看见来源</a:t>
            </a:r>
          </a:p>
        </p:txBody>
      </p:sp>
      <p:sp>
        <p:nvSpPr>
          <p:cNvPr id="10" name="goal-body-0">
            <a:extLst xmlns:a="http://schemas.openxmlformats.org/drawingml/2006/main">
              <a:ext uri="{FF2B5EF4-FFF2-40B4-BE49-F238E27FC236}">
                <a16:creationId xmlns:a16="http://schemas.microsoft.com/office/drawing/2014/main" id="{CC2EAFB4-A434-4D71-B032-87CFE4CB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282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rPr>
              <a:t>用上下表面的压力差解释浮力方向</a:t>
            </a:r>
          </a:p>
        </p:txBody>
      </p:sp>
      <p:sp>
        <p:nvSpPr>
          <p:cNvPr id="11" name="goal-surface-1">
            <a:extLst xmlns:a="http://schemas.openxmlformats.org/drawingml/2006/main">
              <a:ext uri="{FF2B5EF4-FFF2-40B4-BE49-F238E27FC236}">
                <a16:creationId xmlns:a16="http://schemas.microsoft.com/office/drawing/2014/main" id="{E5A89AAC-C95B-4419-8460-D41A093C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0" y="2247900"/>
            <a:ext cx="328295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goal-number-1">
            <a:extLst xmlns:a="http://schemas.openxmlformats.org/drawingml/2006/main">
              <a:ext uri="{FF2B5EF4-FFF2-40B4-BE49-F238E27FC236}">
                <a16:creationId xmlns:a16="http://schemas.microsoft.com/office/drawing/2014/main" id="{CAB02B1B-2905-4567-89E0-6EE81FAB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47650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goal-title-1">
            <a:extLst xmlns:a="http://schemas.openxmlformats.org/drawingml/2006/main">
              <a:ext uri="{FF2B5EF4-FFF2-40B4-BE49-F238E27FC236}">
                <a16:creationId xmlns:a16="http://schemas.microsoft.com/office/drawing/2014/main" id="{284C9639-26D3-4749-9231-B472128E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3143250"/>
            <a:ext cx="282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rPr>
              <a:t>学会测量</a:t>
            </a:r>
          </a:p>
        </p:txBody>
      </p:sp>
      <p:sp>
        <p:nvSpPr>
          <p:cNvPr id="14" name="goal-body-1">
            <a:extLst xmlns:a="http://schemas.openxmlformats.org/drawingml/2006/main">
              <a:ext uri="{FF2B5EF4-FFF2-40B4-BE49-F238E27FC236}">
                <a16:creationId xmlns:a16="http://schemas.microsoft.com/office/drawing/2014/main" id="{D888C26C-D2CD-4EFC-A270-79E0E5F1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3857625"/>
            <a:ext cx="282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rPr>
              <a:t>用弹簧测力计测出物体所受浮力</a:t>
            </a:r>
          </a:p>
        </p:txBody>
      </p:sp>
      <p:sp>
        <p:nvSpPr>
          <p:cNvPr id="15" name="goal-surface-2">
            <a:extLst xmlns:a="http://schemas.openxmlformats.org/drawingml/2006/main">
              <a:ext uri="{FF2B5EF4-FFF2-40B4-BE49-F238E27FC236}">
                <a16:creationId xmlns:a16="http://schemas.microsoft.com/office/drawing/2014/main" id="{12271AC3-BC31-432B-B1BB-8DDC4C9E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2247900"/>
            <a:ext cx="328295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goal-number-2">
            <a:extLst xmlns:a="http://schemas.openxmlformats.org/drawingml/2006/main">
              <a:ext uri="{FF2B5EF4-FFF2-40B4-BE49-F238E27FC236}">
                <a16:creationId xmlns:a16="http://schemas.microsoft.com/office/drawing/2014/main" id="{225D1D71-54E8-4FCD-AAE1-552359F9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47650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goal-title-2">
            <a:extLst xmlns:a="http://schemas.openxmlformats.org/drawingml/2006/main">
              <a:ext uri="{FF2B5EF4-FFF2-40B4-BE49-F238E27FC236}">
                <a16:creationId xmlns:a16="http://schemas.microsoft.com/office/drawing/2014/main" id="{02E12C95-CAD0-4359-B584-16220615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3143250"/>
            <a:ext cx="282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rPr>
              <a:t>建立关系</a:t>
            </a:r>
          </a:p>
        </p:txBody>
      </p:sp>
      <p:sp>
        <p:nvSpPr>
          <p:cNvPr id="18" name="goal-body-2">
            <a:extLst xmlns:a="http://schemas.openxmlformats.org/drawingml/2006/main">
              <a:ext uri="{FF2B5EF4-FFF2-40B4-BE49-F238E27FC236}">
                <a16:creationId xmlns:a16="http://schemas.microsoft.com/office/drawing/2014/main" id="{B4640E36-2B54-4C75-8355-2415C1B8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3857625"/>
            <a:ext cx="282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rPr>
              <a:t>验证浮力等于排开液体的重力</a:t>
            </a:r>
          </a:p>
        </p:txBody>
      </p:sp>
    </p:spTree>
    <p:extLst>
      <p:ext uri="{BB962C8B-B14F-4D97-AF65-F5344CB8AC3E}">
        <p14:creationId xmlns:p14="http://schemas.microsoft.com/office/powerpoint/2010/main" val="735875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dot-a-3">
            <a:extLst xmlns:a="http://schemas.openxmlformats.org/drawingml/2006/main">
              <a:ext uri="{FF2B5EF4-FFF2-40B4-BE49-F238E27FC236}">
                <a16:creationId xmlns:a16="http://schemas.microsoft.com/office/drawing/2014/main" id="{F13C84BD-C985-4EF2-B8B2-A8B9DFCF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905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ot-b-3">
            <a:extLst xmlns:a="http://schemas.openxmlformats.org/drawingml/2006/main">
              <a:ext uri="{FF2B5EF4-FFF2-40B4-BE49-F238E27FC236}">
                <a16:creationId xmlns:a16="http://schemas.microsoft.com/office/drawing/2014/main" id="{C31AAFF0-3D79-4131-944D-7A7D2A63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00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3">
            <a:extLst xmlns:a="http://schemas.openxmlformats.org/drawingml/2006/main">
              <a:ext uri="{FF2B5EF4-FFF2-40B4-BE49-F238E27FC236}">
                <a16:creationId xmlns:a16="http://schemas.microsoft.com/office/drawing/2014/main" id="{32F8A50E-67EA-4815-85B8-9D3A80F3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核心概念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53CA6440-D147-4C26-A7D7-6ADFFDD8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91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7667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67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24F34633-430B-4611-A75F-245B9511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rPr>
              <a:t>浮力来自液体上下表面的压力差</a:t>
            </a:r>
          </a:p>
        </p:txBody>
      </p:sp>
      <p:sp>
        <p:nvSpPr>
          <p:cNvPr id="6" name="subtitle-3">
            <a:extLst xmlns:a="http://schemas.openxmlformats.org/drawingml/2006/main">
              <a:ext uri="{FF2B5EF4-FFF2-40B4-BE49-F238E27FC236}">
                <a16:creationId xmlns:a16="http://schemas.microsoft.com/office/drawing/2014/main" id="{B4C0B5E3-9E2E-426E-8E3A-AE81EE43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rPr>
              <a:t>越深的位置，液体产生的压力通常越大</a:t>
            </a:r>
          </a:p>
        </p:txBody>
      </p:sp>
      <p:sp>
        <p:nvSpPr>
          <p:cNvPr id="7" name="split-points">
            <a:extLst xmlns:a="http://schemas.openxmlformats.org/drawingml/2006/main">
              <a:ext uri="{FF2B5EF4-FFF2-40B4-BE49-F238E27FC236}">
                <a16:creationId xmlns:a16="http://schemas.microsoft.com/office/drawing/2014/main" id="{F9E47DAF-9868-4391-A9AC-8C82D94F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rPr>
              <a:t>• 液体从各个方向压向物体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rPr>
              <a:t>• 下表面通常比上表面更深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rPr>
              <a:t>• 向上的压力大于向下的压力</a:t>
            </a:r>
          </a:p>
        </p:txBody>
      </p:sp>
      <p:sp>
        <p:nvSpPr>
          <p:cNvPr id="8" name="split-divider">
            <a:extLst xmlns:a="http://schemas.openxmlformats.org/drawingml/2006/main">
              <a:ext uri="{FF2B5EF4-FFF2-40B4-BE49-F238E27FC236}">
                <a16:creationId xmlns:a16="http://schemas.microsoft.com/office/drawing/2014/main" id="{B9EF8D3F-1653-4093-9376-1B72258D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1526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water-field">
            <a:extLst xmlns:a="http://schemas.openxmlformats.org/drawingml/2006/main">
              <a:ext uri="{FF2B5EF4-FFF2-40B4-BE49-F238E27FC236}">
                <a16:creationId xmlns:a16="http://schemas.microsoft.com/office/drawing/2014/main" id="{B6CF30D8-885E-40FE-ACE4-2D9EA7AA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39052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bject">
            <a:extLst xmlns:a="http://schemas.openxmlformats.org/drawingml/2006/main">
              <a:ext uri="{FF2B5EF4-FFF2-40B4-BE49-F238E27FC236}">
                <a16:creationId xmlns:a16="http://schemas.microsoft.com/office/drawing/2014/main" id="{6F8790A8-5665-48A3-8844-1A42E834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333750"/>
            <a:ext cx="13335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1" name="up-arrow">
            <a:extLst xmlns:a="http://schemas.openxmlformats.org/drawingml/2006/main">
              <a:ext uri="{FF2B5EF4-FFF2-40B4-BE49-F238E27FC236}">
                <a16:creationId xmlns:a16="http://schemas.microsoft.com/office/drawing/2014/main" id="{0254D253-B222-404F-BBE3-3DACDA13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038350"/>
            <a:ext cx="762000" cy="11239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own-arrow">
            <a:extLst xmlns:a="http://schemas.openxmlformats.org/drawingml/2006/main">
              <a:ext uri="{FF2B5EF4-FFF2-40B4-BE49-F238E27FC236}">
                <a16:creationId xmlns:a16="http://schemas.microsoft.com/office/drawing/2014/main" id="{B98A80AE-316D-4A4C-81D1-BD7413B7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476750"/>
            <a:ext cx="533400" cy="723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667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up-label">
            <a:extLst xmlns:a="http://schemas.openxmlformats.org/drawingml/2006/main">
              <a:ext uri="{FF2B5EF4-FFF2-40B4-BE49-F238E27FC236}">
                <a16:creationId xmlns:a16="http://schemas.microsoft.com/office/drawing/2014/main" id="{F87D8D09-1C76-4CF9-951C-6A7C6315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52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向上压力较大</a:t>
            </a:r>
          </a:p>
        </p:txBody>
      </p:sp>
      <p:sp>
        <p:nvSpPr>
          <p:cNvPr id="14" name="down-label">
            <a:extLst xmlns:a="http://schemas.openxmlformats.org/drawingml/2006/main">
              <a:ext uri="{FF2B5EF4-FFF2-40B4-BE49-F238E27FC236}">
                <a16:creationId xmlns:a16="http://schemas.microsoft.com/office/drawing/2014/main" id="{9AE81B09-0449-4965-845D-722ECF87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006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rPr>
              <a:t>向下压力较小</a:t>
            </a:r>
          </a:p>
        </p:txBody>
      </p:sp>
    </p:spTree>
    <p:extLst>
      <p:ext uri="{BB962C8B-B14F-4D97-AF65-F5344CB8AC3E}">
        <p14:creationId xmlns:p14="http://schemas.microsoft.com/office/powerpoint/2010/main" val="17566536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dot-a-4">
            <a:extLst xmlns:a="http://schemas.openxmlformats.org/drawingml/2006/main">
              <a:ext uri="{FF2B5EF4-FFF2-40B4-BE49-F238E27FC236}">
                <a16:creationId xmlns:a16="http://schemas.microsoft.com/office/drawing/2014/main" id="{CC6D8155-38F2-4B97-9DA0-FE3B6E66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905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ot-b-4">
            <a:extLst xmlns:a="http://schemas.openxmlformats.org/drawingml/2006/main">
              <a:ext uri="{FF2B5EF4-FFF2-40B4-BE49-F238E27FC236}">
                <a16:creationId xmlns:a16="http://schemas.microsoft.com/office/drawing/2014/main" id="{7BB0BB28-65FC-4082-A4D2-DE5509DB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00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4">
            <a:extLst xmlns:a="http://schemas.openxmlformats.org/drawingml/2006/main">
              <a:ext uri="{FF2B5EF4-FFF2-40B4-BE49-F238E27FC236}">
                <a16:creationId xmlns:a16="http://schemas.microsoft.com/office/drawing/2014/main" id="{18F9EEF5-998B-4DC3-8F86-9A152995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实验推理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7DDA0096-4BF5-432E-B996-6D5F0A08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91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7667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67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E18627F7-987D-4C5D-9CD3-2DC9C022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rPr>
              <a:t>四步溢水法验证阿基米德原理</a:t>
            </a:r>
          </a:p>
        </p:txBody>
      </p:sp>
      <p:sp>
        <p:nvSpPr>
          <p:cNvPr id="6" name="subtitle-4">
            <a:extLst xmlns:a="http://schemas.openxmlformats.org/drawingml/2006/main">
              <a:ext uri="{FF2B5EF4-FFF2-40B4-BE49-F238E27FC236}">
                <a16:creationId xmlns:a16="http://schemas.microsoft.com/office/drawing/2014/main" id="{5E555920-2A2A-4D2C-84E1-F26BA35E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rPr>
              <a:t>同一个实验，同时得到浮力与排开水重力</a:t>
            </a:r>
          </a:p>
        </p:txBody>
      </p:sp>
      <p:sp>
        <p:nvSpPr>
          <p:cNvPr id="7" name="process-link-0">
            <a:extLst xmlns:a="http://schemas.openxmlformats.org/drawingml/2006/main">
              <a:ext uri="{FF2B5EF4-FFF2-40B4-BE49-F238E27FC236}">
                <a16:creationId xmlns:a16="http://schemas.microsoft.com/office/drawing/2014/main" id="{4C4AE4E8-4101-4C1B-A399-A97F60A3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6576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97316"/>
            </a:solidFill>
            <a:prstDash val="solid"/>
          </a:ln>
        </p:spPr>
      </p:sp>
      <p:sp>
        <p:nvSpPr>
          <p:cNvPr id="8" name="step-num-0">
            <a:extLst xmlns:a="http://schemas.openxmlformats.org/drawingml/2006/main">
              <a:ext uri="{FF2B5EF4-FFF2-40B4-BE49-F238E27FC236}">
                <a16:creationId xmlns:a16="http://schemas.microsoft.com/office/drawing/2014/main" id="{82F38C98-3A8C-43C9-BBAC-EA6969C7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index-0">
            <a:extLst xmlns:a="http://schemas.openxmlformats.org/drawingml/2006/main">
              <a:ext uri="{FF2B5EF4-FFF2-40B4-BE49-F238E27FC236}">
                <a16:creationId xmlns:a16="http://schemas.microsoft.com/office/drawing/2014/main" id="{28DDF8EF-A957-479F-A784-EC40D2E1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59288301-B3D4-4207-857B-FBD29C64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rPr>
              <a:t>测物重</a:t>
            </a:r>
          </a:p>
        </p:txBody>
      </p:sp>
      <p:sp>
        <p:nvSpPr>
          <p:cNvPr id="11" name="step-body-0">
            <a:extLst xmlns:a="http://schemas.openxmlformats.org/drawingml/2006/main">
              <a:ext uri="{FF2B5EF4-FFF2-40B4-BE49-F238E27FC236}">
                <a16:creationId xmlns:a16="http://schemas.microsoft.com/office/drawing/2014/main" id="{1860F172-29AB-4AE4-81BC-9A263140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rPr>
              <a:t>记录物体重力 G</a:t>
            </a:r>
          </a:p>
        </p:txBody>
      </p:sp>
      <p:sp>
        <p:nvSpPr>
          <p:cNvPr id="12" name="process-link-1">
            <a:extLst xmlns:a="http://schemas.openxmlformats.org/drawingml/2006/main">
              <a:ext uri="{FF2B5EF4-FFF2-40B4-BE49-F238E27FC236}">
                <a16:creationId xmlns:a16="http://schemas.microsoft.com/office/drawing/2014/main" id="{6F6D485C-279F-4CC0-BD24-70AD3D7A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576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97316"/>
            </a:solidFill>
            <a:prstDash val="solid"/>
          </a:ln>
        </p:spPr>
      </p:sp>
      <p:sp>
        <p:nvSpPr>
          <p:cNvPr id="13" name="step-num-1">
            <a:extLst xmlns:a="http://schemas.openxmlformats.org/drawingml/2006/main">
              <a:ext uri="{FF2B5EF4-FFF2-40B4-BE49-F238E27FC236}">
                <a16:creationId xmlns:a16="http://schemas.microsoft.com/office/drawing/2014/main" id="{CB7AF207-84C3-45E4-91D3-C46535C2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index-1">
            <a:extLst xmlns:a="http://schemas.openxmlformats.org/drawingml/2006/main">
              <a:ext uri="{FF2B5EF4-FFF2-40B4-BE49-F238E27FC236}">
                <a16:creationId xmlns:a16="http://schemas.microsoft.com/office/drawing/2014/main" id="{FC9EA135-E550-412D-A993-2AC2E97C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6003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1E0B7977-7B79-41DA-B565-616CD88E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3718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rPr>
              <a:t>测拉力</a:t>
            </a:r>
          </a:p>
        </p:txBody>
      </p:sp>
      <p:sp>
        <p:nvSpPr>
          <p:cNvPr id="16" name="step-body-1">
            <a:extLst xmlns:a="http://schemas.openxmlformats.org/drawingml/2006/main">
              <a:ext uri="{FF2B5EF4-FFF2-40B4-BE49-F238E27FC236}">
                <a16:creationId xmlns:a16="http://schemas.microsoft.com/office/drawing/2014/main" id="{BE56B02D-D098-4804-B25E-1161F3B0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962400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rPr>
              <a:t>浸没后记录 F拉</a:t>
            </a:r>
          </a:p>
        </p:txBody>
      </p:sp>
      <p:sp>
        <p:nvSpPr>
          <p:cNvPr id="17" name="process-link-2">
            <a:extLst xmlns:a="http://schemas.openxmlformats.org/drawingml/2006/main">
              <a:ext uri="{FF2B5EF4-FFF2-40B4-BE49-F238E27FC236}">
                <a16:creationId xmlns:a16="http://schemas.microsoft.com/office/drawing/2014/main" id="{443C7C45-3120-41B4-9198-F12D68D8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576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97316"/>
            </a:solidFill>
            <a:prstDash val="solid"/>
          </a:ln>
        </p:spPr>
      </p:sp>
      <p:sp>
        <p:nvSpPr>
          <p:cNvPr id="18" name="step-num-2">
            <a:extLst xmlns:a="http://schemas.openxmlformats.org/drawingml/2006/main">
              <a:ext uri="{FF2B5EF4-FFF2-40B4-BE49-F238E27FC236}">
                <a16:creationId xmlns:a16="http://schemas.microsoft.com/office/drawing/2014/main" id="{A33191C4-7FE7-41DD-9913-ED67FFEF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index-2">
            <a:extLst xmlns:a="http://schemas.openxmlformats.org/drawingml/2006/main">
              <a:ext uri="{FF2B5EF4-FFF2-40B4-BE49-F238E27FC236}">
                <a16:creationId xmlns:a16="http://schemas.microsoft.com/office/drawing/2014/main" id="{F41DDC39-0E79-4757-8124-16A44C8D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003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89CA4AF0-519E-4365-BFDF-A231A21D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718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rPr>
              <a:t>测空桶</a:t>
            </a:r>
          </a:p>
        </p:txBody>
      </p:sp>
      <p:sp>
        <p:nvSpPr>
          <p:cNvPr id="21" name="step-body-2">
            <a:extLst xmlns:a="http://schemas.openxmlformats.org/drawingml/2006/main">
              <a:ext uri="{FF2B5EF4-FFF2-40B4-BE49-F238E27FC236}">
                <a16:creationId xmlns:a16="http://schemas.microsoft.com/office/drawing/2014/main" id="{30AC8757-A0ED-4545-A0ED-AFACC0ED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62400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rPr>
              <a:t>记录小桶重力 G桶</a:t>
            </a:r>
          </a:p>
        </p:txBody>
      </p:sp>
      <p:sp>
        <p:nvSpPr>
          <p:cNvPr id="22" name="step-num-3">
            <a:extLst xmlns:a="http://schemas.openxmlformats.org/drawingml/2006/main">
              <a:ext uri="{FF2B5EF4-FFF2-40B4-BE49-F238E27FC236}">
                <a16:creationId xmlns:a16="http://schemas.microsoft.com/office/drawing/2014/main" id="{B622359E-CFDC-44FD-87B6-87AA57FC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ep-index-3">
            <a:extLst xmlns:a="http://schemas.openxmlformats.org/drawingml/2006/main">
              <a:ext uri="{FF2B5EF4-FFF2-40B4-BE49-F238E27FC236}">
                <a16:creationId xmlns:a16="http://schemas.microsoft.com/office/drawing/2014/main" id="{154ED523-4B7D-4B45-B01E-9D9F3215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6003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37FED0E6-3B2C-4DF9-B974-5E6618DD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3718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rPr>
              <a:t>测总重</a:t>
            </a:r>
          </a:p>
        </p:txBody>
      </p:sp>
      <p:sp>
        <p:nvSpPr>
          <p:cNvPr id="25" name="step-body-3">
            <a:extLst xmlns:a="http://schemas.openxmlformats.org/drawingml/2006/main">
              <a:ext uri="{FF2B5EF4-FFF2-40B4-BE49-F238E27FC236}">
                <a16:creationId xmlns:a16="http://schemas.microsoft.com/office/drawing/2014/main" id="{477EFCD5-45F5-4823-88E3-CEF8417A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962400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rPr>
              <a:t>记录水与桶总重 G总</a:t>
            </a:r>
          </a:p>
        </p:txBody>
      </p:sp>
      <p:sp>
        <p:nvSpPr>
          <p:cNvPr id="26" name="process-result">
            <a:extLst xmlns:a="http://schemas.openxmlformats.org/drawingml/2006/main">
              <a:ext uri="{FF2B5EF4-FFF2-40B4-BE49-F238E27FC236}">
                <a16:creationId xmlns:a16="http://schemas.microsoft.com/office/drawing/2014/main" id="{A9180F75-5139-433E-8BCC-2266B735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42035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rocess-formula">
            <a:extLst xmlns:a="http://schemas.openxmlformats.org/drawingml/2006/main">
              <a:ext uri="{FF2B5EF4-FFF2-40B4-BE49-F238E27FC236}">
                <a16:creationId xmlns:a16="http://schemas.microsoft.com/office/drawing/2014/main" id="{55C78E47-4F0F-4D36-AADE-B3CB747E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996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2D241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D241E"/>
                </a:solidFill>
                <a:latin typeface="Arial"/>
                <a:ea typeface="Arial"/>
                <a:cs typeface="Arial"/>
              </a:rPr>
              <a:t>F浮 = G − F拉     ｜     G排 = G总 − G桶     ｜     实验结果：F浮 = G排</a:t>
            </a:r>
          </a:p>
        </p:txBody>
      </p:sp>
    </p:spTree>
    <p:extLst>
      <p:ext uri="{BB962C8B-B14F-4D97-AF65-F5344CB8AC3E}">
        <p14:creationId xmlns:p14="http://schemas.microsoft.com/office/powerpoint/2010/main" val="21305305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dot-a-5">
            <a:extLst xmlns:a="http://schemas.openxmlformats.org/drawingml/2006/main">
              <a:ext uri="{FF2B5EF4-FFF2-40B4-BE49-F238E27FC236}">
                <a16:creationId xmlns:a16="http://schemas.microsoft.com/office/drawing/2014/main" id="{6BE259C4-5BA6-4042-9D0E-A61A41E3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905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ot-b-5">
            <a:extLst xmlns:a="http://schemas.openxmlformats.org/drawingml/2006/main">
              <a:ext uri="{FF2B5EF4-FFF2-40B4-BE49-F238E27FC236}">
                <a16:creationId xmlns:a16="http://schemas.microsoft.com/office/drawing/2014/main" id="{29E8556D-974C-4FB5-955B-9AE85A62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00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5">
            <a:extLst xmlns:a="http://schemas.openxmlformats.org/drawingml/2006/main">
              <a:ext uri="{FF2B5EF4-FFF2-40B4-BE49-F238E27FC236}">
                <a16:creationId xmlns:a16="http://schemas.microsoft.com/office/drawing/2014/main" id="{1D7DC156-4975-4DD9-9A3E-1330CA45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课堂练习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4879CA2E-C415-4D6D-B1FF-EE3BD06A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91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7667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67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4067FA46-046F-4115-A608-664DB0EA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rPr>
              <a:t>同一物体浸入水中更深，浮力一定变大吗？</a:t>
            </a:r>
          </a:p>
        </p:txBody>
      </p:sp>
      <p:sp>
        <p:nvSpPr>
          <p:cNvPr id="6" name="subtitle-5">
            <a:extLst xmlns:a="http://schemas.openxmlformats.org/drawingml/2006/main">
              <a:ext uri="{FF2B5EF4-FFF2-40B4-BE49-F238E27FC236}">
                <a16:creationId xmlns:a16="http://schemas.microsoft.com/office/drawing/2014/main" id="{8B618090-FCD5-4B56-A7E5-96418806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rPr>
              <a:t>先判断，再说明你关注的是“深度”还是“排开水的体积”</a:t>
            </a:r>
          </a:p>
        </p:txBody>
      </p:sp>
      <p:sp>
        <p:nvSpPr>
          <p:cNvPr id="7" name="question-accent">
            <a:extLst xmlns:a="http://schemas.openxmlformats.org/drawingml/2006/main">
              <a:ext uri="{FF2B5EF4-FFF2-40B4-BE49-F238E27FC236}">
                <a16:creationId xmlns:a16="http://schemas.microsoft.com/office/drawing/2014/main" id="{3714B2A6-5E3F-4ABF-B1E4-02BD9ABE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14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764FBC67-F3D1-49C6-B0F5-E2975B98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rPr>
              <a:t>一个木块完全浸没在水中后，继续向下移动但不接触容器底。它受到的浮力如何变化？</a:t>
            </a:r>
          </a:p>
        </p:txBody>
      </p:sp>
      <p:sp>
        <p:nvSpPr>
          <p:cNvPr id="9" name="hint">
            <a:extLst xmlns:a="http://schemas.openxmlformats.org/drawingml/2006/main">
              <a:ext uri="{FF2B5EF4-FFF2-40B4-BE49-F238E27FC236}">
                <a16:creationId xmlns:a16="http://schemas.microsoft.com/office/drawing/2014/main" id="{F154C2CC-CA0E-4FFA-A0C7-6FB4E9DA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48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提示：完全浸没后，V排 是否改变？</a:t>
            </a:r>
          </a:p>
        </p:txBody>
      </p:sp>
      <p:sp>
        <p:nvSpPr>
          <p:cNvPr id="10" name="option-index-0">
            <a:extLst xmlns:a="http://schemas.openxmlformats.org/drawingml/2006/main">
              <a:ext uri="{FF2B5EF4-FFF2-40B4-BE49-F238E27FC236}">
                <a16:creationId xmlns:a16="http://schemas.microsoft.com/office/drawing/2014/main" id="{1382DB08-A972-4260-A193-7304C992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81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ption-letter-0">
            <a:extLst xmlns:a="http://schemas.openxmlformats.org/drawingml/2006/main">
              <a:ext uri="{FF2B5EF4-FFF2-40B4-BE49-F238E27FC236}">
                <a16:creationId xmlns:a16="http://schemas.microsoft.com/office/drawing/2014/main" id="{21492416-A20E-42E2-8CA4-D8B084CF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57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2D24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D241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" name="option-text-0">
            <a:extLst xmlns:a="http://schemas.openxmlformats.org/drawingml/2006/main">
              <a:ext uri="{FF2B5EF4-FFF2-40B4-BE49-F238E27FC236}">
                <a16:creationId xmlns:a16="http://schemas.microsoft.com/office/drawing/2014/main" id="{FC243F7C-732E-49E9-ACA0-3D47EFD6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384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rPr>
              <a:t>变大</a:t>
            </a:r>
          </a:p>
        </p:txBody>
      </p:sp>
      <p:sp>
        <p:nvSpPr>
          <p:cNvPr id="13" name="option-index-1">
            <a:extLst xmlns:a="http://schemas.openxmlformats.org/drawingml/2006/main">
              <a:ext uri="{FF2B5EF4-FFF2-40B4-BE49-F238E27FC236}">
                <a16:creationId xmlns:a16="http://schemas.microsoft.com/office/drawing/2014/main" id="{FD8A90E7-C3A8-452C-B373-726966E5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813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ption-letter-1">
            <a:extLst xmlns:a="http://schemas.openxmlformats.org/drawingml/2006/main">
              <a:ext uri="{FF2B5EF4-FFF2-40B4-BE49-F238E27FC236}">
                <a16:creationId xmlns:a16="http://schemas.microsoft.com/office/drawing/2014/main" id="{DFE6A2CB-D4C8-4404-BE8F-CE296A60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575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5" name="option-text-1">
            <a:extLst xmlns:a="http://schemas.openxmlformats.org/drawingml/2006/main">
              <a:ext uri="{FF2B5EF4-FFF2-40B4-BE49-F238E27FC236}">
                <a16:creationId xmlns:a16="http://schemas.microsoft.com/office/drawing/2014/main" id="{77F30CAB-B8FC-4AE3-ACF5-2BF12951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3852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不变</a:t>
            </a:r>
          </a:p>
        </p:txBody>
      </p:sp>
      <p:sp>
        <p:nvSpPr>
          <p:cNvPr id="16" name="option-index-2">
            <a:extLst xmlns:a="http://schemas.openxmlformats.org/drawingml/2006/main">
              <a:ext uri="{FF2B5EF4-FFF2-40B4-BE49-F238E27FC236}">
                <a16:creationId xmlns:a16="http://schemas.microsoft.com/office/drawing/2014/main" id="{DA02361B-97A4-4694-9E17-E0950F04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81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ption-letter-2">
            <a:extLst xmlns:a="http://schemas.openxmlformats.org/drawingml/2006/main">
              <a:ext uri="{FF2B5EF4-FFF2-40B4-BE49-F238E27FC236}">
                <a16:creationId xmlns:a16="http://schemas.microsoft.com/office/drawing/2014/main" id="{08495487-2663-4A36-9D6D-797492AA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57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2D24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D241E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" name="option-text-2">
            <a:extLst xmlns:a="http://schemas.openxmlformats.org/drawingml/2006/main">
              <a:ext uri="{FF2B5EF4-FFF2-40B4-BE49-F238E27FC236}">
                <a16:creationId xmlns:a16="http://schemas.microsoft.com/office/drawing/2014/main" id="{C42597ED-A6A8-4D53-903E-556F8CDA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386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rPr>
              <a:t>变小</a:t>
            </a:r>
          </a:p>
        </p:txBody>
      </p:sp>
    </p:spTree>
    <p:extLst>
      <p:ext uri="{BB962C8B-B14F-4D97-AF65-F5344CB8AC3E}">
        <p14:creationId xmlns:p14="http://schemas.microsoft.com/office/powerpoint/2010/main" val="2972331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dot-a-6">
            <a:extLst xmlns:a="http://schemas.openxmlformats.org/drawingml/2006/main">
              <a:ext uri="{FF2B5EF4-FFF2-40B4-BE49-F238E27FC236}">
                <a16:creationId xmlns:a16="http://schemas.microsoft.com/office/drawing/2014/main" id="{92C718A4-75F9-490F-B457-49BA4E3A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905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ot-b-6">
            <a:extLst xmlns:a="http://schemas.openxmlformats.org/drawingml/2006/main">
              <a:ext uri="{FF2B5EF4-FFF2-40B4-BE49-F238E27FC236}">
                <a16:creationId xmlns:a16="http://schemas.microsoft.com/office/drawing/2014/main" id="{FCB5F1A4-7C25-478D-B083-10356424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00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6">
            <a:extLst xmlns:a="http://schemas.openxmlformats.org/drawingml/2006/main">
              <a:ext uri="{FF2B5EF4-FFF2-40B4-BE49-F238E27FC236}">
                <a16:creationId xmlns:a16="http://schemas.microsoft.com/office/drawing/2014/main" id="{36CDD854-1DB4-4B05-A22B-620135A1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课堂小结</a:t>
            </a:r>
          </a:p>
        </p:txBody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D9B68AF4-9D47-4E81-A9B5-30225C75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91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7667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67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itle-6">
            <a:extLst xmlns:a="http://schemas.openxmlformats.org/drawingml/2006/main">
              <a:ext uri="{FF2B5EF4-FFF2-40B4-BE49-F238E27FC236}">
                <a16:creationId xmlns:a16="http://schemas.microsoft.com/office/drawing/2014/main" id="{C10EE2B0-FE37-4C96-BAB4-3C707F80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rPr>
              <a:t>一条关系串起浮力的来源、测量与大小</a:t>
            </a:r>
          </a:p>
        </p:txBody>
      </p:sp>
      <p:sp>
        <p:nvSpPr>
          <p:cNvPr id="6" name="subtitle-6">
            <a:extLst xmlns:a="http://schemas.openxmlformats.org/drawingml/2006/main">
              <a:ext uri="{FF2B5EF4-FFF2-40B4-BE49-F238E27FC236}">
                <a16:creationId xmlns:a16="http://schemas.microsoft.com/office/drawing/2014/main" id="{164CEC9E-FFE2-4F66-9A35-7E20F2BC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rPr>
              <a:t>从现象走向可验证的物理关系</a:t>
            </a:r>
          </a:p>
        </p:txBody>
      </p:sp>
      <p:sp>
        <p:nvSpPr>
          <p:cNvPr id="7" name="summary-formula">
            <a:extLst xmlns:a="http://schemas.openxmlformats.org/drawingml/2006/main">
              <a:ext uri="{FF2B5EF4-FFF2-40B4-BE49-F238E27FC236}">
                <a16:creationId xmlns:a16="http://schemas.microsoft.com/office/drawing/2014/main" id="{31427969-A764-4333-BB4C-2B7DDF32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40130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450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F浮 = G排 = ρ液 g V排</a:t>
            </a:r>
          </a:p>
        </p:txBody>
      </p:sp>
      <p:sp>
        <p:nvSpPr>
          <p:cNvPr id="8" name="summary-dot-0">
            <a:extLst xmlns:a="http://schemas.openxmlformats.org/drawingml/2006/main">
              <a:ext uri="{FF2B5EF4-FFF2-40B4-BE49-F238E27FC236}">
                <a16:creationId xmlns:a16="http://schemas.microsoft.com/office/drawing/2014/main" id="{EA75B9E2-90CC-44D8-8186-C3FA5481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ummary-point-0">
            <a:extLst xmlns:a="http://schemas.openxmlformats.org/drawingml/2006/main">
              <a:ext uri="{FF2B5EF4-FFF2-40B4-BE49-F238E27FC236}">
                <a16:creationId xmlns:a16="http://schemas.microsoft.com/office/drawing/2014/main" id="{D2876BEC-2527-4565-AFD4-0C9C37FE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rPr>
              <a:t>来源：上下表面的压力差</a:t>
            </a:r>
          </a:p>
        </p:txBody>
      </p:sp>
      <p:sp>
        <p:nvSpPr>
          <p:cNvPr id="10" name="summary-dot-1">
            <a:extLst xmlns:a="http://schemas.openxmlformats.org/drawingml/2006/main">
              <a:ext uri="{FF2B5EF4-FFF2-40B4-BE49-F238E27FC236}">
                <a16:creationId xmlns:a16="http://schemas.microsoft.com/office/drawing/2014/main" id="{9E4E1904-610D-46EB-88B5-B066AF2E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3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ummary-point-1">
            <a:extLst xmlns:a="http://schemas.openxmlformats.org/drawingml/2006/main">
              <a:ext uri="{FF2B5EF4-FFF2-40B4-BE49-F238E27FC236}">
                <a16:creationId xmlns:a16="http://schemas.microsoft.com/office/drawing/2014/main" id="{CE3B4A68-DC44-46B0-B2E3-4453BBE2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814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rPr>
              <a:t>测量：F浮 = G − F拉</a:t>
            </a:r>
          </a:p>
        </p:txBody>
      </p:sp>
      <p:sp>
        <p:nvSpPr>
          <p:cNvPr id="12" name="summary-dot-2">
            <a:extLst xmlns:a="http://schemas.openxmlformats.org/drawingml/2006/main">
              <a:ext uri="{FF2B5EF4-FFF2-40B4-BE49-F238E27FC236}">
                <a16:creationId xmlns:a16="http://schemas.microsoft.com/office/drawing/2014/main" id="{CC6D5B86-80F4-405C-8BA2-47045EBD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3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ummary-point-2">
            <a:extLst xmlns:a="http://schemas.openxmlformats.org/drawingml/2006/main">
              <a:ext uri="{FF2B5EF4-FFF2-40B4-BE49-F238E27FC236}">
                <a16:creationId xmlns:a16="http://schemas.microsoft.com/office/drawing/2014/main" id="{6BF46B3C-3C86-4428-957D-12BB3FD6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814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D241E"/>
                </a:solidFill>
                <a:latin typeface="Microsoft YaHei"/>
                <a:ea typeface="Microsoft YaHei"/>
                <a:cs typeface="Microsoft YaHei"/>
              </a:rPr>
              <a:t>规律：等于排开液体的重力</a:t>
            </a:r>
          </a:p>
        </p:txBody>
      </p:sp>
      <p:sp>
        <p:nvSpPr>
          <p:cNvPr id="14" name="summary-close">
            <a:extLst xmlns:a="http://schemas.openxmlformats.org/drawingml/2006/main">
              <a:ext uri="{FF2B5EF4-FFF2-40B4-BE49-F238E27FC236}">
                <a16:creationId xmlns:a16="http://schemas.microsoft.com/office/drawing/2014/main" id="{770C5546-71E9-404E-B189-ABE5FC11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6675D"/>
                </a:solidFill>
                <a:latin typeface="Microsoft YaHei"/>
                <a:ea typeface="Microsoft YaHei"/>
                <a:cs typeface="Microsoft YaHei"/>
              </a:rPr>
              <a:t>下一次看到漂浮或下沉，先问：它排开了多少液体？</a:t>
            </a:r>
          </a:p>
        </p:txBody>
      </p:sp>
    </p:spTree>
    <p:extLst>
      <p:ext uri="{BB962C8B-B14F-4D97-AF65-F5344CB8AC3E}">
        <p14:creationId xmlns:p14="http://schemas.microsoft.com/office/powerpoint/2010/main" val="21129992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2026-08-03T15:21:10.7150000Z</dcterms:created>
  <dcterms:modified xsi:type="dcterms:W3CDTF">2026-08-03T15:21:10.7150000Z</dcterms:modified>
</coreProperties>
</file>