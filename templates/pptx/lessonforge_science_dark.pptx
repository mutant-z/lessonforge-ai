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b2fc5b9864b44" /><Relationship Type="http://schemas.openxmlformats.org/officeDocument/2006/relationships/extended-properties" Target="/docProps/app.xml" Id="Ra9cf90424fff4ff4" /><Relationship Type="http://schemas.openxmlformats.org/officeDocument/2006/relationships/officeDocument" Target="/ppt/presentation.xml" Id="R8639d422c416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e68a15e0f426e"/>
  </p:sldMasterIdLst>
  <p:notesMasterIdLst>
    <p:notesMasterId xmlns:r="http://schemas.openxmlformats.org/officeDocument/2006/relationships" r:id="R76705da489124cbd"/>
  </p:notesMasterIdLst>
  <p:sldIdLst>
    <p:sldId xmlns:r="http://schemas.openxmlformats.org/officeDocument/2006/relationships" id="256" r:id="Red1e0bc6f43b4067"/>
    <p:sldId xmlns:r="http://schemas.openxmlformats.org/officeDocument/2006/relationships" id="257" r:id="R8723c5dc7ffd4327"/>
    <p:sldId xmlns:r="http://schemas.openxmlformats.org/officeDocument/2006/relationships" id="258" r:id="R5257b93576f74fe9"/>
    <p:sldId xmlns:r="http://schemas.openxmlformats.org/officeDocument/2006/relationships" id="259" r:id="R55008ddaebb94b5f"/>
    <p:sldId xmlns:r="http://schemas.openxmlformats.org/officeDocument/2006/relationships" id="260" r:id="R4704c99f7a6a4182"/>
    <p:sldId xmlns:r="http://schemas.openxmlformats.org/officeDocument/2006/relationships" id="261" r:id="R5b4af958f3f64d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8d313319b49ab" /><Relationship Type="http://schemas.openxmlformats.org/officeDocument/2006/relationships/slideMaster" Target="/ppt/slideMasters/slideMaster1.xml" Id="R545e68a15e0f426e" /><Relationship Type="http://schemas.openxmlformats.org/officeDocument/2006/relationships/notesMaster" Target="/ppt/notesMasters/notesMaster1.xml" Id="R76705da489124cbd" /><Relationship Type="http://schemas.openxmlformats.org/officeDocument/2006/relationships/presProps" Target="/ppt/presProps.xml" Id="R66734d8eb4f94f58" /><Relationship Type="http://schemas.openxmlformats.org/officeDocument/2006/relationships/tableStyles" Target="/ppt/tableStyles.xml" Id="R54c0465a06fb42f6" /><Relationship Type="http://schemas.openxmlformats.org/officeDocument/2006/relationships/slide" Target="/ppt/slides/slide1.xml" Id="Red1e0bc6f43b4067" /><Relationship Type="http://schemas.openxmlformats.org/officeDocument/2006/relationships/slide" Target="/ppt/slides/slide2.xml" Id="R8723c5dc7ffd4327" /><Relationship Type="http://schemas.openxmlformats.org/officeDocument/2006/relationships/slide" Target="/ppt/slides/slide3.xml" Id="R5257b93576f74fe9" /><Relationship Type="http://schemas.openxmlformats.org/officeDocument/2006/relationships/slide" Target="/ppt/slides/slide4.xml" Id="R55008ddaebb94b5f" /><Relationship Type="http://schemas.openxmlformats.org/officeDocument/2006/relationships/slide" Target="/ppt/slides/slide5.xml" Id="R4704c99f7a6a4182" /><Relationship Type="http://schemas.openxmlformats.org/officeDocument/2006/relationships/slide" Target="/ppt/slides/slide6.xml" Id="R5b4af958f3f6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99f56e1364c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53912a6d940b2" /><Relationship Type="http://schemas.openxmlformats.org/officeDocument/2006/relationships/notesMaster" Target="/ppt/notesMasters/notesMaster1.xml" Id="R3aa1eaaf79184c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91c24ca6d4f0d" /><Relationship Type="http://schemas.openxmlformats.org/officeDocument/2006/relationships/notesMaster" Target="/ppt/notesMasters/notesMaster1.xml" Id="R31100c0a0bdc4b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91cc388618404c" /><Relationship Type="http://schemas.openxmlformats.org/officeDocument/2006/relationships/notesMaster" Target="/ppt/notesMasters/notesMaster1.xml" Id="Racc04466f426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d6b9ac7d0c484c" /><Relationship Type="http://schemas.openxmlformats.org/officeDocument/2006/relationships/notesMaster" Target="/ppt/notesMasters/notesMaster1.xml" Id="R4b0207c882b6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34a3af067a47ee" /><Relationship Type="http://schemas.openxmlformats.org/officeDocument/2006/relationships/notesMaster" Target="/ppt/notesMasters/notesMaster1.xml" Id="Rcf1e1232c1fa4a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315a3592b04b67" /><Relationship Type="http://schemas.openxmlformats.org/officeDocument/2006/relationships/notesMaster" Target="/ppt/notesMasters/notesMaster1.xml" Id="R6c204a1dac604e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用生活中的漂浮现象引出问题：浮力到底有多大？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目标不要求学生机械记忆；强调观察、测量与解释之间的联系。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借助上下表面压力差说明浮力方向，避免把浮力误解为液体主动托举。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1—4 的顺序记录数据，最后比较两组差值是否相等。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答案是不变。完全浸没后排开水的体积不变，液体密度也不变，因此浮力不变。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用公式回扣三个问题：浮力从哪里来、怎样测、由什么决定。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a62f72dcf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9507da87364e79" /><Relationship Type="http://schemas.openxmlformats.org/officeDocument/2006/relationships/slideLayout" Target="/ppt/slideLayouts/slideLayout1.xml" Id="R542287c323cd4e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287c323cd4e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f455abd494202" /><Relationship Type="http://schemas.openxmlformats.org/officeDocument/2006/relationships/notesSlide" Target="/ppt/notesSlides/notesSlide1.xml" Id="Rd49cd4c4669e42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bc04f55f4e23" /><Relationship Type="http://schemas.openxmlformats.org/officeDocument/2006/relationships/notesSlide" Target="/ppt/notesSlides/notesSlide2.xml" Id="Rfa89c776227e4d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320f070be428c" /><Relationship Type="http://schemas.openxmlformats.org/officeDocument/2006/relationships/notesSlide" Target="/ppt/notesSlides/notesSlide3.xml" Id="R0633ada82a8a44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1b33cdc3b44e8" /><Relationship Type="http://schemas.openxmlformats.org/officeDocument/2006/relationships/notesSlide" Target="/ppt/notesSlides/notesSlide4.xml" Id="R58c9ee7c6c6c4c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8a7ee44234c1a" /><Relationship Type="http://schemas.openxmlformats.org/officeDocument/2006/relationships/notesSlide" Target="/ppt/notesSlides/notesSlide5.xml" Id="R4103b3d53c52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2be9979414927" /><Relationship Type="http://schemas.openxmlformats.org/officeDocument/2006/relationships/notesSlide" Target="/ppt/notesSlides/notesSlide6.xml" Id="R917fb2bc96e9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grid-0">
            <a:extLst xmlns:a="http://schemas.openxmlformats.org/drawingml/2006/main">
              <a:ext uri="{FF2B5EF4-FFF2-40B4-BE49-F238E27FC236}">
                <a16:creationId xmlns:a16="http://schemas.microsoft.com/office/drawing/2014/main" id="{CBF744E0-347F-4EBB-86F3-167A7AC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2" name="cover-grid-1">
            <a:extLst xmlns:a="http://schemas.openxmlformats.org/drawingml/2006/main">
              <a:ext uri="{FF2B5EF4-FFF2-40B4-BE49-F238E27FC236}">
                <a16:creationId xmlns:a16="http://schemas.microsoft.com/office/drawing/2014/main" id="{2F12BC04-5582-4FDE-B041-5E474AFF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3" name="cover-grid-2">
            <a:extLst xmlns:a="http://schemas.openxmlformats.org/drawingml/2006/main">
              <a:ext uri="{FF2B5EF4-FFF2-40B4-BE49-F238E27FC236}">
                <a16:creationId xmlns:a16="http://schemas.microsoft.com/office/drawing/2014/main" id="{872678A3-23A4-4CE2-94CA-49488B04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4" name="cover-grid-3">
            <a:extLst xmlns:a="http://schemas.openxmlformats.org/drawingml/2006/main">
              <a:ext uri="{FF2B5EF4-FFF2-40B4-BE49-F238E27FC236}">
                <a16:creationId xmlns:a16="http://schemas.microsoft.com/office/drawing/2014/main" id="{C25868C3-387B-418E-83E0-1E0973CC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5" name="cover-grid-4">
            <a:extLst xmlns:a="http://schemas.openxmlformats.org/drawingml/2006/main">
              <a:ext uri="{FF2B5EF4-FFF2-40B4-BE49-F238E27FC236}">
                <a16:creationId xmlns:a16="http://schemas.microsoft.com/office/drawing/2014/main" id="{364452D3-4C32-49E1-9E31-48662F5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6" name="cover-grid-5">
            <a:extLst xmlns:a="http://schemas.openxmlformats.org/drawingml/2006/main">
              <a:ext uri="{FF2B5EF4-FFF2-40B4-BE49-F238E27FC236}">
                <a16:creationId xmlns:a16="http://schemas.microsoft.com/office/drawing/2014/main" id="{F49CCBEE-676B-49B4-A040-91794897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7" name="cover-grid-6">
            <a:extLst xmlns:a="http://schemas.openxmlformats.org/drawingml/2006/main">
              <a:ext uri="{FF2B5EF4-FFF2-40B4-BE49-F238E27FC236}">
                <a16:creationId xmlns:a16="http://schemas.microsoft.com/office/drawing/2014/main" id="{C139597A-4CAE-45C4-B20A-4817482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73C57"/>
            </a:solidFill>
            <a:prstDash val="solid"/>
          </a:ln>
        </p:spPr>
      </p:sp>
      <p:sp>
        <p:nvSpPr>
          <p:cNvPr id="8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11EA9FE8-82A2-48F6-AFC2-E1FAA815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2FF"/>
            </a:solidFill>
            <a:prstDash val="solid"/>
          </a:ln>
        </p:spPr>
      </p:sp>
      <p:sp>
        <p:nvSpPr>
          <p:cNvPr id="9" name="cover-data">
            <a:extLst xmlns:a="http://schemas.openxmlformats.org/drawingml/2006/main">
              <a:ext uri="{FF2B5EF4-FFF2-40B4-BE49-F238E27FC236}">
                <a16:creationId xmlns:a16="http://schemas.microsoft.com/office/drawing/2014/main" id="{3B1DE3D4-CA0D-4896-9F4C-0BF411A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952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C33"/>
          </a:solidFill>
          <a:ln xmlns:a="http://schemas.openxmlformats.org/drawingml/2006/main" w="9525">
            <a:solidFill>
              <a:srgbClr val="173C57"/>
            </a:solidFill>
            <a:prstDash val="solid"/>
          </a:ln>
        </p:spPr>
      </p:sp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CC6B49A-EF77-4EE8-91A8-8EC5AA9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PHYSICS LAB / 08</a:t>
            </a:r>
          </a:p>
        </p:txBody>
      </p:sp>
      <p:sp>
        <p:nvSpPr>
          <p:cNvPr id="1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73512D1-0425-4499-A0B1-4CEBD043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4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阿基米德原理</a:t>
            </a:r>
          </a:p>
        </p:txBody>
      </p:sp>
      <p:sp>
        <p:nvSpPr>
          <p:cNvPr id="1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82777DD-3B4C-4415-929E-EC53B14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实验测量 × 数据推理</a:t>
            </a:r>
          </a:p>
        </p:txBody>
      </p:sp>
      <p:sp>
        <p:nvSpPr>
          <p:cNvPr id="13" name="cover-formula">
            <a:extLst xmlns:a="http://schemas.openxmlformats.org/drawingml/2006/main">
              <a:ext uri="{FF2B5EF4-FFF2-40B4-BE49-F238E27FC236}">
                <a16:creationId xmlns:a16="http://schemas.microsoft.com/office/drawing/2014/main" id="{38ADF6A7-0517-495F-AF24-053AEF5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F浮 = ρ液 g V排</a:t>
            </a:r>
          </a:p>
        </p:txBody>
      </p:sp>
      <p:sp>
        <p:nvSpPr>
          <p:cNvPr id="14" name="cover-meta">
            <a:extLst xmlns:a="http://schemas.openxmlformats.org/drawingml/2006/main">
              <a:ext uri="{FF2B5EF4-FFF2-40B4-BE49-F238E27FC236}">
                <a16:creationId xmlns:a16="http://schemas.microsoft.com/office/drawing/2014/main" id="{84DD6FD8-871A-4D4A-AF94-0BD9D0E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10 MIN MICRO LESSON</a:t>
            </a:r>
          </a:p>
        </p:txBody>
      </p:sp>
    </p:spTree>
    <p:extLst>
      <p:ext uri="{BB962C8B-B14F-4D97-AF65-F5344CB8AC3E}">
        <p14:creationId xmlns:p14="http://schemas.microsoft.com/office/powerpoint/2010/main" val="653761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rid-2-0">
            <a:extLst xmlns:a="http://schemas.openxmlformats.org/drawingml/2006/main">
              <a:ext uri="{FF2B5EF4-FFF2-40B4-BE49-F238E27FC236}">
                <a16:creationId xmlns:a16="http://schemas.microsoft.com/office/drawing/2014/main" id="{71E0C828-3746-477D-ABEF-37EBA056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2" name="grid-2-1">
            <a:extLst xmlns:a="http://schemas.openxmlformats.org/drawingml/2006/main">
              <a:ext uri="{FF2B5EF4-FFF2-40B4-BE49-F238E27FC236}">
                <a16:creationId xmlns:a16="http://schemas.microsoft.com/office/drawing/2014/main" id="{E9E212AA-0592-4D2E-9E18-CA51055B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3" name="grid-2-2">
            <a:extLst xmlns:a="http://schemas.openxmlformats.org/drawingml/2006/main">
              <a:ext uri="{FF2B5EF4-FFF2-40B4-BE49-F238E27FC236}">
                <a16:creationId xmlns:a16="http://schemas.microsoft.com/office/drawing/2014/main" id="{7037B4A1-CA32-4B50-BEB9-C8DC8C7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4" name="grid-2-3">
            <a:extLst xmlns:a="http://schemas.openxmlformats.org/drawingml/2006/main">
              <a:ext uri="{FF2B5EF4-FFF2-40B4-BE49-F238E27FC236}">
                <a16:creationId xmlns:a16="http://schemas.microsoft.com/office/drawing/2014/main" id="{DEE95826-20DB-47A4-B136-A69BF2D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5" name="grid-2-4">
            <a:extLst xmlns:a="http://schemas.openxmlformats.org/drawingml/2006/main">
              <a:ext uri="{FF2B5EF4-FFF2-40B4-BE49-F238E27FC236}">
                <a16:creationId xmlns:a16="http://schemas.microsoft.com/office/drawing/2014/main" id="{46327955-2308-46BB-BC95-B111653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6" name="grid-2-5">
            <a:extLst xmlns:a="http://schemas.openxmlformats.org/drawingml/2006/main">
              <a:ext uri="{FF2B5EF4-FFF2-40B4-BE49-F238E27FC236}">
                <a16:creationId xmlns:a16="http://schemas.microsoft.com/office/drawing/2014/main" id="{E9B44EA6-175C-4BC3-8E00-2D595C18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2BF98B46-BE22-467D-96D2-4375521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8" name="section-2">
            <a:extLst xmlns:a="http://schemas.openxmlformats.org/drawingml/2006/main">
              <a:ext uri="{FF2B5EF4-FFF2-40B4-BE49-F238E27FC236}">
                <a16:creationId xmlns:a16="http://schemas.microsoft.com/office/drawing/2014/main" id="{C7351D2A-F413-435F-94EF-5144402D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SIGNAL / 学习目标</a:t>
            </a:r>
          </a:p>
        </p:txBody>
      </p:sp>
      <p:sp>
        <p:nvSpPr>
          <p:cNvPr id="9" name="page-2">
            <a:extLst xmlns:a="http://schemas.openxmlformats.org/drawingml/2006/main">
              <a:ext uri="{FF2B5EF4-FFF2-40B4-BE49-F238E27FC236}">
                <a16:creationId xmlns:a16="http://schemas.microsoft.com/office/drawing/2014/main" id="{32346827-1837-47AE-AF28-A20B8D60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2D1B4FA6-7152-4764-BE5D-29B21B1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三步建立浮力的完整认识</a:t>
            </a:r>
          </a:p>
        </p:txBody>
      </p:sp>
      <p:sp>
        <p:nvSpPr>
          <p:cNvPr id="11" name="subtitle-2">
            <a:extLst xmlns:a="http://schemas.openxmlformats.org/drawingml/2006/main">
              <a:ext uri="{FF2B5EF4-FFF2-40B4-BE49-F238E27FC236}">
                <a16:creationId xmlns:a16="http://schemas.microsoft.com/office/drawing/2014/main" id="{E5E23082-4BE9-4140-BB8C-2FB72B7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理解来源、掌握测量、能够解释</a:t>
            </a:r>
          </a:p>
        </p:txBody>
      </p:sp>
      <p:sp>
        <p:nvSpPr>
          <p:cNvPr id="12" name="goal-rule-0">
            <a:extLst xmlns:a="http://schemas.openxmlformats.org/drawingml/2006/main">
              <a:ext uri="{FF2B5EF4-FFF2-40B4-BE49-F238E27FC236}">
                <a16:creationId xmlns:a16="http://schemas.microsoft.com/office/drawing/2014/main" id="{4786D88F-9DAE-47FA-9C52-CCE6E9F3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28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2FF"/>
            </a:solidFill>
            <a:prstDash val="solid"/>
          </a:ln>
        </p:spPr>
      </p:sp>
      <p:sp>
        <p:nvSpPr>
          <p:cNvPr id="13" name="goal-number-0">
            <a:extLst xmlns:a="http://schemas.openxmlformats.org/drawingml/2006/main">
              <a:ext uri="{FF2B5EF4-FFF2-40B4-BE49-F238E27FC236}">
                <a16:creationId xmlns:a16="http://schemas.microsoft.com/office/drawing/2014/main" id="{C5CD5515-A9F8-4DD7-8535-836E9E87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093494AE-DF95-451D-9781-E621EE03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看见来源</a:t>
            </a:r>
          </a:p>
        </p:txBody>
      </p:sp>
      <p:sp>
        <p:nvSpPr>
          <p:cNvPr id="15" name="goal-body-0">
            <a:extLst xmlns:a="http://schemas.openxmlformats.org/drawingml/2006/main">
              <a:ext uri="{FF2B5EF4-FFF2-40B4-BE49-F238E27FC236}">
                <a16:creationId xmlns:a16="http://schemas.microsoft.com/office/drawing/2014/main" id="{ADB5933C-AE20-4D8B-82B3-AB91BE8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用上下表面的压力差解释浮力方向</a:t>
            </a:r>
          </a:p>
        </p:txBody>
      </p:sp>
      <p:sp>
        <p:nvSpPr>
          <p:cNvPr id="16" name="goal-rule-1">
            <a:extLst xmlns:a="http://schemas.openxmlformats.org/drawingml/2006/main">
              <a:ext uri="{FF2B5EF4-FFF2-40B4-BE49-F238E27FC236}">
                <a16:creationId xmlns:a16="http://schemas.microsoft.com/office/drawing/2014/main" id="{601EFBFB-35B0-4F02-8F7B-473B955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2419350"/>
            <a:ext cx="328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2FF"/>
            </a:solidFill>
            <a:prstDash val="solid"/>
          </a:ln>
        </p:spPr>
      </p:sp>
      <p:sp>
        <p:nvSpPr>
          <p:cNvPr id="17" name="goal-number-1">
            <a:extLst xmlns:a="http://schemas.openxmlformats.org/drawingml/2006/main">
              <a:ext uri="{FF2B5EF4-FFF2-40B4-BE49-F238E27FC236}">
                <a16:creationId xmlns:a16="http://schemas.microsoft.com/office/drawing/2014/main" id="{788A114F-E9AC-409F-A05A-8F4B83BD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A806EF36-6820-4DE9-8FC9-2AB1E7C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学会测量</a:t>
            </a:r>
          </a:p>
        </p:txBody>
      </p:sp>
      <p:sp>
        <p:nvSpPr>
          <p:cNvPr id="19" name="goal-body-1">
            <a:extLst xmlns:a="http://schemas.openxmlformats.org/drawingml/2006/main">
              <a:ext uri="{FF2B5EF4-FFF2-40B4-BE49-F238E27FC236}">
                <a16:creationId xmlns:a16="http://schemas.microsoft.com/office/drawing/2014/main" id="{257D71AA-B63B-463C-AA6B-790C31D1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用弹簧测力计测出物体所受浮力</a:t>
            </a:r>
          </a:p>
        </p:txBody>
      </p:sp>
      <p:sp>
        <p:nvSpPr>
          <p:cNvPr id="20" name="goal-rule-2">
            <a:extLst xmlns:a="http://schemas.openxmlformats.org/drawingml/2006/main">
              <a:ext uri="{FF2B5EF4-FFF2-40B4-BE49-F238E27FC236}">
                <a16:creationId xmlns:a16="http://schemas.microsoft.com/office/drawing/2014/main" id="{095AE573-731A-49FA-B820-79C452A4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2419350"/>
            <a:ext cx="328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2FF"/>
            </a:solidFill>
            <a:prstDash val="solid"/>
          </a:ln>
        </p:spPr>
      </p:sp>
      <p:sp>
        <p:nvSpPr>
          <p:cNvPr id="21" name="goal-number-2">
            <a:extLst xmlns:a="http://schemas.openxmlformats.org/drawingml/2006/main">
              <a:ext uri="{FF2B5EF4-FFF2-40B4-BE49-F238E27FC236}">
                <a16:creationId xmlns:a16="http://schemas.microsoft.com/office/drawing/2014/main" id="{864D6215-73BA-4841-96E2-07BD69D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E0A959A5-8448-41AC-99E1-1F0DEB2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建立关系</a:t>
            </a:r>
          </a:p>
        </p:txBody>
      </p:sp>
      <p:sp>
        <p:nvSpPr>
          <p:cNvPr id="23" name="goal-body-2">
            <a:extLst xmlns:a="http://schemas.openxmlformats.org/drawingml/2006/main">
              <a:ext uri="{FF2B5EF4-FFF2-40B4-BE49-F238E27FC236}">
                <a16:creationId xmlns:a16="http://schemas.microsoft.com/office/drawing/2014/main" id="{68760A90-A66F-4178-87CD-3069270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验证浮力等于排开液体的重力</a:t>
            </a:r>
          </a:p>
        </p:txBody>
      </p:sp>
    </p:spTree>
    <p:extLst>
      <p:ext uri="{BB962C8B-B14F-4D97-AF65-F5344CB8AC3E}">
        <p14:creationId xmlns:p14="http://schemas.microsoft.com/office/powerpoint/2010/main" val="337064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-3-0">
            <a:extLst xmlns:a="http://schemas.openxmlformats.org/drawingml/2006/main">
              <a:ext uri="{FF2B5EF4-FFF2-40B4-BE49-F238E27FC236}">
                <a16:creationId xmlns:a16="http://schemas.microsoft.com/office/drawing/2014/main" id="{96256E7D-EBEC-4B53-9A6C-09A9A6D7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2" name="grid-3-1">
            <a:extLst xmlns:a="http://schemas.openxmlformats.org/drawingml/2006/main">
              <a:ext uri="{FF2B5EF4-FFF2-40B4-BE49-F238E27FC236}">
                <a16:creationId xmlns:a16="http://schemas.microsoft.com/office/drawing/2014/main" id="{7569B5A1-2A0B-4A08-9381-B9F62B82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3" name="grid-3-2">
            <a:extLst xmlns:a="http://schemas.openxmlformats.org/drawingml/2006/main">
              <a:ext uri="{FF2B5EF4-FFF2-40B4-BE49-F238E27FC236}">
                <a16:creationId xmlns:a16="http://schemas.microsoft.com/office/drawing/2014/main" id="{794F21BE-50B7-4F31-9D7C-F84DF4A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4" name="grid-3-3">
            <a:extLst xmlns:a="http://schemas.openxmlformats.org/drawingml/2006/main">
              <a:ext uri="{FF2B5EF4-FFF2-40B4-BE49-F238E27FC236}">
                <a16:creationId xmlns:a16="http://schemas.microsoft.com/office/drawing/2014/main" id="{50C28FF9-0417-4A87-A1AD-011C08A4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5" name="grid-3-4">
            <a:extLst xmlns:a="http://schemas.openxmlformats.org/drawingml/2006/main">
              <a:ext uri="{FF2B5EF4-FFF2-40B4-BE49-F238E27FC236}">
                <a16:creationId xmlns:a16="http://schemas.microsoft.com/office/drawing/2014/main" id="{79E6C8EB-ABA3-4A17-B98E-661679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6" name="grid-3-5">
            <a:extLst xmlns:a="http://schemas.openxmlformats.org/drawingml/2006/main">
              <a:ext uri="{FF2B5EF4-FFF2-40B4-BE49-F238E27FC236}">
                <a16:creationId xmlns:a16="http://schemas.microsoft.com/office/drawing/2014/main" id="{EC9DDE37-3850-4C9E-9FDE-BF9AFEF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7" name="signal-3">
            <a:extLst xmlns:a="http://schemas.openxmlformats.org/drawingml/2006/main">
              <a:ext uri="{FF2B5EF4-FFF2-40B4-BE49-F238E27FC236}">
                <a16:creationId xmlns:a16="http://schemas.microsoft.com/office/drawing/2014/main" id="{232E26B3-722C-4565-A643-AD0F4858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8" name="section-3">
            <a:extLst xmlns:a="http://schemas.openxmlformats.org/drawingml/2006/main">
              <a:ext uri="{FF2B5EF4-FFF2-40B4-BE49-F238E27FC236}">
                <a16:creationId xmlns:a16="http://schemas.microsoft.com/office/drawing/2014/main" id="{0FC62883-792F-4790-A22E-79D5A69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SIGNAL / 核心概念</a:t>
            </a:r>
          </a:p>
        </p:txBody>
      </p:sp>
      <p:sp>
        <p:nvSpPr>
          <p:cNvPr id="9" name="page-3">
            <a:extLst xmlns:a="http://schemas.openxmlformats.org/drawingml/2006/main">
              <a:ext uri="{FF2B5EF4-FFF2-40B4-BE49-F238E27FC236}">
                <a16:creationId xmlns:a16="http://schemas.microsoft.com/office/drawing/2014/main" id="{027DB7F8-3091-4F18-9763-31D718BF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94E691E1-339F-4FDA-AD97-61D28B94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浮力来自液体上下表面的压力差</a:t>
            </a:r>
          </a:p>
        </p:txBody>
      </p:sp>
      <p:sp>
        <p:nvSpPr>
          <p:cNvPr id="11" name="subtitle-3">
            <a:extLst xmlns:a="http://schemas.openxmlformats.org/drawingml/2006/main">
              <a:ext uri="{FF2B5EF4-FFF2-40B4-BE49-F238E27FC236}">
                <a16:creationId xmlns:a16="http://schemas.microsoft.com/office/drawing/2014/main" id="{0B7B565C-248B-4C5C-973A-55FE4A4D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越深的位置，液体产生的压力通常越大</a:t>
            </a:r>
          </a:p>
        </p:txBody>
      </p:sp>
      <p:sp>
        <p:nvSpPr>
          <p:cNvPr id="12" name="split-points">
            <a:extLst xmlns:a="http://schemas.openxmlformats.org/drawingml/2006/main">
              <a:ext uri="{FF2B5EF4-FFF2-40B4-BE49-F238E27FC236}">
                <a16:creationId xmlns:a16="http://schemas.microsoft.com/office/drawing/2014/main" id="{1D67E0E7-4813-46CC-8E7B-3F5F2D6F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液体从各个方向压向物体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下表面通常比上表面更深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向上的压力大于向下的压力</a:t>
            </a:r>
          </a:p>
        </p:txBody>
      </p:sp>
      <p:sp>
        <p:nvSpPr>
          <p:cNvPr id="13" name="split-divider">
            <a:extLst xmlns:a="http://schemas.openxmlformats.org/drawingml/2006/main">
              <a:ext uri="{FF2B5EF4-FFF2-40B4-BE49-F238E27FC236}">
                <a16:creationId xmlns:a16="http://schemas.microsoft.com/office/drawing/2014/main" id="{ED65167A-49B0-4019-979C-20AB36E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52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C57"/>
            </a:solidFill>
            <a:prstDash val="solid"/>
          </a:ln>
        </p:spPr>
      </p:sp>
      <p:sp>
        <p:nvSpPr>
          <p:cNvPr id="14" name="water-field">
            <a:extLst xmlns:a="http://schemas.openxmlformats.org/drawingml/2006/main">
              <a:ext uri="{FF2B5EF4-FFF2-40B4-BE49-F238E27FC236}">
                <a16:creationId xmlns:a16="http://schemas.microsoft.com/office/drawing/2014/main" id="{71E5E90A-5DA3-4CE7-A460-91299E4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05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31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ject">
            <a:extLst xmlns:a="http://schemas.openxmlformats.org/drawingml/2006/main">
              <a:ext uri="{FF2B5EF4-FFF2-40B4-BE49-F238E27FC236}">
                <a16:creationId xmlns:a16="http://schemas.microsoft.com/office/drawing/2014/main" id="{51C359A9-4B08-4F3D-9697-E9ED6C0E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33750"/>
            <a:ext cx="1333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31C33"/>
          </a:solidFill>
          <a:ln xmlns:a="http://schemas.openxmlformats.org/drawingml/2006/main" w="9525">
            <a:solidFill>
              <a:srgbClr val="00C2FF"/>
            </a:solidFill>
            <a:prstDash val="solid"/>
          </a:ln>
        </p:spPr>
      </p:sp>
      <p:sp>
        <p:nvSpPr>
          <p:cNvPr id="16" name="up-arrow">
            <a:extLst xmlns:a="http://schemas.openxmlformats.org/drawingml/2006/main">
              <a:ext uri="{FF2B5EF4-FFF2-40B4-BE49-F238E27FC236}">
                <a16:creationId xmlns:a16="http://schemas.microsoft.com/office/drawing/2014/main" id="{5DE2839A-B6F4-44C0-BDC8-521ED1CF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762000" cy="1123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wn-arrow">
            <a:extLst xmlns:a="http://schemas.openxmlformats.org/drawingml/2006/main">
              <a:ext uri="{FF2B5EF4-FFF2-40B4-BE49-F238E27FC236}">
                <a16:creationId xmlns:a16="http://schemas.microsoft.com/office/drawing/2014/main" id="{7FB2BEB2-6004-4EEF-92DD-C0FB5642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76750"/>
            <a:ext cx="5334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B8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p-label">
            <a:extLst xmlns:a="http://schemas.openxmlformats.org/drawingml/2006/main">
              <a:ext uri="{FF2B5EF4-FFF2-40B4-BE49-F238E27FC236}">
                <a16:creationId xmlns:a16="http://schemas.microsoft.com/office/drawing/2014/main" id="{1BCB3A01-0244-446B-BD20-EBC98DD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C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C2FF"/>
                </a:solidFill>
                <a:latin typeface="Microsoft YaHei"/>
                <a:ea typeface="Microsoft YaHei"/>
                <a:cs typeface="Microsoft YaHei"/>
              </a:rPr>
              <a:t>向上压力较大</a:t>
            </a:r>
          </a:p>
        </p:txBody>
      </p:sp>
      <p:sp>
        <p:nvSpPr>
          <p:cNvPr id="19" name="down-label">
            <a:extLst xmlns:a="http://schemas.openxmlformats.org/drawingml/2006/main">
              <a:ext uri="{FF2B5EF4-FFF2-40B4-BE49-F238E27FC236}">
                <a16:creationId xmlns:a16="http://schemas.microsoft.com/office/drawing/2014/main" id="{59EBDC67-3281-48DE-9FFA-CAC76265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向下压力较小</a:t>
            </a:r>
          </a:p>
        </p:txBody>
      </p:sp>
    </p:spTree>
    <p:extLst>
      <p:ext uri="{BB962C8B-B14F-4D97-AF65-F5344CB8AC3E}">
        <p14:creationId xmlns:p14="http://schemas.microsoft.com/office/powerpoint/2010/main" val="2075554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rid-4-0">
            <a:extLst xmlns:a="http://schemas.openxmlformats.org/drawingml/2006/main">
              <a:ext uri="{FF2B5EF4-FFF2-40B4-BE49-F238E27FC236}">
                <a16:creationId xmlns:a16="http://schemas.microsoft.com/office/drawing/2014/main" id="{C5C8874C-D7EE-485C-BD18-9B0B157D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2" name="grid-4-1">
            <a:extLst xmlns:a="http://schemas.openxmlformats.org/drawingml/2006/main">
              <a:ext uri="{FF2B5EF4-FFF2-40B4-BE49-F238E27FC236}">
                <a16:creationId xmlns:a16="http://schemas.microsoft.com/office/drawing/2014/main" id="{CD70FAFB-3881-45E7-8098-4D4C3580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3" name="grid-4-2">
            <a:extLst xmlns:a="http://schemas.openxmlformats.org/drawingml/2006/main">
              <a:ext uri="{FF2B5EF4-FFF2-40B4-BE49-F238E27FC236}">
                <a16:creationId xmlns:a16="http://schemas.microsoft.com/office/drawing/2014/main" id="{E8D9350B-2F26-41FC-BFDB-2A4CA4C4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4" name="grid-4-3">
            <a:extLst xmlns:a="http://schemas.openxmlformats.org/drawingml/2006/main">
              <a:ext uri="{FF2B5EF4-FFF2-40B4-BE49-F238E27FC236}">
                <a16:creationId xmlns:a16="http://schemas.microsoft.com/office/drawing/2014/main" id="{00F645E7-3A18-42C9-B740-BECBA10D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5" name="grid-4-4">
            <a:extLst xmlns:a="http://schemas.openxmlformats.org/drawingml/2006/main">
              <a:ext uri="{FF2B5EF4-FFF2-40B4-BE49-F238E27FC236}">
                <a16:creationId xmlns:a16="http://schemas.microsoft.com/office/drawing/2014/main" id="{3E9C5BA8-CD5E-41CB-86E4-E375531A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6" name="grid-4-5">
            <a:extLst xmlns:a="http://schemas.openxmlformats.org/drawingml/2006/main">
              <a:ext uri="{FF2B5EF4-FFF2-40B4-BE49-F238E27FC236}">
                <a16:creationId xmlns:a16="http://schemas.microsoft.com/office/drawing/2014/main" id="{745F381D-A528-454D-B69A-8F9EA70E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7" name="signal-4">
            <a:extLst xmlns:a="http://schemas.openxmlformats.org/drawingml/2006/main">
              <a:ext uri="{FF2B5EF4-FFF2-40B4-BE49-F238E27FC236}">
                <a16:creationId xmlns:a16="http://schemas.microsoft.com/office/drawing/2014/main" id="{1FEB492B-C9C7-41B8-96F4-AFA2CAAE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8" name="section-4">
            <a:extLst xmlns:a="http://schemas.openxmlformats.org/drawingml/2006/main">
              <a:ext uri="{FF2B5EF4-FFF2-40B4-BE49-F238E27FC236}">
                <a16:creationId xmlns:a16="http://schemas.microsoft.com/office/drawing/2014/main" id="{86B9547D-7E29-44AB-99D9-3221FC4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SIGNAL / 实验推理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B99E3E07-DCD5-492D-9492-6F62545C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54ABC562-78CA-4651-91A6-84139A8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四步溢水法验证阿基米德原理</a:t>
            </a:r>
          </a:p>
        </p:txBody>
      </p:sp>
      <p:sp>
        <p:nvSpPr>
          <p:cNvPr id="11" name="subtitle-4">
            <a:extLst xmlns:a="http://schemas.openxmlformats.org/drawingml/2006/main">
              <a:ext uri="{FF2B5EF4-FFF2-40B4-BE49-F238E27FC236}">
                <a16:creationId xmlns:a16="http://schemas.microsoft.com/office/drawing/2014/main" id="{DE634C26-ED85-43E5-BF45-02BBBBE1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同一个实验，同时得到浮力与排开水重力</a:t>
            </a:r>
          </a:p>
        </p:txBody>
      </p:sp>
      <p:sp>
        <p:nvSpPr>
          <p:cNvPr id="12" name="process-link-0">
            <a:extLst xmlns:a="http://schemas.openxmlformats.org/drawingml/2006/main">
              <a:ext uri="{FF2B5EF4-FFF2-40B4-BE49-F238E27FC236}">
                <a16:creationId xmlns:a16="http://schemas.microsoft.com/office/drawing/2014/main" id="{8C8E0403-820E-43FD-8C63-CDE0776D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13" name="step-num-0">
            <a:extLst xmlns:a="http://schemas.openxmlformats.org/drawingml/2006/main">
              <a:ext uri="{FF2B5EF4-FFF2-40B4-BE49-F238E27FC236}">
                <a16:creationId xmlns:a16="http://schemas.microsoft.com/office/drawing/2014/main" id="{02EAB286-85AD-4C19-BD92-5955A4E5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index-0">
            <a:extLst xmlns:a="http://schemas.openxmlformats.org/drawingml/2006/main">
              <a:ext uri="{FF2B5EF4-FFF2-40B4-BE49-F238E27FC236}">
                <a16:creationId xmlns:a16="http://schemas.microsoft.com/office/drawing/2014/main" id="{158274A5-EE40-4074-B845-BF559AE6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D92A547-3E53-4B17-9CCE-270644F4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测物重</a:t>
            </a:r>
          </a:p>
        </p:txBody>
      </p:sp>
      <p:sp>
        <p:nvSpPr>
          <p:cNvPr id="1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11E34F2-7DF4-4D44-8D53-CF036F5C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记录物体重力 G</a:t>
            </a:r>
          </a:p>
        </p:txBody>
      </p:sp>
      <p:sp>
        <p:nvSpPr>
          <p:cNvPr id="17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2355E874-2685-4F80-B93E-804D47EA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18" name="step-num-1">
            <a:extLst xmlns:a="http://schemas.openxmlformats.org/drawingml/2006/main">
              <a:ext uri="{FF2B5EF4-FFF2-40B4-BE49-F238E27FC236}">
                <a16:creationId xmlns:a16="http://schemas.microsoft.com/office/drawing/2014/main" id="{85B12161-D5A4-4F41-BFF7-865AE317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3B4BC9A2-74E8-4E12-BEC0-C9516642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AE8824D7-96C2-4BEA-8252-05A6CB3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测拉力</a:t>
            </a:r>
          </a:p>
        </p:txBody>
      </p:sp>
      <p:sp>
        <p:nvSpPr>
          <p:cNvPr id="2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F210B35-8F2C-43A4-8AEE-506CB13C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浸没后记录 F拉</a:t>
            </a:r>
          </a:p>
        </p:txBody>
      </p:sp>
      <p:sp>
        <p:nvSpPr>
          <p:cNvPr id="22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D0B72BF4-7147-472F-8414-926088D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23" name="step-num-2">
            <a:extLst xmlns:a="http://schemas.openxmlformats.org/drawingml/2006/main">
              <a:ext uri="{FF2B5EF4-FFF2-40B4-BE49-F238E27FC236}">
                <a16:creationId xmlns:a16="http://schemas.microsoft.com/office/drawing/2014/main" id="{F975BB8F-FA42-44F2-8B59-5889CC5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7D8A135C-CCB8-4B6C-947C-14ACA595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BC34B94-85FF-484F-811C-A98AE9EA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测空桶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2176509-4EDB-4693-A12F-BBA3997B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记录小桶重力 G桶</a:t>
            </a:r>
          </a:p>
        </p:txBody>
      </p:sp>
      <p:sp>
        <p:nvSpPr>
          <p:cNvPr id="27" name="step-num-3">
            <a:extLst xmlns:a="http://schemas.openxmlformats.org/drawingml/2006/main">
              <a:ext uri="{FF2B5EF4-FFF2-40B4-BE49-F238E27FC236}">
                <a16:creationId xmlns:a16="http://schemas.microsoft.com/office/drawing/2014/main" id="{F7EF3820-49A9-4C56-BF37-A9C906BF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90B21457-C055-4B5C-A1CA-BF9AFD0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81F69F9-07C0-4AEE-9E36-5508B834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测总重</a:t>
            </a:r>
          </a:p>
        </p:txBody>
      </p:sp>
      <p:sp>
        <p:nvSpPr>
          <p:cNvPr id="3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89FA882-F215-48CF-ADF0-944FE579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记录水与桶总重 G总</a:t>
            </a:r>
          </a:p>
        </p:txBody>
      </p:sp>
      <p:sp>
        <p:nvSpPr>
          <p:cNvPr id="31" name="process-result">
            <a:extLst xmlns:a="http://schemas.openxmlformats.org/drawingml/2006/main">
              <a:ext uri="{FF2B5EF4-FFF2-40B4-BE49-F238E27FC236}">
                <a16:creationId xmlns:a16="http://schemas.microsoft.com/office/drawing/2014/main" id="{D1028730-C548-4512-9B61-E6D953D3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203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31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cess-formula">
            <a:extLst xmlns:a="http://schemas.openxmlformats.org/drawingml/2006/main">
              <a:ext uri="{FF2B5EF4-FFF2-40B4-BE49-F238E27FC236}">
                <a16:creationId xmlns:a16="http://schemas.microsoft.com/office/drawing/2014/main" id="{1A51F52B-2CBA-4BCF-B351-14EF8258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F浮 = G − F拉     ｜     G排 = G总 − G桶     ｜     实验结果：F浮 = G排</a:t>
            </a:r>
          </a:p>
        </p:txBody>
      </p:sp>
    </p:spTree>
    <p:extLst>
      <p:ext uri="{BB962C8B-B14F-4D97-AF65-F5344CB8AC3E}">
        <p14:creationId xmlns:p14="http://schemas.microsoft.com/office/powerpoint/2010/main" val="1036975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rid-5-0">
            <a:extLst xmlns:a="http://schemas.openxmlformats.org/drawingml/2006/main">
              <a:ext uri="{FF2B5EF4-FFF2-40B4-BE49-F238E27FC236}">
                <a16:creationId xmlns:a16="http://schemas.microsoft.com/office/drawing/2014/main" id="{1372BE55-7B61-402B-BEC7-AC7CC6B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2" name="grid-5-1">
            <a:extLst xmlns:a="http://schemas.openxmlformats.org/drawingml/2006/main">
              <a:ext uri="{FF2B5EF4-FFF2-40B4-BE49-F238E27FC236}">
                <a16:creationId xmlns:a16="http://schemas.microsoft.com/office/drawing/2014/main" id="{DB20CD64-A0EF-4C3E-A595-2005440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3" name="grid-5-2">
            <a:extLst xmlns:a="http://schemas.openxmlformats.org/drawingml/2006/main">
              <a:ext uri="{FF2B5EF4-FFF2-40B4-BE49-F238E27FC236}">
                <a16:creationId xmlns:a16="http://schemas.microsoft.com/office/drawing/2014/main" id="{8F428E09-1984-42D1-B7B6-B662665B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4" name="grid-5-3">
            <a:extLst xmlns:a="http://schemas.openxmlformats.org/drawingml/2006/main">
              <a:ext uri="{FF2B5EF4-FFF2-40B4-BE49-F238E27FC236}">
                <a16:creationId xmlns:a16="http://schemas.microsoft.com/office/drawing/2014/main" id="{B81296B9-9EAA-4093-92A7-F883FC81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5" name="grid-5-4">
            <a:extLst xmlns:a="http://schemas.openxmlformats.org/drawingml/2006/main">
              <a:ext uri="{FF2B5EF4-FFF2-40B4-BE49-F238E27FC236}">
                <a16:creationId xmlns:a16="http://schemas.microsoft.com/office/drawing/2014/main" id="{67B96B0C-3045-430A-A80F-5EF7AC7B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6" name="grid-5-5">
            <a:extLst xmlns:a="http://schemas.openxmlformats.org/drawingml/2006/main">
              <a:ext uri="{FF2B5EF4-FFF2-40B4-BE49-F238E27FC236}">
                <a16:creationId xmlns:a16="http://schemas.microsoft.com/office/drawing/2014/main" id="{E5B8B5ED-5A62-40F2-A00B-E73F049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7" name="signal-5">
            <a:extLst xmlns:a="http://schemas.openxmlformats.org/drawingml/2006/main">
              <a:ext uri="{FF2B5EF4-FFF2-40B4-BE49-F238E27FC236}">
                <a16:creationId xmlns:a16="http://schemas.microsoft.com/office/drawing/2014/main" id="{EC1F116E-5EAF-418A-8A42-526B8C56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8" name="section-5">
            <a:extLst xmlns:a="http://schemas.openxmlformats.org/drawingml/2006/main">
              <a:ext uri="{FF2B5EF4-FFF2-40B4-BE49-F238E27FC236}">
                <a16:creationId xmlns:a16="http://schemas.microsoft.com/office/drawing/2014/main" id="{C37F11C1-4AA7-46FE-B8FB-3FD4667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SIGNAL / 课堂练习</a:t>
            </a:r>
          </a:p>
        </p:txBody>
      </p:sp>
      <p:sp>
        <p:nvSpPr>
          <p:cNvPr id="9" name="page-5">
            <a:extLst xmlns:a="http://schemas.openxmlformats.org/drawingml/2006/main">
              <a:ext uri="{FF2B5EF4-FFF2-40B4-BE49-F238E27FC236}">
                <a16:creationId xmlns:a16="http://schemas.microsoft.com/office/drawing/2014/main" id="{17A9490B-1B0E-4BF1-9A07-81B5D8F9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" name="title-5">
            <a:extLst xmlns:a="http://schemas.openxmlformats.org/drawingml/2006/main">
              <a:ext uri="{FF2B5EF4-FFF2-40B4-BE49-F238E27FC236}">
                <a16:creationId xmlns:a16="http://schemas.microsoft.com/office/drawing/2014/main" id="{A3B4BD15-9197-4E8B-AF7B-F3DED94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同一物体浸入水中更深，浮力一定变大吗？</a:t>
            </a:r>
          </a:p>
        </p:txBody>
      </p:sp>
      <p:sp>
        <p:nvSpPr>
          <p:cNvPr id="11" name="subtitle-5">
            <a:extLst xmlns:a="http://schemas.openxmlformats.org/drawingml/2006/main">
              <a:ext uri="{FF2B5EF4-FFF2-40B4-BE49-F238E27FC236}">
                <a16:creationId xmlns:a16="http://schemas.microsoft.com/office/drawing/2014/main" id="{803286B8-A270-4FDE-9AF8-C200A230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先判断，再说明你关注的是“深度”还是“排开水的体积”</a:t>
            </a:r>
          </a:p>
        </p:txBody>
      </p:sp>
      <p:sp>
        <p:nvSpPr>
          <p:cNvPr id="12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C7BC5B4B-B3D5-40A6-B48C-23F0DF5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uestion">
            <a:extLst xmlns:a="http://schemas.openxmlformats.org/drawingml/2006/main">
              <a:ext uri="{FF2B5EF4-FFF2-40B4-BE49-F238E27FC236}">
                <a16:creationId xmlns:a16="http://schemas.microsoft.com/office/drawing/2014/main" id="{77A6D475-F144-4E8B-B498-85DB4A6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一个木块完全浸没在水中后，继续向下移动但不接触容器底。它受到的浮力如何变化？</a:t>
            </a:r>
          </a:p>
        </p:txBody>
      </p:sp>
      <p:sp>
        <p:nvSpPr>
          <p:cNvPr id="14" name="hint">
            <a:extLst xmlns:a="http://schemas.openxmlformats.org/drawingml/2006/main">
              <a:ext uri="{FF2B5EF4-FFF2-40B4-BE49-F238E27FC236}">
                <a16:creationId xmlns:a16="http://schemas.microsoft.com/office/drawing/2014/main" id="{415E003E-4F03-4E54-BD33-2DB5C293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0C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C2FF"/>
                </a:solidFill>
                <a:latin typeface="Microsoft YaHei"/>
                <a:ea typeface="Microsoft YaHei"/>
                <a:cs typeface="Microsoft YaHei"/>
              </a:rPr>
              <a:t>提示：完全浸没后，V排 是否改变？</a:t>
            </a:r>
          </a:p>
        </p:txBody>
      </p:sp>
      <p:sp>
        <p:nvSpPr>
          <p:cNvPr id="15" name="option-index-0">
            <a:extLst xmlns:a="http://schemas.openxmlformats.org/drawingml/2006/main">
              <a:ext uri="{FF2B5EF4-FFF2-40B4-BE49-F238E27FC236}">
                <a16:creationId xmlns:a16="http://schemas.microsoft.com/office/drawing/2014/main" id="{2C21E8A1-8DCA-433F-BEB0-F7BA5A3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tion-letter-0">
            <a:extLst xmlns:a="http://schemas.openxmlformats.org/drawingml/2006/main">
              <a:ext uri="{FF2B5EF4-FFF2-40B4-BE49-F238E27FC236}">
                <a16:creationId xmlns:a16="http://schemas.microsoft.com/office/drawing/2014/main" id="{87CE25BF-E723-4A4A-9FFA-4BECF4D3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EA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AF6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option-text-0">
            <a:extLst xmlns:a="http://schemas.openxmlformats.org/drawingml/2006/main">
              <a:ext uri="{FF2B5EF4-FFF2-40B4-BE49-F238E27FC236}">
                <a16:creationId xmlns:a16="http://schemas.microsoft.com/office/drawing/2014/main" id="{CCDF5E59-6E6E-4338-BCE4-9619A906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变大</a:t>
            </a:r>
          </a:p>
        </p:txBody>
      </p:sp>
      <p:sp>
        <p:nvSpPr>
          <p:cNvPr id="18" name="option-index-1">
            <a:extLst xmlns:a="http://schemas.openxmlformats.org/drawingml/2006/main">
              <a:ext uri="{FF2B5EF4-FFF2-40B4-BE49-F238E27FC236}">
                <a16:creationId xmlns:a16="http://schemas.microsoft.com/office/drawing/2014/main" id="{C8D016A1-93DE-426A-874D-FC23D6A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ption-letter-1">
            <a:extLst xmlns:a="http://schemas.openxmlformats.org/drawingml/2006/main">
              <a:ext uri="{FF2B5EF4-FFF2-40B4-BE49-F238E27FC236}">
                <a16:creationId xmlns:a16="http://schemas.microsoft.com/office/drawing/2014/main" id="{BDC75441-CA28-49AC-A114-D43279D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575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0711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11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7705CE55-DF2E-4A00-B592-2F3F347D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385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C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C2FF"/>
                </a:solidFill>
                <a:latin typeface="Microsoft YaHei"/>
                <a:ea typeface="Microsoft YaHei"/>
                <a:cs typeface="Microsoft YaHei"/>
              </a:rPr>
              <a:t>不变</a:t>
            </a:r>
          </a:p>
        </p:txBody>
      </p:sp>
      <p:sp>
        <p:nvSpPr>
          <p:cNvPr id="21" name="option-index-2">
            <a:extLst xmlns:a="http://schemas.openxmlformats.org/drawingml/2006/main">
              <a:ext uri="{FF2B5EF4-FFF2-40B4-BE49-F238E27FC236}">
                <a16:creationId xmlns:a16="http://schemas.microsoft.com/office/drawing/2014/main" id="{5C92BE62-51F4-4B99-9DE8-4D49B411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ption-letter-2">
            <a:extLst xmlns:a="http://schemas.openxmlformats.org/drawingml/2006/main">
              <a:ext uri="{FF2B5EF4-FFF2-40B4-BE49-F238E27FC236}">
                <a16:creationId xmlns:a16="http://schemas.microsoft.com/office/drawing/2014/main" id="{58977561-E196-4610-A967-C216570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EA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AF6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E9C48B2E-0043-44AF-870B-05B49FB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变小</a:t>
            </a:r>
          </a:p>
        </p:txBody>
      </p:sp>
    </p:spTree>
    <p:extLst>
      <p:ext uri="{BB962C8B-B14F-4D97-AF65-F5344CB8AC3E}">
        <p14:creationId xmlns:p14="http://schemas.microsoft.com/office/powerpoint/2010/main" val="2087205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-6-0">
            <a:extLst xmlns:a="http://schemas.openxmlformats.org/drawingml/2006/main">
              <a:ext uri="{FF2B5EF4-FFF2-40B4-BE49-F238E27FC236}">
                <a16:creationId xmlns:a16="http://schemas.microsoft.com/office/drawing/2014/main" id="{4D5DE723-EC1E-49DA-BD5A-C3BF2115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2" name="grid-6-1">
            <a:extLst xmlns:a="http://schemas.openxmlformats.org/drawingml/2006/main">
              <a:ext uri="{FF2B5EF4-FFF2-40B4-BE49-F238E27FC236}">
                <a16:creationId xmlns:a16="http://schemas.microsoft.com/office/drawing/2014/main" id="{E45D2FA5-E6E5-4161-BF87-ED5296D4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3" name="grid-6-2">
            <a:extLst xmlns:a="http://schemas.openxmlformats.org/drawingml/2006/main">
              <a:ext uri="{FF2B5EF4-FFF2-40B4-BE49-F238E27FC236}">
                <a16:creationId xmlns:a16="http://schemas.microsoft.com/office/drawing/2014/main" id="{47AA8A70-BE09-41F8-B4F6-885C2F1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4" name="grid-6-3">
            <a:extLst xmlns:a="http://schemas.openxmlformats.org/drawingml/2006/main">
              <a:ext uri="{FF2B5EF4-FFF2-40B4-BE49-F238E27FC236}">
                <a16:creationId xmlns:a16="http://schemas.microsoft.com/office/drawing/2014/main" id="{2D42C761-DAD8-4370-B0DF-2FE5C8F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5" name="grid-6-4">
            <a:extLst xmlns:a="http://schemas.openxmlformats.org/drawingml/2006/main">
              <a:ext uri="{FF2B5EF4-FFF2-40B4-BE49-F238E27FC236}">
                <a16:creationId xmlns:a16="http://schemas.microsoft.com/office/drawing/2014/main" id="{BC4D779D-36CB-4EE8-AA57-52851D1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6" name="grid-6-5">
            <a:extLst xmlns:a="http://schemas.openxmlformats.org/drawingml/2006/main">
              <a:ext uri="{FF2B5EF4-FFF2-40B4-BE49-F238E27FC236}">
                <a16:creationId xmlns:a16="http://schemas.microsoft.com/office/drawing/2014/main" id="{EBF50C37-291E-4B07-A3A3-5DD0C432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73C57"/>
            </a:solidFill>
            <a:prstDash val="solid"/>
          </a:ln>
        </p:spPr>
      </p:sp>
      <p:sp>
        <p:nvSpPr>
          <p:cNvPr id="7" name="signal-6">
            <a:extLst xmlns:a="http://schemas.openxmlformats.org/drawingml/2006/main">
              <a:ext uri="{FF2B5EF4-FFF2-40B4-BE49-F238E27FC236}">
                <a16:creationId xmlns:a16="http://schemas.microsoft.com/office/drawing/2014/main" id="{56FF437F-1086-4511-9520-D9CA7E61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2FF"/>
            </a:solidFill>
            <a:prstDash val="solid"/>
          </a:ln>
        </p:spPr>
      </p:sp>
      <p:sp>
        <p:nvSpPr>
          <p:cNvPr id="8" name="section-6">
            <a:extLst xmlns:a="http://schemas.openxmlformats.org/drawingml/2006/main">
              <a:ext uri="{FF2B5EF4-FFF2-40B4-BE49-F238E27FC236}">
                <a16:creationId xmlns:a16="http://schemas.microsoft.com/office/drawing/2014/main" id="{33A99315-47CC-448B-8042-05A2DF6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SIGNAL / 课堂小结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C335A9B3-6992-4B41-83F8-B73F2FE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title-6">
            <a:extLst xmlns:a="http://schemas.openxmlformats.org/drawingml/2006/main">
              <a:ext uri="{FF2B5EF4-FFF2-40B4-BE49-F238E27FC236}">
                <a16:creationId xmlns:a16="http://schemas.microsoft.com/office/drawing/2014/main" id="{E8CD883C-0FEB-4A8B-A34D-557990A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一条关系串起浮力的来源、测量与大小</a:t>
            </a:r>
          </a:p>
        </p:txBody>
      </p:sp>
      <p:sp>
        <p:nvSpPr>
          <p:cNvPr id="11" name="subtitle-6">
            <a:extLst xmlns:a="http://schemas.openxmlformats.org/drawingml/2006/main">
              <a:ext uri="{FF2B5EF4-FFF2-40B4-BE49-F238E27FC236}">
                <a16:creationId xmlns:a16="http://schemas.microsoft.com/office/drawing/2014/main" id="{D775DCC2-5199-4A4C-A759-1F9F5868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从现象走向可验证的物理关系</a:t>
            </a:r>
          </a:p>
        </p:txBody>
      </p:sp>
      <p:sp>
        <p:nvSpPr>
          <p:cNvPr id="12" name="summary-formula">
            <a:extLst xmlns:a="http://schemas.openxmlformats.org/drawingml/2006/main">
              <a:ext uri="{FF2B5EF4-FFF2-40B4-BE49-F238E27FC236}">
                <a16:creationId xmlns:a16="http://schemas.microsoft.com/office/drawing/2014/main" id="{B4A9086A-B0CC-45FA-9658-0BBE8873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01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31C33"/>
          </a:solidFill>
          <a:ln xmlns:a="http://schemas.openxmlformats.org/drawingml/2006/main" w="9525">
            <a:solidFill>
              <a:srgbClr val="173C57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F浮 = G排 = ρ液 g V排</a:t>
            </a:r>
          </a:p>
        </p:txBody>
      </p:sp>
      <p:sp>
        <p:nvSpPr>
          <p:cNvPr id="13" name="summary-dot-0">
            <a:extLst xmlns:a="http://schemas.openxmlformats.org/drawingml/2006/main">
              <a:ext uri="{FF2B5EF4-FFF2-40B4-BE49-F238E27FC236}">
                <a16:creationId xmlns:a16="http://schemas.microsoft.com/office/drawing/2014/main" id="{EC1C9FA7-F847-4B08-9E8F-5FA2793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mmary-point-0">
            <a:extLst xmlns:a="http://schemas.openxmlformats.org/drawingml/2006/main">
              <a:ext uri="{FF2B5EF4-FFF2-40B4-BE49-F238E27FC236}">
                <a16:creationId xmlns:a16="http://schemas.microsoft.com/office/drawing/2014/main" id="{2D3F6458-09DB-41FA-BBE2-583F8BC8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来源：上下表面的压力差</a:t>
            </a:r>
          </a:p>
        </p:txBody>
      </p:sp>
      <p:sp>
        <p:nvSpPr>
          <p:cNvPr id="15" name="summary-dot-1">
            <a:extLst xmlns:a="http://schemas.openxmlformats.org/drawingml/2006/main">
              <a:ext uri="{FF2B5EF4-FFF2-40B4-BE49-F238E27FC236}">
                <a16:creationId xmlns:a16="http://schemas.microsoft.com/office/drawing/2014/main" id="{79382032-1BA9-421C-8D52-A93D5D7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15B3C32F-D0F4-4886-B897-0980137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测量：F浮 = G − F拉</a:t>
            </a:r>
          </a:p>
        </p:txBody>
      </p:sp>
      <p:sp>
        <p:nvSpPr>
          <p:cNvPr id="17" name="summary-dot-2">
            <a:extLst xmlns:a="http://schemas.openxmlformats.org/drawingml/2006/main">
              <a:ext uri="{FF2B5EF4-FFF2-40B4-BE49-F238E27FC236}">
                <a16:creationId xmlns:a16="http://schemas.microsoft.com/office/drawing/2014/main" id="{24A3FFB9-EB1D-4E34-A6AF-4424A94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8900E538-4AB0-4637-AD8F-9125A97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规律：等于排开液体的重力</a:t>
            </a:r>
          </a:p>
        </p:txBody>
      </p:sp>
      <p:sp>
        <p:nvSpPr>
          <p:cNvPr id="19" name="summary-close">
            <a:extLst xmlns:a="http://schemas.openxmlformats.org/drawingml/2006/main">
              <a:ext uri="{FF2B5EF4-FFF2-40B4-BE49-F238E27FC236}">
                <a16:creationId xmlns:a16="http://schemas.microsoft.com/office/drawing/2014/main" id="{38948D69-00B4-4405-9735-C853826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CB8CA"/>
                </a:solidFill>
                <a:latin typeface="Microsoft YaHei"/>
                <a:ea typeface="Microsoft YaHei"/>
                <a:cs typeface="Microsoft YaHei"/>
              </a:rPr>
              <a:t>下一次看到漂浮或下沉，先问：它排开了多少液体？</a:t>
            </a:r>
          </a:p>
        </p:txBody>
      </p:sp>
    </p:spTree>
    <p:extLst>
      <p:ext uri="{BB962C8B-B14F-4D97-AF65-F5344CB8AC3E}">
        <p14:creationId xmlns:p14="http://schemas.microsoft.com/office/powerpoint/2010/main" val="1670093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2026-08-03T15:21:10.0470000Z</dcterms:created>
  <dcterms:modified xsi:type="dcterms:W3CDTF">2026-08-03T15:21:10.0470000Z</dcterms:modified>
</coreProperties>
</file>