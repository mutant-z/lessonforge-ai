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b28a61011c4726" /><Relationship Type="http://schemas.openxmlformats.org/officeDocument/2006/relationships/extended-properties" Target="/docProps/app.xml" Id="R39f5eb7407eb4a9d" /><Relationship Type="http://schemas.openxmlformats.org/officeDocument/2006/relationships/officeDocument" Target="/ppt/presentation.xml" Id="Rf018a861ffb243f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97e8ba426b4578"/>
  </p:sldMasterIdLst>
  <p:notesMasterIdLst>
    <p:notesMasterId xmlns:r="http://schemas.openxmlformats.org/officeDocument/2006/relationships" r:id="Rd55bc3d208154615"/>
  </p:notesMasterIdLst>
  <p:sldIdLst>
    <p:sldId xmlns:r="http://schemas.openxmlformats.org/officeDocument/2006/relationships" id="256" r:id="Rd6e79970c65b4756"/>
    <p:sldId xmlns:r="http://schemas.openxmlformats.org/officeDocument/2006/relationships" id="257" r:id="Rfedf3a7b109145a6"/>
    <p:sldId xmlns:r="http://schemas.openxmlformats.org/officeDocument/2006/relationships" id="258" r:id="Rce98582a7f7d4ec6"/>
    <p:sldId xmlns:r="http://schemas.openxmlformats.org/officeDocument/2006/relationships" id="259" r:id="Rca8245849fb44f18"/>
    <p:sldId xmlns:r="http://schemas.openxmlformats.org/officeDocument/2006/relationships" id="260" r:id="R9b0d943390b645e8"/>
    <p:sldId xmlns:r="http://schemas.openxmlformats.org/officeDocument/2006/relationships" id="261" r:id="R733d5c5777e741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ae11bf244449f0" /><Relationship Type="http://schemas.openxmlformats.org/officeDocument/2006/relationships/slideMaster" Target="/ppt/slideMasters/slideMaster1.xml" Id="R8197e8ba426b4578" /><Relationship Type="http://schemas.openxmlformats.org/officeDocument/2006/relationships/notesMaster" Target="/ppt/notesMasters/notesMaster1.xml" Id="Rd55bc3d208154615" /><Relationship Type="http://schemas.openxmlformats.org/officeDocument/2006/relationships/presProps" Target="/ppt/presProps.xml" Id="R8e5bb70853d84f17" /><Relationship Type="http://schemas.openxmlformats.org/officeDocument/2006/relationships/tableStyles" Target="/ppt/tableStyles.xml" Id="R2bde011e07ac4701" /><Relationship Type="http://schemas.openxmlformats.org/officeDocument/2006/relationships/slide" Target="/ppt/slides/slide1.xml" Id="Rd6e79970c65b4756" /><Relationship Type="http://schemas.openxmlformats.org/officeDocument/2006/relationships/slide" Target="/ppt/slides/slide2.xml" Id="Rfedf3a7b109145a6" /><Relationship Type="http://schemas.openxmlformats.org/officeDocument/2006/relationships/slide" Target="/ppt/slides/slide3.xml" Id="Rce98582a7f7d4ec6" /><Relationship Type="http://schemas.openxmlformats.org/officeDocument/2006/relationships/slide" Target="/ppt/slides/slide4.xml" Id="Rca8245849fb44f18" /><Relationship Type="http://schemas.openxmlformats.org/officeDocument/2006/relationships/slide" Target="/ppt/slides/slide5.xml" Id="R9b0d943390b645e8" /><Relationship Type="http://schemas.openxmlformats.org/officeDocument/2006/relationships/slide" Target="/ppt/slides/slide6.xml" Id="R733d5c5777e741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9a9f36cbafd427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59353ea3b94dce" /><Relationship Type="http://schemas.openxmlformats.org/officeDocument/2006/relationships/notesMaster" Target="/ppt/notesMasters/notesMaster1.xml" Id="Rae868fa11cbb416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8f3a7795f994fb0" /><Relationship Type="http://schemas.openxmlformats.org/officeDocument/2006/relationships/notesMaster" Target="/ppt/notesMasters/notesMaster1.xml" Id="R27a3168a73274c0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3981dbecb8a4cf7" /><Relationship Type="http://schemas.openxmlformats.org/officeDocument/2006/relationships/notesMaster" Target="/ppt/notesMasters/notesMaster1.xml" Id="R776ebdf23995465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e74d5b24edf4f00" /><Relationship Type="http://schemas.openxmlformats.org/officeDocument/2006/relationships/notesMaster" Target="/ppt/notesMasters/notesMaster1.xml" Id="R6094318bedb24ac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cbc09198ef40a6" /><Relationship Type="http://schemas.openxmlformats.org/officeDocument/2006/relationships/notesMaster" Target="/ppt/notesMasters/notesMaster1.xml" Id="R23db20b25be44b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aa7f9646590419d" /><Relationship Type="http://schemas.openxmlformats.org/officeDocument/2006/relationships/notesMaster" Target="/ppt/notesMasters/notesMaster1.xml" Id="R5b2904956b814d9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用生活中的漂浮现象引出问题：浮力到底有多大？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目标不要求学生机械记忆；强调观察、测量与解释之间的联系。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借助上下表面压力差说明浮力方向，避免把浮力误解为液体主动托举。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按 1—4 的顺序记录数据，最后比较两组差值是否相等。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答案是不变。完全浸没后排开水的体积不变，液体密度也不变，因此浮力不变。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用公式回扣三个问题：浮力从哪里来、怎样测、由什么决定。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5d52dca743419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e0a92c1e0e48b8" /><Relationship Type="http://schemas.openxmlformats.org/officeDocument/2006/relationships/slideLayout" Target="/ppt/slideLayouts/slideLayout1.xml" Id="R1a97e147e6bd431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a97e147e6bd431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973f9de944fc7" /><Relationship Type="http://schemas.openxmlformats.org/officeDocument/2006/relationships/notesSlide" Target="/ppt/notesSlides/notesSlide1.xml" Id="Re95ff279e7554f9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e887c082934e22" /><Relationship Type="http://schemas.openxmlformats.org/officeDocument/2006/relationships/notesSlide" Target="/ppt/notesSlides/notesSlide2.xml" Id="R8e15082d255b46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f4a48bb2a4df3" /><Relationship Type="http://schemas.openxmlformats.org/officeDocument/2006/relationships/notesSlide" Target="/ppt/notesSlides/notesSlide3.xml" Id="R78d1522f10bc4ac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07953c672794e39" /><Relationship Type="http://schemas.openxmlformats.org/officeDocument/2006/relationships/notesSlide" Target="/ppt/notesSlides/notesSlide4.xml" Id="R954d06a132664d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31423f29f34d22" /><Relationship Type="http://schemas.openxmlformats.org/officeDocument/2006/relationships/notesSlide" Target="/ppt/notesSlides/notesSlide5.xml" Id="R1ccb336746b242a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534a93453242ce" /><Relationship Type="http://schemas.openxmlformats.org/officeDocument/2006/relationships/notesSlide" Target="/ppt/notesSlides/notesSlide6.xml" Id="R53bf4ba510934a9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E7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ver-paper">
            <a:extLst xmlns:a="http://schemas.openxmlformats.org/drawingml/2006/main">
              <a:ext uri="{FF2B5EF4-FFF2-40B4-BE49-F238E27FC236}">
                <a16:creationId xmlns:a16="http://schemas.microsoft.com/office/drawing/2014/main" id="{D0B439F0-D466-4DC5-8922-02EB8F1F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594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F3E7"/>
          </a:solidFill>
          <a:ln xmlns:a="http://schemas.openxmlformats.org/drawingml/2006/main" w="9525">
            <a:solidFill>
              <a:srgbClr val="D6B897"/>
            </a:solidFill>
            <a:prstDash val="solid"/>
          </a:ln>
        </p:spPr>
      </p:sp>
      <p:sp>
        <p:nvSpPr>
          <p:cNvPr id="2" name="cover-editorial-rule">
            <a:extLst xmlns:a="http://schemas.openxmlformats.org/drawingml/2006/main">
              <a:ext uri="{FF2B5EF4-FFF2-40B4-BE49-F238E27FC236}">
                <a16:creationId xmlns:a16="http://schemas.microsoft.com/office/drawing/2014/main" id="{8397E5E4-BDBA-467B-91F3-72322ABE8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990600"/>
            <a:ext cx="0" cy="4762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3B2E"/>
            </a:solidFill>
            <a:prstDash val="solid"/>
          </a:ln>
        </p:spPr>
      </p:sp>
      <p:sp>
        <p:nvSpPr>
          <p:cNvPr id="3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0DD26B68-CEF2-4CAF-B399-53BDC442F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066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125" b="0">
                <a:solidFill>
                  <a:srgbClr val="8A3B2E"/>
                </a:solidFill>
                <a:latin typeface="SimSun"/>
                <a:ea typeface="SimSun"/>
                <a:cs typeface="SimSun"/>
              </a:defRPr>
            </a:pPr>
            <a:r>
              <a:rPr sz="1125" b="0">
                <a:solidFill>
                  <a:srgbClr val="8A3B2E"/>
                </a:solidFill>
                <a:latin typeface="SimSun"/>
                <a:ea typeface="SimSun"/>
                <a:cs typeface="SimSun"/>
              </a:rPr>
              <a:t>物 理 · 八 年 级</a:t>
            </a:r>
          </a:p>
        </p:txBody>
      </p:sp>
      <p:sp>
        <p:nvSpPr>
          <p:cNvPr id="4" name="cover-title">
            <a:extLst xmlns:a="http://schemas.openxmlformats.org/drawingml/2006/main">
              <a:ext uri="{FF2B5EF4-FFF2-40B4-BE49-F238E27FC236}">
                <a16:creationId xmlns:a16="http://schemas.microsoft.com/office/drawing/2014/main" id="{C5FB12CB-9469-4F20-8F99-01CB64F2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95500"/>
            <a:ext cx="7524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4350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4350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阿基米德原理</a:t>
            </a:r>
          </a:p>
        </p:txBody>
      </p:sp>
      <p:sp>
        <p:nvSpPr>
          <p:cNvPr id="5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FD47F49F-A3BE-4AC8-A28D-61864FA5C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162300"/>
            <a:ext cx="7620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8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从浸入水中的物体，读懂浮力的秘密</a:t>
            </a:r>
          </a:p>
        </p:txBody>
      </p:sp>
      <p:sp>
        <p:nvSpPr>
          <p:cNvPr id="6" name="cover-meta">
            <a:extLst xmlns:a="http://schemas.openxmlformats.org/drawingml/2006/main">
              <a:ext uri="{FF2B5EF4-FFF2-40B4-BE49-F238E27FC236}">
                <a16:creationId xmlns:a16="http://schemas.microsoft.com/office/drawing/2014/main" id="{7F28D697-C8C0-4312-88A2-5CE7CBAA8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2197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rPr>
              <a:t>课启智造 · 10 分钟微课</a:t>
            </a:r>
          </a:p>
        </p:txBody>
      </p:sp>
    </p:spTree>
    <p:extLst>
      <p:ext uri="{BB962C8B-B14F-4D97-AF65-F5344CB8AC3E}">
        <p14:creationId xmlns:p14="http://schemas.microsoft.com/office/powerpoint/2010/main" val="188491320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E7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ditorial-rule-2">
            <a:extLst xmlns:a="http://schemas.openxmlformats.org/drawingml/2006/main">
              <a:ext uri="{FF2B5EF4-FFF2-40B4-BE49-F238E27FC236}">
                <a16:creationId xmlns:a16="http://schemas.microsoft.com/office/drawing/2014/main" id="{9A3FE376-03B6-4CC7-9C0B-4896D61CF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0" cy="582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3B2E"/>
            </a:solidFill>
            <a:prstDash val="solid"/>
          </a:ln>
        </p:spPr>
      </p:sp>
      <p:sp>
        <p:nvSpPr>
          <p:cNvPr id="2" name="section-2">
            <a:extLst xmlns:a="http://schemas.openxmlformats.org/drawingml/2006/main">
              <a:ext uri="{FF2B5EF4-FFF2-40B4-BE49-F238E27FC236}">
                <a16:creationId xmlns:a16="http://schemas.microsoft.com/office/drawing/2014/main" id="{EC24FD10-C5CB-4FD0-836F-9616E3F3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8A3B2E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8A3B2E"/>
                </a:solidFill>
                <a:latin typeface="SimSun"/>
                <a:ea typeface="SimSun"/>
                <a:cs typeface="SimSun"/>
              </a:rPr>
              <a:t>学习目标</a:t>
            </a:r>
          </a:p>
        </p:txBody>
      </p:sp>
      <p:sp>
        <p:nvSpPr>
          <p:cNvPr id="3" name="page-2">
            <a:extLst xmlns:a="http://schemas.openxmlformats.org/drawingml/2006/main">
              <a:ext uri="{FF2B5EF4-FFF2-40B4-BE49-F238E27FC236}">
                <a16:creationId xmlns:a16="http://schemas.microsoft.com/office/drawing/2014/main" id="{52BC7FCC-1A62-477D-9B48-8445368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56457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756457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4" name="title-2">
            <a:extLst xmlns:a="http://schemas.openxmlformats.org/drawingml/2006/main">
              <a:ext uri="{FF2B5EF4-FFF2-40B4-BE49-F238E27FC236}">
                <a16:creationId xmlns:a16="http://schemas.microsoft.com/office/drawing/2014/main" id="{0F58772C-72E4-4F76-ABC9-93C601A48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9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三步建立浮力的完整认识</a:t>
            </a:r>
          </a:p>
        </p:txBody>
      </p:sp>
      <p:sp>
        <p:nvSpPr>
          <p:cNvPr id="5" name="subtitle-2">
            <a:extLst xmlns:a="http://schemas.openxmlformats.org/drawingml/2006/main">
              <a:ext uri="{FF2B5EF4-FFF2-40B4-BE49-F238E27FC236}">
                <a16:creationId xmlns:a16="http://schemas.microsoft.com/office/drawing/2014/main" id="{6B3809F2-380B-4C72-A352-2B09F7A3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理解来源、掌握测量、能够解释</a:t>
            </a:r>
          </a:p>
        </p:txBody>
      </p:sp>
      <p:sp>
        <p:nvSpPr>
          <p:cNvPr id="6" name="goal-surface-0">
            <a:extLst xmlns:a="http://schemas.openxmlformats.org/drawingml/2006/main">
              <a:ext uri="{FF2B5EF4-FFF2-40B4-BE49-F238E27FC236}">
                <a16:creationId xmlns:a16="http://schemas.microsoft.com/office/drawing/2014/main" id="{402315CA-59F0-4632-80B2-E9F5D5FE5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AF3E7"/>
          </a:solidFill>
          <a:ln xmlns:a="http://schemas.openxmlformats.org/drawingml/2006/main" w="9525">
            <a:solidFill>
              <a:srgbClr val="D6B897"/>
            </a:solidFill>
            <a:prstDash val="solid"/>
          </a:ln>
        </p:spPr>
      </p:sp>
      <p:sp>
        <p:nvSpPr>
          <p:cNvPr id="7" name="goal-number-0">
            <a:extLst xmlns:a="http://schemas.openxmlformats.org/drawingml/2006/main">
              <a:ext uri="{FF2B5EF4-FFF2-40B4-BE49-F238E27FC236}">
                <a16:creationId xmlns:a16="http://schemas.microsoft.com/office/drawing/2014/main" id="{FEC62626-0818-47C4-B6AF-85FDDEDE3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8A3B2E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8A3B2E"/>
                </a:solidFill>
                <a:latin typeface="Georgia"/>
                <a:ea typeface="Georgia"/>
                <a:cs typeface="Georgia"/>
              </a:rPr>
              <a:t>01</a:t>
            </a:r>
          </a:p>
        </p:txBody>
      </p:sp>
      <p:sp>
        <p:nvSpPr>
          <p:cNvPr id="8" name="goal-title-0">
            <a:extLst xmlns:a="http://schemas.openxmlformats.org/drawingml/2006/main">
              <a:ext uri="{FF2B5EF4-FFF2-40B4-BE49-F238E27FC236}">
                <a16:creationId xmlns:a16="http://schemas.microsoft.com/office/drawing/2014/main" id="{941709B8-4C75-47DF-8EAA-C64183CBF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看见来源</a:t>
            </a:r>
          </a:p>
        </p:txBody>
      </p:sp>
      <p:sp>
        <p:nvSpPr>
          <p:cNvPr id="9" name="goal-body-0">
            <a:extLst xmlns:a="http://schemas.openxmlformats.org/drawingml/2006/main">
              <a:ext uri="{FF2B5EF4-FFF2-40B4-BE49-F238E27FC236}">
                <a16:creationId xmlns:a16="http://schemas.microsoft.com/office/drawing/2014/main" id="{7940D00D-7FC0-49AA-90BE-63ACC88EB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用上下表面的压力差解释浮力方向</a:t>
            </a:r>
          </a:p>
        </p:txBody>
      </p:sp>
      <p:sp>
        <p:nvSpPr>
          <p:cNvPr id="10" name="goal-surface-1">
            <a:extLst xmlns:a="http://schemas.openxmlformats.org/drawingml/2006/main">
              <a:ext uri="{FF2B5EF4-FFF2-40B4-BE49-F238E27FC236}">
                <a16:creationId xmlns:a16="http://schemas.microsoft.com/office/drawing/2014/main" id="{EE9558C3-C5EA-42F8-A52C-D9BDF74EA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455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AF3E7"/>
          </a:solidFill>
          <a:ln xmlns:a="http://schemas.openxmlformats.org/drawingml/2006/main" w="9525">
            <a:solidFill>
              <a:srgbClr val="D6B897"/>
            </a:solidFill>
            <a:prstDash val="solid"/>
          </a:ln>
        </p:spPr>
      </p:sp>
      <p:sp>
        <p:nvSpPr>
          <p:cNvPr id="11" name="goal-number-1">
            <a:extLst xmlns:a="http://schemas.openxmlformats.org/drawingml/2006/main">
              <a:ext uri="{FF2B5EF4-FFF2-40B4-BE49-F238E27FC236}">
                <a16:creationId xmlns:a16="http://schemas.microsoft.com/office/drawing/2014/main" id="{86580D79-0AC1-4637-8A6C-D70D44373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8A3B2E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8A3B2E"/>
                </a:solidFill>
                <a:latin typeface="Georgia"/>
                <a:ea typeface="Georgia"/>
                <a:cs typeface="Georgia"/>
              </a:rPr>
              <a:t>02</a:t>
            </a:r>
          </a:p>
        </p:txBody>
      </p:sp>
      <p:sp>
        <p:nvSpPr>
          <p:cNvPr id="12" name="goal-title-1">
            <a:extLst xmlns:a="http://schemas.openxmlformats.org/drawingml/2006/main">
              <a:ext uri="{FF2B5EF4-FFF2-40B4-BE49-F238E27FC236}">
                <a16:creationId xmlns:a16="http://schemas.microsoft.com/office/drawing/2014/main" id="{0A270EA0-D1B5-48B2-9397-06A0EEB87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学会测量</a:t>
            </a:r>
          </a:p>
        </p:txBody>
      </p:sp>
      <p:sp>
        <p:nvSpPr>
          <p:cNvPr id="13" name="goal-body-1">
            <a:extLst xmlns:a="http://schemas.openxmlformats.org/drawingml/2006/main">
              <a:ext uri="{FF2B5EF4-FFF2-40B4-BE49-F238E27FC236}">
                <a16:creationId xmlns:a16="http://schemas.microsoft.com/office/drawing/2014/main" id="{71481DB3-1241-4FF4-AA66-078E6326F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315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用弹簧测力计测出物体所受浮力</a:t>
            </a:r>
          </a:p>
        </p:txBody>
      </p:sp>
      <p:sp>
        <p:nvSpPr>
          <p:cNvPr id="14" name="goal-surface-2">
            <a:extLst xmlns:a="http://schemas.openxmlformats.org/drawingml/2006/main">
              <a:ext uri="{FF2B5EF4-FFF2-40B4-BE49-F238E27FC236}">
                <a16:creationId xmlns:a16="http://schemas.microsoft.com/office/drawing/2014/main" id="{16A668AA-DD43-47BC-BC45-D9BFF92F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4200" y="2247900"/>
            <a:ext cx="3282950" cy="3105150"/>
          </a:xfrm>
          <a:prstGeom xmlns:a="http://schemas.openxmlformats.org/drawingml/2006/main" prst="roundRect">
            <a:avLst>
              <a:gd name="adj" fmla="val 6748"/>
            </a:avLst>
          </a:prstGeom>
          <a:solidFill xmlns:a="http://schemas.openxmlformats.org/drawingml/2006/main">
            <a:srgbClr val="FAF3E7"/>
          </a:solidFill>
          <a:ln xmlns:a="http://schemas.openxmlformats.org/drawingml/2006/main" w="9525">
            <a:solidFill>
              <a:srgbClr val="D6B897"/>
            </a:solidFill>
            <a:prstDash val="solid"/>
          </a:ln>
        </p:spPr>
      </p:sp>
      <p:sp>
        <p:nvSpPr>
          <p:cNvPr id="15" name="goal-number-2">
            <a:extLst xmlns:a="http://schemas.openxmlformats.org/drawingml/2006/main">
              <a:ext uri="{FF2B5EF4-FFF2-40B4-BE49-F238E27FC236}">
                <a16:creationId xmlns:a16="http://schemas.microsoft.com/office/drawing/2014/main" id="{1FB04A79-6AFD-4020-980E-A20FF2635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2476500"/>
            <a:ext cx="781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8A3B2E"/>
                </a:solidFill>
                <a:latin typeface="Georgia"/>
                <a:ea typeface="Georgia"/>
                <a:cs typeface="Georgia"/>
              </a:defRPr>
            </a:pPr>
            <a:r>
              <a:rPr sz="2025" b="1">
                <a:solidFill>
                  <a:srgbClr val="8A3B2E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16" name="goal-title-2">
            <a:extLst xmlns:a="http://schemas.openxmlformats.org/drawingml/2006/main">
              <a:ext uri="{FF2B5EF4-FFF2-40B4-BE49-F238E27FC236}">
                <a16:creationId xmlns:a16="http://schemas.microsoft.com/office/drawing/2014/main" id="{0FBB9DD3-3B18-42D6-919B-82441942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143250"/>
            <a:ext cx="2825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建立关系</a:t>
            </a:r>
          </a:p>
        </p:txBody>
      </p:sp>
      <p:sp>
        <p:nvSpPr>
          <p:cNvPr id="17" name="goal-body-2">
            <a:extLst xmlns:a="http://schemas.openxmlformats.org/drawingml/2006/main">
              <a:ext uri="{FF2B5EF4-FFF2-40B4-BE49-F238E27FC236}">
                <a16:creationId xmlns:a16="http://schemas.microsoft.com/office/drawing/2014/main" id="{EFD5D558-1A2C-4154-9D19-ED747E463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3857625"/>
            <a:ext cx="2825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5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验证浮力等于排开液体的重力</a:t>
            </a:r>
          </a:p>
        </p:txBody>
      </p:sp>
    </p:spTree>
    <p:extLst>
      <p:ext uri="{BB962C8B-B14F-4D97-AF65-F5344CB8AC3E}">
        <p14:creationId xmlns:p14="http://schemas.microsoft.com/office/powerpoint/2010/main" val="20506013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E7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ditorial-rule-3">
            <a:extLst xmlns:a="http://schemas.openxmlformats.org/drawingml/2006/main">
              <a:ext uri="{FF2B5EF4-FFF2-40B4-BE49-F238E27FC236}">
                <a16:creationId xmlns:a16="http://schemas.microsoft.com/office/drawing/2014/main" id="{1AE87092-247C-4FA7-BCE5-F3EFE6461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0" cy="582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3B2E"/>
            </a:solidFill>
            <a:prstDash val="solid"/>
          </a:ln>
        </p:spPr>
      </p:sp>
      <p:sp>
        <p:nvSpPr>
          <p:cNvPr id="2" name="section-3">
            <a:extLst xmlns:a="http://schemas.openxmlformats.org/drawingml/2006/main">
              <a:ext uri="{FF2B5EF4-FFF2-40B4-BE49-F238E27FC236}">
                <a16:creationId xmlns:a16="http://schemas.microsoft.com/office/drawing/2014/main" id="{750B88B3-FDBA-467F-ABF7-38C4AC7C5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8A3B2E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8A3B2E"/>
                </a:solidFill>
                <a:latin typeface="SimSun"/>
                <a:ea typeface="SimSun"/>
                <a:cs typeface="SimSun"/>
              </a:rPr>
              <a:t>核心概念</a:t>
            </a:r>
          </a:p>
        </p:txBody>
      </p:sp>
      <p:sp>
        <p:nvSpPr>
          <p:cNvPr id="3" name="page-3">
            <a:extLst xmlns:a="http://schemas.openxmlformats.org/drawingml/2006/main">
              <a:ext uri="{FF2B5EF4-FFF2-40B4-BE49-F238E27FC236}">
                <a16:creationId xmlns:a16="http://schemas.microsoft.com/office/drawing/2014/main" id="{F1CFD384-A9D5-4217-BF97-CDBAD1F84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56457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756457"/>
                </a:solidFill>
                <a:latin typeface="Georgia"/>
                <a:ea typeface="Georgia"/>
                <a:cs typeface="Georgia"/>
              </a:rPr>
              <a:t>03</a:t>
            </a:r>
          </a:p>
        </p:txBody>
      </p:sp>
      <p:sp>
        <p:nvSpPr>
          <p:cNvPr id="4" name="title-3">
            <a:extLst xmlns:a="http://schemas.openxmlformats.org/drawingml/2006/main">
              <a:ext uri="{FF2B5EF4-FFF2-40B4-BE49-F238E27FC236}">
                <a16:creationId xmlns:a16="http://schemas.microsoft.com/office/drawing/2014/main" id="{14F457F4-7774-4794-9B0E-113030CAD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9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浮力来自液体上下表面的压力差</a:t>
            </a:r>
          </a:p>
        </p:txBody>
      </p:sp>
      <p:sp>
        <p:nvSpPr>
          <p:cNvPr id="5" name="subtitle-3">
            <a:extLst xmlns:a="http://schemas.openxmlformats.org/drawingml/2006/main">
              <a:ext uri="{FF2B5EF4-FFF2-40B4-BE49-F238E27FC236}">
                <a16:creationId xmlns:a16="http://schemas.microsoft.com/office/drawing/2014/main" id="{FBB0A384-E3C9-4709-BE86-A18E9C5B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越深的位置，液体产生的压力通常越大</a:t>
            </a:r>
          </a:p>
        </p:txBody>
      </p:sp>
      <p:sp>
        <p:nvSpPr>
          <p:cNvPr id="6" name="split-points">
            <a:extLst xmlns:a="http://schemas.openxmlformats.org/drawingml/2006/main">
              <a:ext uri="{FF2B5EF4-FFF2-40B4-BE49-F238E27FC236}">
                <a16:creationId xmlns:a16="http://schemas.microsoft.com/office/drawing/2014/main" id="{FBF4BA4F-54AE-46A1-9DA9-20A03E3A4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43150"/>
            <a:ext cx="485775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• 液体从各个方向压向物体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• 下表面通常比上表面更深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• 向上的压力大于向下的压力</a:t>
            </a:r>
          </a:p>
        </p:txBody>
      </p:sp>
      <p:sp>
        <p:nvSpPr>
          <p:cNvPr id="7" name="split-divider">
            <a:extLst xmlns:a="http://schemas.openxmlformats.org/drawingml/2006/main">
              <a:ext uri="{FF2B5EF4-FFF2-40B4-BE49-F238E27FC236}">
                <a16:creationId xmlns:a16="http://schemas.microsoft.com/office/drawing/2014/main" id="{01249A74-D7E9-4E62-96AB-01EA1735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2152650"/>
            <a:ext cx="0" cy="3429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6B897"/>
            </a:solidFill>
            <a:prstDash val="solid"/>
          </a:ln>
        </p:spPr>
      </p:sp>
      <p:sp>
        <p:nvSpPr>
          <p:cNvPr id="8" name="water-field">
            <a:extLst xmlns:a="http://schemas.openxmlformats.org/drawingml/2006/main">
              <a:ext uri="{FF2B5EF4-FFF2-40B4-BE49-F238E27FC236}">
                <a16:creationId xmlns:a16="http://schemas.microsoft.com/office/drawing/2014/main" id="{F0883A7E-4DD9-4BC2-B275-5D6D245C6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81300"/>
            <a:ext cx="3905250" cy="2476500"/>
          </a:xfrm>
          <a:prstGeom xmlns:a="http://schemas.openxmlformats.org/drawingml/2006/main" prst="roundRect">
            <a:avLst>
              <a:gd name="adj" fmla="val 6923"/>
            </a:avLst>
          </a:prstGeom>
          <a:solidFill xmlns:a="http://schemas.openxmlformats.org/drawingml/2006/main">
            <a:srgbClr val="D6B8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object">
            <a:extLst xmlns:a="http://schemas.openxmlformats.org/drawingml/2006/main">
              <a:ext uri="{FF2B5EF4-FFF2-40B4-BE49-F238E27FC236}">
                <a16:creationId xmlns:a16="http://schemas.microsoft.com/office/drawing/2014/main" id="{1ED74745-B360-4A7A-9F45-D2968B8D2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33750"/>
            <a:ext cx="1333500" cy="1238250"/>
          </a:xfrm>
          <a:prstGeom xmlns:a="http://schemas.openxmlformats.org/drawingml/2006/main" prst="roundRect">
            <a:avLst>
              <a:gd name="adj" fmla="val 13846"/>
            </a:avLst>
          </a:prstGeom>
          <a:solidFill xmlns:a="http://schemas.openxmlformats.org/drawingml/2006/main">
            <a:srgbClr val="FAF3E7"/>
          </a:solidFill>
          <a:ln xmlns:a="http://schemas.openxmlformats.org/drawingml/2006/main" w="9525">
            <a:solidFill>
              <a:srgbClr val="8A3B2E"/>
            </a:solidFill>
            <a:prstDash val="solid"/>
          </a:ln>
        </p:spPr>
      </p:sp>
      <p:sp>
        <p:nvSpPr>
          <p:cNvPr id="10" name="up-arrow">
            <a:extLst xmlns:a="http://schemas.openxmlformats.org/drawingml/2006/main">
              <a:ext uri="{FF2B5EF4-FFF2-40B4-BE49-F238E27FC236}">
                <a16:creationId xmlns:a16="http://schemas.microsoft.com/office/drawing/2014/main" id="{2E9B594D-6148-49D7-8762-DF6C06A11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1525" y="2038350"/>
            <a:ext cx="762000" cy="112395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down-arrow">
            <a:extLst xmlns:a="http://schemas.openxmlformats.org/drawingml/2006/main">
              <a:ext uri="{FF2B5EF4-FFF2-40B4-BE49-F238E27FC236}">
                <a16:creationId xmlns:a16="http://schemas.microsoft.com/office/drawing/2014/main" id="{A148BE5D-2A16-4EF4-AB2B-C8C654403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76750"/>
            <a:ext cx="533400" cy="723900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7564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up-label">
            <a:extLst xmlns:a="http://schemas.openxmlformats.org/drawingml/2006/main">
              <a:ext uri="{FF2B5EF4-FFF2-40B4-BE49-F238E27FC236}">
                <a16:creationId xmlns:a16="http://schemas.microsoft.com/office/drawing/2014/main" id="{30214201-1336-498B-B4F7-CD36FB7D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52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1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rPr>
              <a:t>向上压力较大</a:t>
            </a:r>
          </a:p>
        </p:txBody>
      </p:sp>
      <p:sp>
        <p:nvSpPr>
          <p:cNvPr id="13" name="down-label">
            <a:extLst xmlns:a="http://schemas.openxmlformats.org/drawingml/2006/main">
              <a:ext uri="{FF2B5EF4-FFF2-40B4-BE49-F238E27FC236}">
                <a16:creationId xmlns:a16="http://schemas.microsoft.com/office/drawing/2014/main" id="{EFFB2F5E-47DB-4072-9893-C3B05A9D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4800600"/>
            <a:ext cx="15621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2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向下压力较小</a:t>
            </a:r>
          </a:p>
        </p:txBody>
      </p:sp>
    </p:spTree>
    <p:extLst>
      <p:ext uri="{BB962C8B-B14F-4D97-AF65-F5344CB8AC3E}">
        <p14:creationId xmlns:p14="http://schemas.microsoft.com/office/powerpoint/2010/main" val="186496941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E7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editorial-rule-4">
            <a:extLst xmlns:a="http://schemas.openxmlformats.org/drawingml/2006/main">
              <a:ext uri="{FF2B5EF4-FFF2-40B4-BE49-F238E27FC236}">
                <a16:creationId xmlns:a16="http://schemas.microsoft.com/office/drawing/2014/main" id="{F9DD2142-6AEB-4286-A7EB-AC56A8F9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0" cy="582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3B2E"/>
            </a:solidFill>
            <a:prstDash val="solid"/>
          </a:ln>
        </p:spPr>
      </p:sp>
      <p:sp>
        <p:nvSpPr>
          <p:cNvPr id="2" name="section-4">
            <a:extLst xmlns:a="http://schemas.openxmlformats.org/drawingml/2006/main">
              <a:ext uri="{FF2B5EF4-FFF2-40B4-BE49-F238E27FC236}">
                <a16:creationId xmlns:a16="http://schemas.microsoft.com/office/drawing/2014/main" id="{7DF84BEA-6323-4318-8F91-43DB94078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8A3B2E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8A3B2E"/>
                </a:solidFill>
                <a:latin typeface="SimSun"/>
                <a:ea typeface="SimSun"/>
                <a:cs typeface="SimSun"/>
              </a:rPr>
              <a:t>实验推理</a:t>
            </a:r>
          </a:p>
        </p:txBody>
      </p:sp>
      <p:sp>
        <p:nvSpPr>
          <p:cNvPr id="3" name="page-4">
            <a:extLst xmlns:a="http://schemas.openxmlformats.org/drawingml/2006/main">
              <a:ext uri="{FF2B5EF4-FFF2-40B4-BE49-F238E27FC236}">
                <a16:creationId xmlns:a16="http://schemas.microsoft.com/office/drawing/2014/main" id="{67C66BB7-C72F-4884-A96E-23285CB41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56457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756457"/>
                </a:solidFill>
                <a:latin typeface="Georgia"/>
                <a:ea typeface="Georgia"/>
                <a:cs typeface="Georgia"/>
              </a:rPr>
              <a:t>04</a:t>
            </a:r>
          </a:p>
        </p:txBody>
      </p:sp>
      <p:sp>
        <p:nvSpPr>
          <p:cNvPr id="4" name="title-4">
            <a:extLst xmlns:a="http://schemas.openxmlformats.org/drawingml/2006/main">
              <a:ext uri="{FF2B5EF4-FFF2-40B4-BE49-F238E27FC236}">
                <a16:creationId xmlns:a16="http://schemas.microsoft.com/office/drawing/2014/main" id="{C966B471-2571-4F43-9F06-C1E96AEC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9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四步溢水法验证阿基米德原理</a:t>
            </a:r>
          </a:p>
        </p:txBody>
      </p:sp>
      <p:sp>
        <p:nvSpPr>
          <p:cNvPr id="5" name="subtitle-4">
            <a:extLst xmlns:a="http://schemas.openxmlformats.org/drawingml/2006/main">
              <a:ext uri="{FF2B5EF4-FFF2-40B4-BE49-F238E27FC236}">
                <a16:creationId xmlns:a16="http://schemas.microsoft.com/office/drawing/2014/main" id="{091BE405-16DB-4BEF-AD72-980EF312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同一个实验，同时得到浮力与排开水重力</a:t>
            </a:r>
          </a:p>
        </p:txBody>
      </p:sp>
      <p:sp>
        <p:nvSpPr>
          <p:cNvPr id="6" name="process-link-0">
            <a:extLst xmlns:a="http://schemas.openxmlformats.org/drawingml/2006/main">
              <a:ext uri="{FF2B5EF4-FFF2-40B4-BE49-F238E27FC236}">
                <a16:creationId xmlns:a16="http://schemas.microsoft.com/office/drawing/2014/main" id="{299634BD-9E09-4337-9106-56C90472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3B2E"/>
            </a:solidFill>
            <a:prstDash val="solid"/>
          </a:ln>
        </p:spPr>
      </p:sp>
      <p:sp>
        <p:nvSpPr>
          <p:cNvPr id="7" name="step-num-0">
            <a:extLst xmlns:a="http://schemas.openxmlformats.org/drawingml/2006/main">
              <a:ext uri="{FF2B5EF4-FFF2-40B4-BE49-F238E27FC236}">
                <a16:creationId xmlns:a16="http://schemas.microsoft.com/office/drawing/2014/main" id="{6A358F6B-6877-4248-92E8-07C0AC8CF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tep-index-0">
            <a:extLst xmlns:a="http://schemas.openxmlformats.org/drawingml/2006/main">
              <a:ext uri="{FF2B5EF4-FFF2-40B4-BE49-F238E27FC236}">
                <a16:creationId xmlns:a16="http://schemas.microsoft.com/office/drawing/2014/main" id="{19D6ADA5-28CB-4141-98BD-EE98F380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9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A3747D99-335B-48F6-B2A7-C7E966C4A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测物重</a:t>
            </a:r>
          </a:p>
        </p:txBody>
      </p:sp>
      <p:sp>
        <p:nvSpPr>
          <p:cNvPr id="10" name="step-body-0">
            <a:extLst xmlns:a="http://schemas.openxmlformats.org/drawingml/2006/main">
              <a:ext uri="{FF2B5EF4-FFF2-40B4-BE49-F238E27FC236}">
                <a16:creationId xmlns:a16="http://schemas.microsoft.com/office/drawing/2014/main" id="{C3BABD2F-EBE4-42DB-AA9D-84F2CF99A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记录物体重力 G</a:t>
            </a:r>
          </a:p>
        </p:txBody>
      </p:sp>
      <p:sp>
        <p:nvSpPr>
          <p:cNvPr id="11" name="process-link-1">
            <a:extLst xmlns:a="http://schemas.openxmlformats.org/drawingml/2006/main">
              <a:ext uri="{FF2B5EF4-FFF2-40B4-BE49-F238E27FC236}">
                <a16:creationId xmlns:a16="http://schemas.microsoft.com/office/drawing/2014/main" id="{0A255019-B92F-4D2C-B5C8-37E109ADB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3B2E"/>
            </a:solidFill>
            <a:prstDash val="solid"/>
          </a:ln>
        </p:spPr>
      </p:sp>
      <p:sp>
        <p:nvSpPr>
          <p:cNvPr id="12" name="step-num-1">
            <a:extLst xmlns:a="http://schemas.openxmlformats.org/drawingml/2006/main">
              <a:ext uri="{FF2B5EF4-FFF2-40B4-BE49-F238E27FC236}">
                <a16:creationId xmlns:a16="http://schemas.microsoft.com/office/drawing/2014/main" id="{BBEEFC87-D2DA-4E66-B4F2-30D3507B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step-index-1">
            <a:extLst xmlns:a="http://schemas.openxmlformats.org/drawingml/2006/main">
              <a:ext uri="{FF2B5EF4-FFF2-40B4-BE49-F238E27FC236}">
                <a16:creationId xmlns:a16="http://schemas.microsoft.com/office/drawing/2014/main" id="{3E384B30-E3EB-4894-AFB8-10B9302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4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2FEF15D9-B959-4EEA-A823-82E3DFFE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测拉力</a:t>
            </a:r>
          </a:p>
        </p:txBody>
      </p:sp>
      <p:sp>
        <p:nvSpPr>
          <p:cNvPr id="15" name="step-body-1">
            <a:extLst xmlns:a="http://schemas.openxmlformats.org/drawingml/2006/main">
              <a:ext uri="{FF2B5EF4-FFF2-40B4-BE49-F238E27FC236}">
                <a16:creationId xmlns:a16="http://schemas.microsoft.com/office/drawing/2014/main" id="{B351E053-43FC-4AB3-B78A-57F7DA65C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浸没后记录 F拉</a:t>
            </a:r>
          </a:p>
        </p:txBody>
      </p:sp>
      <p:sp>
        <p:nvSpPr>
          <p:cNvPr id="16" name="process-link-2">
            <a:extLst xmlns:a="http://schemas.openxmlformats.org/drawingml/2006/main">
              <a:ext uri="{FF2B5EF4-FFF2-40B4-BE49-F238E27FC236}">
                <a16:creationId xmlns:a16="http://schemas.microsoft.com/office/drawing/2014/main" id="{C40E3E0F-18CE-43CA-BCB0-0E5B929FB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3657600"/>
            <a:ext cx="2667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8A3B2E"/>
            </a:solidFill>
            <a:prstDash val="solid"/>
          </a:ln>
        </p:spPr>
      </p:sp>
      <p:sp>
        <p:nvSpPr>
          <p:cNvPr id="17" name="step-num-2">
            <a:extLst xmlns:a="http://schemas.openxmlformats.org/drawingml/2006/main">
              <a:ext uri="{FF2B5EF4-FFF2-40B4-BE49-F238E27FC236}">
                <a16:creationId xmlns:a16="http://schemas.microsoft.com/office/drawing/2014/main" id="{EAB226B8-F52D-4385-8268-43E7830AB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tep-index-2">
            <a:extLst xmlns:a="http://schemas.openxmlformats.org/drawingml/2006/main">
              <a:ext uri="{FF2B5EF4-FFF2-40B4-BE49-F238E27FC236}">
                <a16:creationId xmlns:a16="http://schemas.microsoft.com/office/drawing/2014/main" id="{317FA81D-1C6B-421D-93E6-9649CB230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9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1C04FF3D-378C-4004-8E21-A3EBE60A3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测空桶</a:t>
            </a:r>
          </a:p>
        </p:txBody>
      </p:sp>
      <p:sp>
        <p:nvSpPr>
          <p:cNvPr id="20" name="step-body-2">
            <a:extLst xmlns:a="http://schemas.openxmlformats.org/drawingml/2006/main">
              <a:ext uri="{FF2B5EF4-FFF2-40B4-BE49-F238E27FC236}">
                <a16:creationId xmlns:a16="http://schemas.microsoft.com/office/drawing/2014/main" id="{ECFEE627-33FE-41C7-927F-7B4566549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记录小桶重力 G桶</a:t>
            </a:r>
          </a:p>
        </p:txBody>
      </p:sp>
      <p:sp>
        <p:nvSpPr>
          <p:cNvPr id="21" name="step-num-3">
            <a:extLst xmlns:a="http://schemas.openxmlformats.org/drawingml/2006/main">
              <a:ext uri="{FF2B5EF4-FFF2-40B4-BE49-F238E27FC236}">
                <a16:creationId xmlns:a16="http://schemas.microsoft.com/office/drawing/2014/main" id="{4A873126-6C2C-4F14-A952-6996DF557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5146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step-index-3">
            <a:extLst xmlns:a="http://schemas.openxmlformats.org/drawingml/2006/main">
              <a:ext uri="{FF2B5EF4-FFF2-40B4-BE49-F238E27FC236}">
                <a16:creationId xmlns:a16="http://schemas.microsoft.com/office/drawing/2014/main" id="{781A0DE2-7AF4-4C46-A680-A488C1EED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2600325"/>
            <a:ext cx="6096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75" b="1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sz="1875" b="1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3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76BB2F5A-2085-4522-894D-A9A13915E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371850"/>
            <a:ext cx="24479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0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0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测总重</a:t>
            </a:r>
          </a:p>
        </p:txBody>
      </p:sp>
      <p:sp>
        <p:nvSpPr>
          <p:cNvPr id="24" name="step-body-3">
            <a:extLst xmlns:a="http://schemas.openxmlformats.org/drawingml/2006/main">
              <a:ext uri="{FF2B5EF4-FFF2-40B4-BE49-F238E27FC236}">
                <a16:creationId xmlns:a16="http://schemas.microsoft.com/office/drawing/2014/main" id="{62A3C819-7F0C-4816-ABC7-4FC834A3B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3962400"/>
            <a:ext cx="2333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记录水与桶总重 G总</a:t>
            </a:r>
          </a:p>
        </p:txBody>
      </p:sp>
      <p:sp>
        <p:nvSpPr>
          <p:cNvPr id="25" name="process-result">
            <a:extLst xmlns:a="http://schemas.openxmlformats.org/drawingml/2006/main">
              <a:ext uri="{FF2B5EF4-FFF2-40B4-BE49-F238E27FC236}">
                <a16:creationId xmlns:a16="http://schemas.microsoft.com/office/drawing/2014/main" id="{5C66FBA8-4498-4311-B556-76A56FFF8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219700"/>
            <a:ext cx="10420350" cy="609600"/>
          </a:xfrm>
          <a:prstGeom xmlns:a="http://schemas.openxmlformats.org/drawingml/2006/main" prst="roundRect">
            <a:avLst>
              <a:gd name="adj" fmla="val 28125"/>
            </a:avLst>
          </a:prstGeom>
          <a:solidFill xmlns:a="http://schemas.openxmlformats.org/drawingml/2006/main">
            <a:srgbClr val="D6B8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rocess-formula">
            <a:extLst xmlns:a="http://schemas.openxmlformats.org/drawingml/2006/main">
              <a:ext uri="{FF2B5EF4-FFF2-40B4-BE49-F238E27FC236}">
                <a16:creationId xmlns:a16="http://schemas.microsoft.com/office/drawing/2014/main" id="{57A1D5BB-893A-4EF4-9F85-3F050B4A7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353050"/>
            <a:ext cx="996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650" b="1">
                <a:solidFill>
                  <a:srgbClr val="382A22"/>
                </a:solidFill>
                <a:latin typeface="Georgia"/>
                <a:ea typeface="Georgia"/>
                <a:cs typeface="Georgia"/>
              </a:defRPr>
            </a:pPr>
            <a:r>
              <a:rPr sz="1650" b="1">
                <a:solidFill>
                  <a:srgbClr val="382A22"/>
                </a:solidFill>
                <a:latin typeface="Georgia"/>
                <a:ea typeface="Georgia"/>
                <a:cs typeface="Georgia"/>
              </a:rPr>
              <a:t>F浮 = G − F拉     ｜     G排 = G总 − G桶     ｜     实验结果：F浮 = G排</a:t>
            </a:r>
          </a:p>
        </p:txBody>
      </p:sp>
    </p:spTree>
    <p:extLst>
      <p:ext uri="{BB962C8B-B14F-4D97-AF65-F5344CB8AC3E}">
        <p14:creationId xmlns:p14="http://schemas.microsoft.com/office/powerpoint/2010/main" val="195951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E7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ditorial-rule-5">
            <a:extLst xmlns:a="http://schemas.openxmlformats.org/drawingml/2006/main">
              <a:ext uri="{FF2B5EF4-FFF2-40B4-BE49-F238E27FC236}">
                <a16:creationId xmlns:a16="http://schemas.microsoft.com/office/drawing/2014/main" id="{69E34E0C-EA31-4780-B41B-907466A17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0" cy="582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3B2E"/>
            </a:solidFill>
            <a:prstDash val="solid"/>
          </a:ln>
        </p:spPr>
      </p:sp>
      <p:sp>
        <p:nvSpPr>
          <p:cNvPr id="2" name="section-5">
            <a:extLst xmlns:a="http://schemas.openxmlformats.org/drawingml/2006/main">
              <a:ext uri="{FF2B5EF4-FFF2-40B4-BE49-F238E27FC236}">
                <a16:creationId xmlns:a16="http://schemas.microsoft.com/office/drawing/2014/main" id="{DDFC9134-B455-44A4-9968-86DA032F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8A3B2E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8A3B2E"/>
                </a:solidFill>
                <a:latin typeface="SimSun"/>
                <a:ea typeface="SimSun"/>
                <a:cs typeface="SimSun"/>
              </a:rPr>
              <a:t>课堂练习</a:t>
            </a:r>
          </a:p>
        </p:txBody>
      </p:sp>
      <p:sp>
        <p:nvSpPr>
          <p:cNvPr id="3" name="page-5">
            <a:extLst xmlns:a="http://schemas.openxmlformats.org/drawingml/2006/main">
              <a:ext uri="{FF2B5EF4-FFF2-40B4-BE49-F238E27FC236}">
                <a16:creationId xmlns:a16="http://schemas.microsoft.com/office/drawing/2014/main" id="{72CC43DE-E794-4E2F-BFF7-A48110CDE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56457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756457"/>
                </a:solidFill>
                <a:latin typeface="Georgia"/>
                <a:ea typeface="Georgia"/>
                <a:cs typeface="Georgia"/>
              </a:rPr>
              <a:t>05</a:t>
            </a:r>
          </a:p>
        </p:txBody>
      </p:sp>
      <p:sp>
        <p:nvSpPr>
          <p:cNvPr id="4" name="title-5">
            <a:extLst xmlns:a="http://schemas.openxmlformats.org/drawingml/2006/main">
              <a:ext uri="{FF2B5EF4-FFF2-40B4-BE49-F238E27FC236}">
                <a16:creationId xmlns:a16="http://schemas.microsoft.com/office/drawing/2014/main" id="{ACB8AE52-C594-4961-8221-0ECA0B59E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9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同一物体浸入水中更深，浮力一定变大吗？</a:t>
            </a:r>
          </a:p>
        </p:txBody>
      </p:sp>
      <p:sp>
        <p:nvSpPr>
          <p:cNvPr id="5" name="subtitle-5">
            <a:extLst xmlns:a="http://schemas.openxmlformats.org/drawingml/2006/main">
              <a:ext uri="{FF2B5EF4-FFF2-40B4-BE49-F238E27FC236}">
                <a16:creationId xmlns:a16="http://schemas.microsoft.com/office/drawing/2014/main" id="{E0322866-115E-4558-B550-6A2B5172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先判断，再说明你关注的是“深度”还是“排开水的体积”</a:t>
            </a:r>
          </a:p>
        </p:txBody>
      </p:sp>
      <p:sp>
        <p:nvSpPr>
          <p:cNvPr id="6" name="question-accent">
            <a:extLst xmlns:a="http://schemas.openxmlformats.org/drawingml/2006/main">
              <a:ext uri="{FF2B5EF4-FFF2-40B4-BE49-F238E27FC236}">
                <a16:creationId xmlns:a16="http://schemas.microsoft.com/office/drawing/2014/main" id="{1B168795-D0F4-4879-B405-233C2B7D4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66950"/>
            <a:ext cx="1143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question">
            <a:extLst xmlns:a="http://schemas.openxmlformats.org/drawingml/2006/main">
              <a:ext uri="{FF2B5EF4-FFF2-40B4-BE49-F238E27FC236}">
                <a16:creationId xmlns:a16="http://schemas.microsoft.com/office/drawing/2014/main" id="{3B0289E3-EB41-473A-82E4-C4F62762F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3431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100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100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一个木块完全浸没在水中后，继续向下移动但不接触容器底。它受到的浮力如何变化？</a:t>
            </a:r>
          </a:p>
        </p:txBody>
      </p:sp>
      <p:sp>
        <p:nvSpPr>
          <p:cNvPr id="8" name="hint">
            <a:extLst xmlns:a="http://schemas.openxmlformats.org/drawingml/2006/main">
              <a:ext uri="{FF2B5EF4-FFF2-40B4-BE49-F238E27FC236}">
                <a16:creationId xmlns:a16="http://schemas.microsoft.com/office/drawing/2014/main" id="{F96A8B78-A4B0-443C-AC8C-1B3647865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48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575" b="0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rPr>
              <a:t>提示：完全浸没后，V排 是否改变？</a:t>
            </a:r>
          </a:p>
        </p:txBody>
      </p:sp>
      <p:sp>
        <p:nvSpPr>
          <p:cNvPr id="9" name="option-index-0">
            <a:extLst xmlns:a="http://schemas.openxmlformats.org/drawingml/2006/main">
              <a:ext uri="{FF2B5EF4-FFF2-40B4-BE49-F238E27FC236}">
                <a16:creationId xmlns:a16="http://schemas.microsoft.com/office/drawing/2014/main" id="{CD25EF8C-6156-4D68-A4BF-9225D254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3812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B8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option-letter-0">
            <a:extLst xmlns:a="http://schemas.openxmlformats.org/drawingml/2006/main">
              <a:ext uri="{FF2B5EF4-FFF2-40B4-BE49-F238E27FC236}">
                <a16:creationId xmlns:a16="http://schemas.microsoft.com/office/drawing/2014/main" id="{75039F5D-484C-48CC-BDEA-E9B4782F2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2457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82A22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382A22"/>
                </a:solidFill>
                <a:latin typeface="Georgia"/>
                <a:ea typeface="Georgia"/>
                <a:cs typeface="Georgia"/>
              </a:rPr>
              <a:t>A</a:t>
            </a:r>
          </a:p>
        </p:txBody>
      </p:sp>
      <p:sp>
        <p:nvSpPr>
          <p:cNvPr id="11" name="option-text-0">
            <a:extLst xmlns:a="http://schemas.openxmlformats.org/drawingml/2006/main">
              <a:ext uri="{FF2B5EF4-FFF2-40B4-BE49-F238E27FC236}">
                <a16:creationId xmlns:a16="http://schemas.microsoft.com/office/drawing/2014/main" id="{5777CA26-09F8-441C-8507-E744AC687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43840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变大</a:t>
            </a:r>
          </a:p>
        </p:txBody>
      </p:sp>
      <p:sp>
        <p:nvSpPr>
          <p:cNvPr id="12" name="option-index-1">
            <a:extLst xmlns:a="http://schemas.openxmlformats.org/drawingml/2006/main">
              <a:ext uri="{FF2B5EF4-FFF2-40B4-BE49-F238E27FC236}">
                <a16:creationId xmlns:a16="http://schemas.microsoft.com/office/drawing/2014/main" id="{579779CB-0900-4870-9BBF-30B065C0C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8137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option-letter-1">
            <a:extLst xmlns:a="http://schemas.openxmlformats.org/drawingml/2006/main">
              <a:ext uri="{FF2B5EF4-FFF2-40B4-BE49-F238E27FC236}">
                <a16:creationId xmlns:a16="http://schemas.microsoft.com/office/drawing/2014/main" id="{141AD486-4B4C-431D-9F5E-7BBFE8B2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457575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FFF9F0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FFF9F0"/>
                </a:solidFill>
                <a:latin typeface="Georgia"/>
                <a:ea typeface="Georgia"/>
                <a:cs typeface="Georgia"/>
              </a:rPr>
              <a:t>B</a:t>
            </a:r>
          </a:p>
        </p:txBody>
      </p:sp>
      <p:sp>
        <p:nvSpPr>
          <p:cNvPr id="14" name="option-text-1">
            <a:extLst xmlns:a="http://schemas.openxmlformats.org/drawingml/2006/main">
              <a:ext uri="{FF2B5EF4-FFF2-40B4-BE49-F238E27FC236}">
                <a16:creationId xmlns:a16="http://schemas.microsoft.com/office/drawing/2014/main" id="{D4C8E437-5DBE-415B-829A-A095328D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438525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1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8A3B2E"/>
                </a:solidFill>
                <a:latin typeface="Microsoft YaHei"/>
                <a:ea typeface="Microsoft YaHei"/>
                <a:cs typeface="Microsoft YaHei"/>
              </a:rPr>
              <a:t>不变</a:t>
            </a:r>
          </a:p>
        </p:txBody>
      </p:sp>
      <p:sp>
        <p:nvSpPr>
          <p:cNvPr id="15" name="option-index-2">
            <a:extLst xmlns:a="http://schemas.openxmlformats.org/drawingml/2006/main">
              <a:ext uri="{FF2B5EF4-FFF2-40B4-BE49-F238E27FC236}">
                <a16:creationId xmlns:a16="http://schemas.microsoft.com/office/drawing/2014/main" id="{4920FC62-D631-4DF2-A15A-41B7E1AB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3815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6B89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option-letter-2">
            <a:extLst xmlns:a="http://schemas.openxmlformats.org/drawingml/2006/main">
              <a:ext uri="{FF2B5EF4-FFF2-40B4-BE49-F238E27FC236}">
                <a16:creationId xmlns:a16="http://schemas.microsoft.com/office/drawing/2014/main" id="{E7C6B8FA-18B1-48B0-AE35-5BA42A7FB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457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725" b="1">
                <a:solidFill>
                  <a:srgbClr val="382A22"/>
                </a:solidFill>
                <a:latin typeface="Georgia"/>
                <a:ea typeface="Georgia"/>
                <a:cs typeface="Georgia"/>
              </a:defRPr>
            </a:pPr>
            <a:r>
              <a:rPr sz="1725" b="1">
                <a:solidFill>
                  <a:srgbClr val="382A22"/>
                </a:solidFill>
                <a:latin typeface="Georgia"/>
                <a:ea typeface="Georgia"/>
                <a:cs typeface="Georgia"/>
              </a:rPr>
              <a:t>C</a:t>
            </a:r>
          </a:p>
        </p:txBody>
      </p:sp>
      <p:sp>
        <p:nvSpPr>
          <p:cNvPr id="17" name="option-text-2">
            <a:extLst xmlns:a="http://schemas.openxmlformats.org/drawingml/2006/main">
              <a:ext uri="{FF2B5EF4-FFF2-40B4-BE49-F238E27FC236}">
                <a16:creationId xmlns:a16="http://schemas.microsoft.com/office/drawing/2014/main" id="{DC6C7307-B445-483A-9667-60407FA5F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438650"/>
            <a:ext cx="2190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1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变小</a:t>
            </a:r>
          </a:p>
        </p:txBody>
      </p:sp>
    </p:spTree>
    <p:extLst>
      <p:ext uri="{BB962C8B-B14F-4D97-AF65-F5344CB8AC3E}">
        <p14:creationId xmlns:p14="http://schemas.microsoft.com/office/powerpoint/2010/main" val="51936103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E7D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editorial-rule-6">
            <a:extLst xmlns:a="http://schemas.openxmlformats.org/drawingml/2006/main">
              <a:ext uri="{FF2B5EF4-FFF2-40B4-BE49-F238E27FC236}">
                <a16:creationId xmlns:a16="http://schemas.microsoft.com/office/drawing/2014/main" id="{CB43EC34-9CE2-44CD-9E43-7DCAE487F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"/>
            <a:ext cx="0" cy="5829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A3B2E"/>
            </a:solidFill>
            <a:prstDash val="solid"/>
          </a:ln>
        </p:spPr>
      </p:sp>
      <p:sp>
        <p:nvSpPr>
          <p:cNvPr id="2" name="section-6">
            <a:extLst xmlns:a="http://schemas.openxmlformats.org/drawingml/2006/main">
              <a:ext uri="{FF2B5EF4-FFF2-40B4-BE49-F238E27FC236}">
                <a16:creationId xmlns:a16="http://schemas.microsoft.com/office/drawing/2014/main" id="{953BD5D3-7B71-439F-958D-2A0C16DE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53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050" b="0">
                <a:solidFill>
                  <a:srgbClr val="8A3B2E"/>
                </a:solidFill>
                <a:latin typeface="SimSun"/>
                <a:ea typeface="SimSun"/>
                <a:cs typeface="SimSun"/>
              </a:defRPr>
            </a:pPr>
            <a:r>
              <a:rPr sz="1050" b="0">
                <a:solidFill>
                  <a:srgbClr val="8A3B2E"/>
                </a:solidFill>
                <a:latin typeface="SimSun"/>
                <a:ea typeface="SimSun"/>
                <a:cs typeface="SimSun"/>
              </a:rPr>
              <a:t>课堂小结</a:t>
            </a:r>
          </a:p>
        </p:txBody>
      </p:sp>
      <p:sp>
        <p:nvSpPr>
          <p:cNvPr id="3" name="page-6">
            <a:extLst xmlns:a="http://schemas.openxmlformats.org/drawingml/2006/main">
              <a:ext uri="{FF2B5EF4-FFF2-40B4-BE49-F238E27FC236}">
                <a16:creationId xmlns:a16="http://schemas.microsoft.com/office/drawing/2014/main" id="{11D9FFD3-D247-4B8F-8CCE-86EF9532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619125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12000"/>
              </a:lnSpc>
              <a:buNone/>
              <a:defRPr sz="1050" b="1">
                <a:solidFill>
                  <a:srgbClr val="756457"/>
                </a:solidFill>
                <a:latin typeface="Georgia"/>
                <a:ea typeface="Georgia"/>
                <a:cs typeface="Georgia"/>
              </a:defRPr>
            </a:pPr>
            <a:r>
              <a:rPr sz="1050" b="1">
                <a:solidFill>
                  <a:srgbClr val="756457"/>
                </a:solidFill>
                <a:latin typeface="Georgia"/>
                <a:ea typeface="Georgia"/>
                <a:cs typeface="Georgia"/>
              </a:rPr>
              <a:t>06</a:t>
            </a:r>
          </a:p>
        </p:txBody>
      </p:sp>
      <p:sp>
        <p:nvSpPr>
          <p:cNvPr id="4" name="title-6">
            <a:extLst xmlns:a="http://schemas.openxmlformats.org/drawingml/2006/main">
              <a:ext uri="{FF2B5EF4-FFF2-40B4-BE49-F238E27FC236}">
                <a16:creationId xmlns:a16="http://schemas.microsoft.com/office/drawing/2014/main" id="{A60290ED-787E-48AB-B252-F3C40596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914400"/>
            <a:ext cx="971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2925" b="1">
                <a:solidFill>
                  <a:srgbClr val="382A22"/>
                </a:solidFill>
                <a:latin typeface="SimSun"/>
                <a:ea typeface="SimSun"/>
                <a:cs typeface="SimSun"/>
              </a:defRPr>
            </a:pPr>
            <a:r>
              <a:rPr sz="2925" b="1">
                <a:solidFill>
                  <a:srgbClr val="382A22"/>
                </a:solidFill>
                <a:latin typeface="SimSun"/>
                <a:ea typeface="SimSun"/>
                <a:cs typeface="SimSun"/>
              </a:rPr>
              <a:t>一条关系串起浮力的来源、测量与大小</a:t>
            </a:r>
          </a:p>
        </p:txBody>
      </p:sp>
      <p:sp>
        <p:nvSpPr>
          <p:cNvPr id="5" name="subtitle-6">
            <a:extLst xmlns:a="http://schemas.openxmlformats.org/drawingml/2006/main">
              <a:ext uri="{FF2B5EF4-FFF2-40B4-BE49-F238E27FC236}">
                <a16:creationId xmlns:a16="http://schemas.microsoft.com/office/drawing/2014/main" id="{E19ED040-B9E1-4298-A0C5-BA4CB8F58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5240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2000"/>
              </a:lnSpc>
              <a:buNone/>
              <a:def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从现象走向可验证的物理关系</a:t>
            </a:r>
          </a:p>
        </p:txBody>
      </p:sp>
      <p:sp>
        <p:nvSpPr>
          <p:cNvPr id="6" name="summary-formula">
            <a:extLst xmlns:a="http://schemas.openxmlformats.org/drawingml/2006/main">
              <a:ext uri="{FF2B5EF4-FFF2-40B4-BE49-F238E27FC236}">
                <a16:creationId xmlns:a16="http://schemas.microsoft.com/office/drawing/2014/main" id="{32985250-9C6A-4BC4-86D9-E29E1147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247900"/>
            <a:ext cx="10401300" cy="10668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AF3E7"/>
          </a:solidFill>
          <a:ln xmlns:a="http://schemas.openxmlformats.org/drawingml/2006/main" w="9525">
            <a:solidFill>
              <a:srgbClr val="D6B897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3450" b="1">
                <a:solidFill>
                  <a:srgbClr val="8A3B2E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8A3B2E"/>
                </a:solidFill>
                <a:latin typeface="Georgia"/>
                <a:ea typeface="Georgia"/>
                <a:cs typeface="Georgia"/>
              </a:rPr>
              <a:t>F浮 = G排 = ρ液 g V排</a:t>
            </a:r>
          </a:p>
        </p:txBody>
      </p:sp>
      <p:sp>
        <p:nvSpPr>
          <p:cNvPr id="7" name="summary-dot-0">
            <a:extLst xmlns:a="http://schemas.openxmlformats.org/drawingml/2006/main">
              <a:ext uri="{FF2B5EF4-FFF2-40B4-BE49-F238E27FC236}">
                <a16:creationId xmlns:a16="http://schemas.microsoft.com/office/drawing/2014/main" id="{DD5720BE-97C4-4CC1-AFB6-E70E46DAF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summary-point-0">
            <a:extLst xmlns:a="http://schemas.openxmlformats.org/drawingml/2006/main">
              <a:ext uri="{FF2B5EF4-FFF2-40B4-BE49-F238E27FC236}">
                <a16:creationId xmlns:a16="http://schemas.microsoft.com/office/drawing/2014/main" id="{08F80CFB-52B5-4620-B02F-779B20D0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来源：上下表面的压力差</a:t>
            </a:r>
          </a:p>
        </p:txBody>
      </p:sp>
      <p:sp>
        <p:nvSpPr>
          <p:cNvPr id="9" name="summary-dot-1">
            <a:extLst xmlns:a="http://schemas.openxmlformats.org/drawingml/2006/main">
              <a:ext uri="{FF2B5EF4-FFF2-40B4-BE49-F238E27FC236}">
                <a16:creationId xmlns:a16="http://schemas.microsoft.com/office/drawing/2014/main" id="{A601A461-71ED-45ED-84C0-DB2CA0D7D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ummary-point-1">
            <a:extLst xmlns:a="http://schemas.openxmlformats.org/drawingml/2006/main">
              <a:ext uri="{FF2B5EF4-FFF2-40B4-BE49-F238E27FC236}">
                <a16:creationId xmlns:a16="http://schemas.microsoft.com/office/drawing/2014/main" id="{940D76E2-7B5C-4D63-B904-220A323FC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测量：F浮 = G − F拉</a:t>
            </a:r>
          </a:p>
        </p:txBody>
      </p:sp>
      <p:sp>
        <p:nvSpPr>
          <p:cNvPr id="11" name="summary-dot-2">
            <a:extLst xmlns:a="http://schemas.openxmlformats.org/drawingml/2006/main">
              <a:ext uri="{FF2B5EF4-FFF2-40B4-BE49-F238E27FC236}">
                <a16:creationId xmlns:a16="http://schemas.microsoft.com/office/drawing/2014/main" id="{7AAD7BDB-504F-4524-A03B-911AF4A69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38600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A3B2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summary-point-2">
            <a:extLst xmlns:a="http://schemas.openxmlformats.org/drawingml/2006/main">
              <a:ext uri="{FF2B5EF4-FFF2-40B4-BE49-F238E27FC236}">
                <a16:creationId xmlns:a16="http://schemas.microsoft.com/office/drawing/2014/main" id="{11B82F17-205C-498F-873E-B9A9F1D19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981450"/>
            <a:ext cx="27432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650" b="1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382A22"/>
                </a:solidFill>
                <a:latin typeface="Microsoft YaHei"/>
                <a:ea typeface="Microsoft YaHei"/>
                <a:cs typeface="Microsoft YaHei"/>
              </a:rPr>
              <a:t>规律：等于排开液体的重力</a:t>
            </a:r>
          </a:p>
        </p:txBody>
      </p:sp>
      <p:sp>
        <p:nvSpPr>
          <p:cNvPr id="13" name="summary-close">
            <a:extLst xmlns:a="http://schemas.openxmlformats.org/drawingml/2006/main">
              <a:ext uri="{FF2B5EF4-FFF2-40B4-BE49-F238E27FC236}">
                <a16:creationId xmlns:a16="http://schemas.microsoft.com/office/drawing/2014/main" id="{E5B8E945-53D0-4A90-9CD3-3BE4BCB2F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429250"/>
            <a:ext cx="10382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12000"/>
              </a:lnSpc>
              <a:buNone/>
              <a:defRPr sz="18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756457"/>
                </a:solidFill>
                <a:latin typeface="Microsoft YaHei"/>
                <a:ea typeface="Microsoft YaHei"/>
                <a:cs typeface="Microsoft YaHei"/>
              </a:rPr>
              <a:t>下一次看到漂浮或下沉，先问：它排开了多少液体？</a:t>
            </a:r>
          </a:p>
        </p:txBody>
      </p:sp>
    </p:spTree>
    <p:extLst>
      <p:ext uri="{BB962C8B-B14F-4D97-AF65-F5344CB8AC3E}">
        <p14:creationId xmlns:p14="http://schemas.microsoft.com/office/powerpoint/2010/main" val="187133594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2026-08-03T15:21:09.6920000Z</dcterms:created>
  <dcterms:modified xsi:type="dcterms:W3CDTF">2026-08-03T15:21:09.6920000Z</dcterms:modified>
</coreProperties>
</file>