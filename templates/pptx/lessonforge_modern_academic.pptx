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0df07ab294975" /><Relationship Type="http://schemas.openxmlformats.org/officeDocument/2006/relationships/extended-properties" Target="/docProps/app.xml" Id="R64263db6f4244614" /><Relationship Type="http://schemas.openxmlformats.org/officeDocument/2006/relationships/officeDocument" Target="/ppt/presentation.xml" Id="R57f1c9efbae64c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1cab5489c4ff9"/>
  </p:sldMasterIdLst>
  <p:notesMasterIdLst>
    <p:notesMasterId xmlns:r="http://schemas.openxmlformats.org/officeDocument/2006/relationships" r:id="R800b376ebbc54509"/>
  </p:notesMasterIdLst>
  <p:sldIdLst>
    <p:sldId xmlns:r="http://schemas.openxmlformats.org/officeDocument/2006/relationships" id="256" r:id="R83050ad1229b4ac6"/>
    <p:sldId xmlns:r="http://schemas.openxmlformats.org/officeDocument/2006/relationships" id="257" r:id="R09ebdbb2cdca45b5"/>
    <p:sldId xmlns:r="http://schemas.openxmlformats.org/officeDocument/2006/relationships" id="258" r:id="R141196e6f86c4ebe"/>
    <p:sldId xmlns:r="http://schemas.openxmlformats.org/officeDocument/2006/relationships" id="259" r:id="Ra9071c8b11304cc2"/>
    <p:sldId xmlns:r="http://schemas.openxmlformats.org/officeDocument/2006/relationships" id="260" r:id="R7d950fe73d244e43"/>
    <p:sldId xmlns:r="http://schemas.openxmlformats.org/officeDocument/2006/relationships" id="261" r:id="R1540e30a42b643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ad79572e224cb2" /><Relationship Type="http://schemas.openxmlformats.org/officeDocument/2006/relationships/slideMaster" Target="/ppt/slideMasters/slideMaster1.xml" Id="Rb281cab5489c4ff9" /><Relationship Type="http://schemas.openxmlformats.org/officeDocument/2006/relationships/notesMaster" Target="/ppt/notesMasters/notesMaster1.xml" Id="R800b376ebbc54509" /><Relationship Type="http://schemas.openxmlformats.org/officeDocument/2006/relationships/presProps" Target="/ppt/presProps.xml" Id="Ra1d92d19d2314798" /><Relationship Type="http://schemas.openxmlformats.org/officeDocument/2006/relationships/tableStyles" Target="/ppt/tableStyles.xml" Id="R30a69f6d15c04a91" /><Relationship Type="http://schemas.openxmlformats.org/officeDocument/2006/relationships/slide" Target="/ppt/slides/slide1.xml" Id="R83050ad1229b4ac6" /><Relationship Type="http://schemas.openxmlformats.org/officeDocument/2006/relationships/slide" Target="/ppt/slides/slide2.xml" Id="R09ebdbb2cdca45b5" /><Relationship Type="http://schemas.openxmlformats.org/officeDocument/2006/relationships/slide" Target="/ppt/slides/slide3.xml" Id="R141196e6f86c4ebe" /><Relationship Type="http://schemas.openxmlformats.org/officeDocument/2006/relationships/slide" Target="/ppt/slides/slide4.xml" Id="Ra9071c8b11304cc2" /><Relationship Type="http://schemas.openxmlformats.org/officeDocument/2006/relationships/slide" Target="/ppt/slides/slide5.xml" Id="R7d950fe73d244e43" /><Relationship Type="http://schemas.openxmlformats.org/officeDocument/2006/relationships/slide" Target="/ppt/slides/slide6.xml" Id="R1540e30a42b643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986d945124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3922ba58c4d56" /><Relationship Type="http://schemas.openxmlformats.org/officeDocument/2006/relationships/notesMaster" Target="/ppt/notesMasters/notesMaster1.xml" Id="R02d329556ebb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9b9132dbd54acd" /><Relationship Type="http://schemas.openxmlformats.org/officeDocument/2006/relationships/notesMaster" Target="/ppt/notesMasters/notesMaster1.xml" Id="R85eb4fc2cbfd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696858731e4fbe" /><Relationship Type="http://schemas.openxmlformats.org/officeDocument/2006/relationships/notesMaster" Target="/ppt/notesMasters/notesMaster1.xml" Id="Rbd3ea73be21849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f94fd5e6dc4e59" /><Relationship Type="http://schemas.openxmlformats.org/officeDocument/2006/relationships/notesMaster" Target="/ppt/notesMasters/notesMaster1.xml" Id="R6f7f40a24f1b49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515278c214bfb" /><Relationship Type="http://schemas.openxmlformats.org/officeDocument/2006/relationships/notesMaster" Target="/ppt/notesMasters/notesMaster1.xml" Id="R87e78bb092f846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a456c923e84878" /><Relationship Type="http://schemas.openxmlformats.org/officeDocument/2006/relationships/notesMaster" Target="/ppt/notesMasters/notesMaster1.xml" Id="R05158aec478740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用生活中的漂浮现象引出问题：浮力到底有多大？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目标不要求学生机械记忆；强调观察、测量与解释之间的联系。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借助上下表面压力差说明浮力方向，避免把浮力误解为液体主动托举。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1—4 的顺序记录数据，最后比较两组差值是否相等。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答案是不变。完全浸没后排开水的体积不变，液体密度也不变，因此浮力不变。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用公式回扣三个问题：浮力从哪里来、怎样测、由什么决定。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edbf3f3314f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e27eccea654c3f" /><Relationship Type="http://schemas.openxmlformats.org/officeDocument/2006/relationships/slideLayout" Target="/ppt/slideLayouts/slideLayout1.xml" Id="R10b124a1be3747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124a1be3747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436bad74f4809" /><Relationship Type="http://schemas.openxmlformats.org/officeDocument/2006/relationships/notesSlide" Target="/ppt/notesSlides/notesSlide1.xml" Id="R03b01b2c5c1345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88300f3184749" /><Relationship Type="http://schemas.openxmlformats.org/officeDocument/2006/relationships/notesSlide" Target="/ppt/notesSlides/notesSlide2.xml" Id="R7523148afddb45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ccd6dd1834d43" /><Relationship Type="http://schemas.openxmlformats.org/officeDocument/2006/relationships/notesSlide" Target="/ppt/notesSlides/notesSlide3.xml" Id="Rf3793f03593341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3bc00ad36417a" /><Relationship Type="http://schemas.openxmlformats.org/officeDocument/2006/relationships/notesSlide" Target="/ppt/notesSlides/notesSlide4.xml" Id="Rb9327dc8353543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9a58b89f74c6a" /><Relationship Type="http://schemas.openxmlformats.org/officeDocument/2006/relationships/notesSlide" Target="/ppt/notesSlides/notesSlide5.xml" Id="Ra10c21311e054d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8e65f1adf4181" /><Relationship Type="http://schemas.openxmlformats.org/officeDocument/2006/relationships/notesSlide" Target="/ppt/notesSlides/notesSlide6.xml" Id="R566bb4694bae4a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primary">
            <a:extLst xmlns:a="http://schemas.openxmlformats.org/drawingml/2006/main">
              <a:ext uri="{FF2B5EF4-FFF2-40B4-BE49-F238E27FC236}">
                <a16:creationId xmlns:a16="http://schemas.microsoft.com/office/drawing/2014/main" id="{A897DBEB-625F-410A-83C1-8556077E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econdary">
            <a:extLst xmlns:a="http://schemas.openxmlformats.org/drawingml/2006/main">
              <a:ext uri="{FF2B5EF4-FFF2-40B4-BE49-F238E27FC236}">
                <a16:creationId xmlns:a16="http://schemas.microsoft.com/office/drawing/2014/main" id="{EB104319-C53E-460E-B0B1-2580E06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0"/>
            <a:ext cx="142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2B766F6-55C5-4C05-8A70-CA1F497A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示范课堂 / 八年级物理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F00E278-467C-48D8-8B16-63E60C2C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阿基米德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AE18EE1-B3D0-4465-873C-362785D7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用四步溢水法验证浮力</a:t>
            </a:r>
          </a:p>
        </p:txBody>
      </p:sp>
      <p:sp>
        <p:nvSpPr>
          <p:cNvPr id="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2DB6FC96-418C-4FA9-A90C-F7522E2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686300"/>
            <a:ext cx="142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5700" b="1">
                <a:solidFill>
                  <a:srgbClr val="E9DDFE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E9DDF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4988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offset-2">
            <a:extLst xmlns:a="http://schemas.openxmlformats.org/drawingml/2006/main">
              <a:ext uri="{FF2B5EF4-FFF2-40B4-BE49-F238E27FC236}">
                <a16:creationId xmlns:a16="http://schemas.microsoft.com/office/drawing/2014/main" id="{1AE1C898-B3D4-4B1D-BFE2-46F6A875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rner-2">
            <a:extLst xmlns:a="http://schemas.openxmlformats.org/drawingml/2006/main">
              <a:ext uri="{FF2B5EF4-FFF2-40B4-BE49-F238E27FC236}">
                <a16:creationId xmlns:a16="http://schemas.microsoft.com/office/drawing/2014/main" id="{6FC31AF7-BC67-4FF0-A274-07461277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4BD6EE6C-2769-4DB6-8852-14D5C783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45F4C04-9F99-4664-8B87-7F7B70D0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75" b="1">
                <a:solidFill>
                  <a:srgbClr val="6E647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64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4DCF137B-38E7-41AB-AE3E-F3F30A40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三步建立浮力的完整认识</a:t>
            </a:r>
          </a:p>
        </p:txBody>
      </p:sp>
      <p:sp>
        <p:nvSpPr>
          <p:cNvPr id="6" name="subtitle-2">
            <a:extLst xmlns:a="http://schemas.openxmlformats.org/drawingml/2006/main">
              <a:ext uri="{FF2B5EF4-FFF2-40B4-BE49-F238E27FC236}">
                <a16:creationId xmlns:a16="http://schemas.microsoft.com/office/drawing/2014/main" id="{EDB948A1-6217-461B-98DA-94AA0FE9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理解来源、掌握测量、能够解释</a:t>
            </a:r>
          </a:p>
        </p:txBody>
      </p:sp>
      <p:sp>
        <p:nvSpPr>
          <p:cNvPr id="7" name="goal-surface-0">
            <a:extLst xmlns:a="http://schemas.openxmlformats.org/drawingml/2006/main">
              <a:ext uri="{FF2B5EF4-FFF2-40B4-BE49-F238E27FC236}">
                <a16:creationId xmlns:a16="http://schemas.microsoft.com/office/drawing/2014/main" id="{31F46992-A4AB-49BF-96C2-8F52C60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FE"/>
            </a:solidFill>
            <a:prstDash val="solid"/>
          </a:ln>
        </p:spPr>
      </p:sp>
      <p:sp>
        <p:nvSpPr>
          <p:cNvPr id="8" name="goal-number-0">
            <a:extLst xmlns:a="http://schemas.openxmlformats.org/drawingml/2006/main">
              <a:ext uri="{FF2B5EF4-FFF2-40B4-BE49-F238E27FC236}">
                <a16:creationId xmlns:a16="http://schemas.microsoft.com/office/drawing/2014/main" id="{E513756A-8371-4B1C-B09B-4233F854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6D28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goal-title-0">
            <a:extLst xmlns:a="http://schemas.openxmlformats.org/drawingml/2006/main">
              <a:ext uri="{FF2B5EF4-FFF2-40B4-BE49-F238E27FC236}">
                <a16:creationId xmlns:a16="http://schemas.microsoft.com/office/drawing/2014/main" id="{9CA833C0-D1D4-42A6-9B3C-79A59A20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看见来源</a:t>
            </a:r>
          </a:p>
        </p:txBody>
      </p:sp>
      <p:sp>
        <p:nvSpPr>
          <p:cNvPr id="10" name="goal-body-0">
            <a:extLst xmlns:a="http://schemas.openxmlformats.org/drawingml/2006/main">
              <a:ext uri="{FF2B5EF4-FFF2-40B4-BE49-F238E27FC236}">
                <a16:creationId xmlns:a16="http://schemas.microsoft.com/office/drawing/2014/main" id="{B39CFF99-FD90-4CE6-9B5A-A0FA1192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用上下表面的压力差解释浮力方向</a:t>
            </a:r>
          </a:p>
        </p:txBody>
      </p:sp>
      <p:sp>
        <p:nvSpPr>
          <p:cNvPr id="11" name="goal-surface-1">
            <a:extLst xmlns:a="http://schemas.openxmlformats.org/drawingml/2006/main">
              <a:ext uri="{FF2B5EF4-FFF2-40B4-BE49-F238E27FC236}">
                <a16:creationId xmlns:a16="http://schemas.microsoft.com/office/drawing/2014/main" id="{4EFBE4E6-D65C-4BFD-BD28-89B36905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FE"/>
            </a:solidFill>
            <a:prstDash val="solid"/>
          </a:ln>
        </p:spPr>
      </p:sp>
      <p:sp>
        <p:nvSpPr>
          <p:cNvPr id="12" name="goal-number-1">
            <a:extLst xmlns:a="http://schemas.openxmlformats.org/drawingml/2006/main">
              <a:ext uri="{FF2B5EF4-FFF2-40B4-BE49-F238E27FC236}">
                <a16:creationId xmlns:a16="http://schemas.microsoft.com/office/drawing/2014/main" id="{5CD49B50-DC0F-4AB0-B0F5-8C0F9FF3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6D28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CBA1FD27-6201-46BC-B4CE-5DB9F143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学会测量</a:t>
            </a:r>
          </a:p>
        </p:txBody>
      </p:sp>
      <p:sp>
        <p:nvSpPr>
          <p:cNvPr id="14" name="goal-body-1">
            <a:extLst xmlns:a="http://schemas.openxmlformats.org/drawingml/2006/main">
              <a:ext uri="{FF2B5EF4-FFF2-40B4-BE49-F238E27FC236}">
                <a16:creationId xmlns:a16="http://schemas.microsoft.com/office/drawing/2014/main" id="{ACF10599-82D7-49EC-B14F-74CC14D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用弹簧测力计测出物体所受浮力</a:t>
            </a:r>
          </a:p>
        </p:txBody>
      </p:sp>
      <p:sp>
        <p:nvSpPr>
          <p:cNvPr id="15" name="goal-surface-2">
            <a:extLst xmlns:a="http://schemas.openxmlformats.org/drawingml/2006/main">
              <a:ext uri="{FF2B5EF4-FFF2-40B4-BE49-F238E27FC236}">
                <a16:creationId xmlns:a16="http://schemas.microsoft.com/office/drawing/2014/main" id="{C1DC2093-0AEA-4466-81CF-399FBF8F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FE"/>
            </a:solidFill>
            <a:prstDash val="solid"/>
          </a:ln>
        </p:spPr>
      </p:sp>
      <p:sp>
        <p:nvSpPr>
          <p:cNvPr id="16" name="goal-number-2">
            <a:extLst xmlns:a="http://schemas.openxmlformats.org/drawingml/2006/main">
              <a:ext uri="{FF2B5EF4-FFF2-40B4-BE49-F238E27FC236}">
                <a16:creationId xmlns:a16="http://schemas.microsoft.com/office/drawing/2014/main" id="{BCCAA5FF-F673-4B3E-8AA6-43325899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6D28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62E5A80E-A972-47F7-8416-AB520807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建立关系</a:t>
            </a:r>
          </a:p>
        </p:txBody>
      </p:sp>
      <p:sp>
        <p:nvSpPr>
          <p:cNvPr id="18" name="goal-body-2">
            <a:extLst xmlns:a="http://schemas.openxmlformats.org/drawingml/2006/main">
              <a:ext uri="{FF2B5EF4-FFF2-40B4-BE49-F238E27FC236}">
                <a16:creationId xmlns:a16="http://schemas.microsoft.com/office/drawing/2014/main" id="{1D16A5AB-CEA1-4302-9350-239B5E5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验证浮力等于排开液体的重力</a:t>
            </a:r>
          </a:p>
        </p:txBody>
      </p:sp>
    </p:spTree>
    <p:extLst>
      <p:ext uri="{BB962C8B-B14F-4D97-AF65-F5344CB8AC3E}">
        <p14:creationId xmlns:p14="http://schemas.microsoft.com/office/powerpoint/2010/main" val="68853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ffset-3">
            <a:extLst xmlns:a="http://schemas.openxmlformats.org/drawingml/2006/main">
              <a:ext uri="{FF2B5EF4-FFF2-40B4-BE49-F238E27FC236}">
                <a16:creationId xmlns:a16="http://schemas.microsoft.com/office/drawing/2014/main" id="{8B7B44EA-80F7-4D5A-9F22-A72B349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rner-3">
            <a:extLst xmlns:a="http://schemas.openxmlformats.org/drawingml/2006/main">
              <a:ext uri="{FF2B5EF4-FFF2-40B4-BE49-F238E27FC236}">
                <a16:creationId xmlns:a16="http://schemas.microsoft.com/office/drawing/2014/main" id="{F79D5256-9D5B-4BC3-88A4-0D4A301B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336E8F4E-B1C1-41B7-8A49-1FDF384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核心概念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28F8F4C-E6D8-4228-859B-6134382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75" b="1">
                <a:solidFill>
                  <a:srgbClr val="6E647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64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A80EE402-5081-4D2C-AA48-8E1E9241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浮力来自液体上下表面的压力差</a:t>
            </a:r>
          </a:p>
        </p:txBody>
      </p:sp>
      <p:sp>
        <p:nvSpPr>
          <p:cNvPr id="6" name="subtitle-3">
            <a:extLst xmlns:a="http://schemas.openxmlformats.org/drawingml/2006/main">
              <a:ext uri="{FF2B5EF4-FFF2-40B4-BE49-F238E27FC236}">
                <a16:creationId xmlns:a16="http://schemas.microsoft.com/office/drawing/2014/main" id="{3CEB5476-DB9C-454F-8325-4085A342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越深的位置，液体产生的压力通常越大</a:t>
            </a:r>
          </a:p>
        </p:txBody>
      </p:sp>
      <p:sp>
        <p:nvSpPr>
          <p:cNvPr id="7" name="split-points">
            <a:extLst xmlns:a="http://schemas.openxmlformats.org/drawingml/2006/main">
              <a:ext uri="{FF2B5EF4-FFF2-40B4-BE49-F238E27FC236}">
                <a16:creationId xmlns:a16="http://schemas.microsoft.com/office/drawing/2014/main" id="{2253D3AE-CFF7-4913-8231-3F15EA61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• 液体从各个方向压向物体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• 下表面通常比上表面更深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• 向上的压力大于向下的压力</a:t>
            </a:r>
          </a:p>
        </p:txBody>
      </p:sp>
      <p:sp>
        <p:nvSpPr>
          <p:cNvPr id="8" name="split-divider">
            <a:extLst xmlns:a="http://schemas.openxmlformats.org/drawingml/2006/main">
              <a:ext uri="{FF2B5EF4-FFF2-40B4-BE49-F238E27FC236}">
                <a16:creationId xmlns:a16="http://schemas.microsoft.com/office/drawing/2014/main" id="{E605F7AC-EA51-4F11-932E-9AAE11ED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1526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DDFE"/>
            </a:solidFill>
            <a:prstDash val="solid"/>
          </a:ln>
        </p:spPr>
      </p:sp>
      <p:sp>
        <p:nvSpPr>
          <p:cNvPr id="9" name="water-field">
            <a:extLst xmlns:a="http://schemas.openxmlformats.org/drawingml/2006/main">
              <a:ext uri="{FF2B5EF4-FFF2-40B4-BE49-F238E27FC236}">
                <a16:creationId xmlns:a16="http://schemas.microsoft.com/office/drawing/2014/main" id="{0EFD50D7-579E-4819-A0DD-CB81B077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05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ect">
            <a:extLst xmlns:a="http://schemas.openxmlformats.org/drawingml/2006/main">
              <a:ext uri="{FF2B5EF4-FFF2-40B4-BE49-F238E27FC236}">
                <a16:creationId xmlns:a16="http://schemas.microsoft.com/office/drawing/2014/main" id="{7F97D78D-8AC1-484A-A61A-BAE1766F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33750"/>
            <a:ext cx="1333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1" name="up-arrow">
            <a:extLst xmlns:a="http://schemas.openxmlformats.org/drawingml/2006/main">
              <a:ext uri="{FF2B5EF4-FFF2-40B4-BE49-F238E27FC236}">
                <a16:creationId xmlns:a16="http://schemas.microsoft.com/office/drawing/2014/main" id="{B581DDD5-49C9-499F-92E8-C15C84DD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762000" cy="1123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wn-arrow">
            <a:extLst xmlns:a="http://schemas.openxmlformats.org/drawingml/2006/main">
              <a:ext uri="{FF2B5EF4-FFF2-40B4-BE49-F238E27FC236}">
                <a16:creationId xmlns:a16="http://schemas.microsoft.com/office/drawing/2014/main" id="{8D6BD81E-6CC6-4E5A-B061-FCF52B6A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76750"/>
            <a:ext cx="53340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64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up-label">
            <a:extLst xmlns:a="http://schemas.openxmlformats.org/drawingml/2006/main">
              <a:ext uri="{FF2B5EF4-FFF2-40B4-BE49-F238E27FC236}">
                <a16:creationId xmlns:a16="http://schemas.microsoft.com/office/drawing/2014/main" id="{5E7A8B01-D5AE-4E39-A5E0-53B0D83F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向上压力较大</a:t>
            </a:r>
          </a:p>
        </p:txBody>
      </p:sp>
      <p:sp>
        <p:nvSpPr>
          <p:cNvPr id="14" name="down-label">
            <a:extLst xmlns:a="http://schemas.openxmlformats.org/drawingml/2006/main">
              <a:ext uri="{FF2B5EF4-FFF2-40B4-BE49-F238E27FC236}">
                <a16:creationId xmlns:a16="http://schemas.microsoft.com/office/drawing/2014/main" id="{99580E8F-E35E-4108-A003-4FA06489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向下压力较小</a:t>
            </a:r>
          </a:p>
        </p:txBody>
      </p:sp>
    </p:spTree>
    <p:extLst>
      <p:ext uri="{BB962C8B-B14F-4D97-AF65-F5344CB8AC3E}">
        <p14:creationId xmlns:p14="http://schemas.microsoft.com/office/powerpoint/2010/main" val="1810799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offset-4">
            <a:extLst xmlns:a="http://schemas.openxmlformats.org/drawingml/2006/main">
              <a:ext uri="{FF2B5EF4-FFF2-40B4-BE49-F238E27FC236}">
                <a16:creationId xmlns:a16="http://schemas.microsoft.com/office/drawing/2014/main" id="{AB7D7F7E-4AA3-4452-850B-861A3CD6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rner-4">
            <a:extLst xmlns:a="http://schemas.openxmlformats.org/drawingml/2006/main">
              <a:ext uri="{FF2B5EF4-FFF2-40B4-BE49-F238E27FC236}">
                <a16:creationId xmlns:a16="http://schemas.microsoft.com/office/drawing/2014/main" id="{910FFF2E-C3F9-4170-BF4A-6A9909B3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F9154984-09F1-4224-B593-6F272289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实验推理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4821D25-867C-4419-B52A-45616277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75" b="1">
                <a:solidFill>
                  <a:srgbClr val="6E647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64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618DD5B3-C0F4-421B-A510-62568DC6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四步溢水法验证阿基米德原理</a:t>
            </a:r>
          </a:p>
        </p:txBody>
      </p:sp>
      <p:sp>
        <p:nvSpPr>
          <p:cNvPr id="6" name="subtitle-4">
            <a:extLst xmlns:a="http://schemas.openxmlformats.org/drawingml/2006/main">
              <a:ext uri="{FF2B5EF4-FFF2-40B4-BE49-F238E27FC236}">
                <a16:creationId xmlns:a16="http://schemas.microsoft.com/office/drawing/2014/main" id="{3354D0DD-182F-4099-B4B8-EFEB3C1B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同一个实验，同时得到浮力与排开水重力</a:t>
            </a:r>
          </a:p>
        </p:txBody>
      </p:sp>
      <p:sp>
        <p:nvSpPr>
          <p:cNvPr id="7" name="process-link-0">
            <a:extLst xmlns:a="http://schemas.openxmlformats.org/drawingml/2006/main">
              <a:ext uri="{FF2B5EF4-FFF2-40B4-BE49-F238E27FC236}">
                <a16:creationId xmlns:a16="http://schemas.microsoft.com/office/drawing/2014/main" id="{F0B0E398-7AA0-4826-93E4-774DC3DC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28D9"/>
            </a:solidFill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A4A8F8CB-60EF-4078-A71C-8BDC6330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index-0">
            <a:extLst xmlns:a="http://schemas.openxmlformats.org/drawingml/2006/main">
              <a:ext uri="{FF2B5EF4-FFF2-40B4-BE49-F238E27FC236}">
                <a16:creationId xmlns:a16="http://schemas.microsoft.com/office/drawing/2014/main" id="{7D116340-D088-4A04-8A18-887F4BA3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293145FA-6EF8-409E-A7E1-E612BB2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测物重</a:t>
            </a:r>
          </a:p>
        </p:txBody>
      </p:sp>
      <p:sp>
        <p:nvSpPr>
          <p:cNvPr id="11" name="step-body-0">
            <a:extLst xmlns:a="http://schemas.openxmlformats.org/drawingml/2006/main">
              <a:ext uri="{FF2B5EF4-FFF2-40B4-BE49-F238E27FC236}">
                <a16:creationId xmlns:a16="http://schemas.microsoft.com/office/drawing/2014/main" id="{2813D61F-03FD-4D02-9902-3F2E3CD0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记录物体重力 G</a:t>
            </a:r>
          </a:p>
        </p:txBody>
      </p:sp>
      <p:sp>
        <p:nvSpPr>
          <p:cNvPr id="12" name="process-link-1">
            <a:extLst xmlns:a="http://schemas.openxmlformats.org/drawingml/2006/main">
              <a:ext uri="{FF2B5EF4-FFF2-40B4-BE49-F238E27FC236}">
                <a16:creationId xmlns:a16="http://schemas.microsoft.com/office/drawing/2014/main" id="{FE3C6C0F-DB56-46D0-B513-A94464B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28D9"/>
            </a:solidFill>
            <a:prstDash val="solid"/>
          </a:ln>
        </p:spPr>
      </p:sp>
      <p:sp>
        <p:nvSpPr>
          <p:cNvPr id="13" name="step-num-1">
            <a:extLst xmlns:a="http://schemas.openxmlformats.org/drawingml/2006/main">
              <a:ext uri="{FF2B5EF4-FFF2-40B4-BE49-F238E27FC236}">
                <a16:creationId xmlns:a16="http://schemas.microsoft.com/office/drawing/2014/main" id="{9BBFDEEB-EB72-4126-A7DA-B7C4E261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index-1">
            <a:extLst xmlns:a="http://schemas.openxmlformats.org/drawingml/2006/main">
              <a:ext uri="{FF2B5EF4-FFF2-40B4-BE49-F238E27FC236}">
                <a16:creationId xmlns:a16="http://schemas.microsoft.com/office/drawing/2014/main" id="{2240A82A-A0D2-4454-A827-14B031EC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8357710A-85C9-4C8D-9D97-30383698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测拉力</a:t>
            </a:r>
          </a:p>
        </p:txBody>
      </p:sp>
      <p:sp>
        <p:nvSpPr>
          <p:cNvPr id="1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6C251DF2-E230-4CF5-A24E-6675DB8E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浸没后记录 F拉</a:t>
            </a:r>
          </a:p>
        </p:txBody>
      </p:sp>
      <p:sp>
        <p:nvSpPr>
          <p:cNvPr id="17" name="process-link-2">
            <a:extLst xmlns:a="http://schemas.openxmlformats.org/drawingml/2006/main">
              <a:ext uri="{FF2B5EF4-FFF2-40B4-BE49-F238E27FC236}">
                <a16:creationId xmlns:a16="http://schemas.microsoft.com/office/drawing/2014/main" id="{22F6DE80-6D92-4E17-9440-05D994F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28D9"/>
            </a:solidFill>
            <a:prstDash val="solid"/>
          </a:ln>
        </p:spPr>
      </p:sp>
      <p:sp>
        <p:nvSpPr>
          <p:cNvPr id="18" name="step-num-2">
            <a:extLst xmlns:a="http://schemas.openxmlformats.org/drawingml/2006/main">
              <a:ext uri="{FF2B5EF4-FFF2-40B4-BE49-F238E27FC236}">
                <a16:creationId xmlns:a16="http://schemas.microsoft.com/office/drawing/2014/main" id="{0EF9CD18-2312-4D51-8812-60A740EF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index-2">
            <a:extLst xmlns:a="http://schemas.openxmlformats.org/drawingml/2006/main">
              <a:ext uri="{FF2B5EF4-FFF2-40B4-BE49-F238E27FC236}">
                <a16:creationId xmlns:a16="http://schemas.microsoft.com/office/drawing/2014/main" id="{5414C87A-9948-44B2-8F0B-D3396FA6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FC92FB54-E958-4F57-A142-C5024418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测空桶</a:t>
            </a:r>
          </a:p>
        </p:txBody>
      </p:sp>
      <p:sp>
        <p:nvSpPr>
          <p:cNvPr id="2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5C7E226-70E7-4DC6-A7D7-1C390205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记录小桶重力 G桶</a:t>
            </a:r>
          </a:p>
        </p:txBody>
      </p:sp>
      <p:sp>
        <p:nvSpPr>
          <p:cNvPr id="22" name="step-num-3">
            <a:extLst xmlns:a="http://schemas.openxmlformats.org/drawingml/2006/main">
              <a:ext uri="{FF2B5EF4-FFF2-40B4-BE49-F238E27FC236}">
                <a16:creationId xmlns:a16="http://schemas.microsoft.com/office/drawing/2014/main" id="{F5C91A4F-84E1-4FDF-B656-CD85C15C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index-3">
            <a:extLst xmlns:a="http://schemas.openxmlformats.org/drawingml/2006/main">
              <a:ext uri="{FF2B5EF4-FFF2-40B4-BE49-F238E27FC236}">
                <a16:creationId xmlns:a16="http://schemas.microsoft.com/office/drawing/2014/main" id="{AF43AAC5-ED2C-4FF7-9034-A12DF8F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ED6CF39-3963-47A2-B01A-9A0F053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测总重</a:t>
            </a:r>
          </a:p>
        </p:txBody>
      </p:sp>
      <p:sp>
        <p:nvSpPr>
          <p:cNvPr id="2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3ECFCC7-B3C7-4995-9953-9741D8F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记录水与桶总重 G总</a:t>
            </a:r>
          </a:p>
        </p:txBody>
      </p:sp>
      <p:sp>
        <p:nvSpPr>
          <p:cNvPr id="26" name="process-result">
            <a:extLst xmlns:a="http://schemas.openxmlformats.org/drawingml/2006/main">
              <a:ext uri="{FF2B5EF4-FFF2-40B4-BE49-F238E27FC236}">
                <a16:creationId xmlns:a16="http://schemas.microsoft.com/office/drawing/2014/main" id="{09A548C9-43F4-4853-9159-4A67E905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203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cess-formula">
            <a:extLst xmlns:a="http://schemas.openxmlformats.org/drawingml/2006/main">
              <a:ext uri="{FF2B5EF4-FFF2-40B4-BE49-F238E27FC236}">
                <a16:creationId xmlns:a16="http://schemas.microsoft.com/office/drawing/2014/main" id="{0D9BCAF8-3378-4D13-B369-ABB3828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996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51B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1B38"/>
                </a:solidFill>
                <a:latin typeface="Arial"/>
                <a:ea typeface="Arial"/>
                <a:cs typeface="Arial"/>
              </a:rPr>
              <a:t>F浮 = G − F拉     ｜     G排 = G总 − G桶     ｜     实验结果：F浮 = G排</a:t>
            </a:r>
          </a:p>
        </p:txBody>
      </p:sp>
    </p:spTree>
    <p:extLst>
      <p:ext uri="{BB962C8B-B14F-4D97-AF65-F5344CB8AC3E}">
        <p14:creationId xmlns:p14="http://schemas.microsoft.com/office/powerpoint/2010/main" val="2014353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offset-5">
            <a:extLst xmlns:a="http://schemas.openxmlformats.org/drawingml/2006/main">
              <a:ext uri="{FF2B5EF4-FFF2-40B4-BE49-F238E27FC236}">
                <a16:creationId xmlns:a16="http://schemas.microsoft.com/office/drawing/2014/main" id="{54C60F3E-ED56-4ED4-8230-7829D102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rner-5">
            <a:extLst xmlns:a="http://schemas.openxmlformats.org/drawingml/2006/main">
              <a:ext uri="{FF2B5EF4-FFF2-40B4-BE49-F238E27FC236}">
                <a16:creationId xmlns:a16="http://schemas.microsoft.com/office/drawing/2014/main" id="{85840E2B-58C6-4229-A123-ECC59F3E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6ED8D78B-9C67-4CF6-90FD-3A1F8C9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F52FAB3-E2C0-4DB2-BF85-C02EDC9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75" b="1">
                <a:solidFill>
                  <a:srgbClr val="6E647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64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1EA0A978-D553-4EC4-B71D-F569499A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同一物体浸入水中更深，浮力一定变大吗？</a:t>
            </a:r>
          </a:p>
        </p:txBody>
      </p:sp>
      <p:sp>
        <p:nvSpPr>
          <p:cNvPr id="6" name="subtitle-5">
            <a:extLst xmlns:a="http://schemas.openxmlformats.org/drawingml/2006/main">
              <a:ext uri="{FF2B5EF4-FFF2-40B4-BE49-F238E27FC236}">
                <a16:creationId xmlns:a16="http://schemas.microsoft.com/office/drawing/2014/main" id="{A648F1A6-AF72-48CE-9EC7-CBE2AAA0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先判断，再说明你关注的是“深度”还是“排开水的体积”</a:t>
            </a:r>
          </a:p>
        </p:txBody>
      </p:sp>
      <p:sp>
        <p:nvSpPr>
          <p:cNvPr id="7" name="question-accent">
            <a:extLst xmlns:a="http://schemas.openxmlformats.org/drawingml/2006/main">
              <a:ext uri="{FF2B5EF4-FFF2-40B4-BE49-F238E27FC236}">
                <a16:creationId xmlns:a16="http://schemas.microsoft.com/office/drawing/2014/main" id="{44711814-A712-4F2B-B16C-53207636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C7C90818-8860-4353-9498-D12741A8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一个木块完全浸没在水中后，继续向下移动但不接触容器底。它受到的浮力如何变化？</a:t>
            </a:r>
          </a:p>
        </p:txBody>
      </p:sp>
      <p:sp>
        <p:nvSpPr>
          <p:cNvPr id="9" name="hint">
            <a:extLst xmlns:a="http://schemas.openxmlformats.org/drawingml/2006/main">
              <a:ext uri="{FF2B5EF4-FFF2-40B4-BE49-F238E27FC236}">
                <a16:creationId xmlns:a16="http://schemas.microsoft.com/office/drawing/2014/main" id="{429C2B66-8ABB-4BD4-BC89-31669CCC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提示：完全浸没后，V排 是否改变？</a:t>
            </a:r>
          </a:p>
        </p:txBody>
      </p:sp>
      <p:sp>
        <p:nvSpPr>
          <p:cNvPr id="10" name="option-index-0">
            <a:extLst xmlns:a="http://schemas.openxmlformats.org/drawingml/2006/main">
              <a:ext uri="{FF2B5EF4-FFF2-40B4-BE49-F238E27FC236}">
                <a16:creationId xmlns:a16="http://schemas.microsoft.com/office/drawing/2014/main" id="{918015FC-D533-4117-A09B-264F1CC1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tion-letter-0">
            <a:extLst xmlns:a="http://schemas.openxmlformats.org/drawingml/2006/main">
              <a:ext uri="{FF2B5EF4-FFF2-40B4-BE49-F238E27FC236}">
                <a16:creationId xmlns:a16="http://schemas.microsoft.com/office/drawing/2014/main" id="{7CA2906D-C91C-46AF-802B-763067E7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1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1B3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option-text-0">
            <a:extLst xmlns:a="http://schemas.openxmlformats.org/drawingml/2006/main">
              <a:ext uri="{FF2B5EF4-FFF2-40B4-BE49-F238E27FC236}">
                <a16:creationId xmlns:a16="http://schemas.microsoft.com/office/drawing/2014/main" id="{FC4E5866-EB91-4E9D-B4E8-E596CE8B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变大</a:t>
            </a:r>
          </a:p>
        </p:txBody>
      </p:sp>
      <p:sp>
        <p:nvSpPr>
          <p:cNvPr id="13" name="option-index-1">
            <a:extLst xmlns:a="http://schemas.openxmlformats.org/drawingml/2006/main">
              <a:ext uri="{FF2B5EF4-FFF2-40B4-BE49-F238E27FC236}">
                <a16:creationId xmlns:a16="http://schemas.microsoft.com/office/drawing/2014/main" id="{BD2E2ECC-171F-4B8E-A75C-1C703FD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81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ption-letter-1">
            <a:extLst xmlns:a="http://schemas.openxmlformats.org/drawingml/2006/main">
              <a:ext uri="{FF2B5EF4-FFF2-40B4-BE49-F238E27FC236}">
                <a16:creationId xmlns:a16="http://schemas.microsoft.com/office/drawing/2014/main" id="{F79081B7-BCEE-4D30-97BC-22FA01D2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575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19B44BB5-B788-491B-A1A6-28E1803C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385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不变</a:t>
            </a:r>
          </a:p>
        </p:txBody>
      </p:sp>
      <p:sp>
        <p:nvSpPr>
          <p:cNvPr id="16" name="option-index-2">
            <a:extLst xmlns:a="http://schemas.openxmlformats.org/drawingml/2006/main">
              <a:ext uri="{FF2B5EF4-FFF2-40B4-BE49-F238E27FC236}">
                <a16:creationId xmlns:a16="http://schemas.microsoft.com/office/drawing/2014/main" id="{717D08EE-CA32-4AA4-A3A7-FE8768E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tion-letter-2">
            <a:extLst xmlns:a="http://schemas.openxmlformats.org/drawingml/2006/main">
              <a:ext uri="{FF2B5EF4-FFF2-40B4-BE49-F238E27FC236}">
                <a16:creationId xmlns:a16="http://schemas.microsoft.com/office/drawing/2014/main" id="{AE205302-5B5C-4CF2-8DAE-0BF534D8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1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1B3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5AC9CF0A-3733-4EBA-81A5-7F23C40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386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变小</a:t>
            </a:r>
          </a:p>
        </p:txBody>
      </p:sp>
    </p:spTree>
    <p:extLst>
      <p:ext uri="{BB962C8B-B14F-4D97-AF65-F5344CB8AC3E}">
        <p14:creationId xmlns:p14="http://schemas.microsoft.com/office/powerpoint/2010/main" val="597520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ffset-6">
            <a:extLst xmlns:a="http://schemas.openxmlformats.org/drawingml/2006/main">
              <a:ext uri="{FF2B5EF4-FFF2-40B4-BE49-F238E27FC236}">
                <a16:creationId xmlns:a16="http://schemas.microsoft.com/office/drawing/2014/main" id="{A7924F68-B35C-4578-8BFF-E890C368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rner-6">
            <a:extLst xmlns:a="http://schemas.openxmlformats.org/drawingml/2006/main">
              <a:ext uri="{FF2B5EF4-FFF2-40B4-BE49-F238E27FC236}">
                <a16:creationId xmlns:a16="http://schemas.microsoft.com/office/drawing/2014/main" id="{8F85DEAB-AE22-4C51-A6C2-A5E8A993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131C8619-5CEC-426F-90BE-BAD1712A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课堂小结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665E3D86-FD0B-4D3B-AC2C-D0F887E2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75" b="1">
                <a:solidFill>
                  <a:srgbClr val="6E647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64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E59C6ABD-69B0-4810-9DAC-C0189B2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一条关系串起浮力的来源、测量与大小</a:t>
            </a:r>
          </a:p>
        </p:txBody>
      </p:sp>
      <p:sp>
        <p:nvSpPr>
          <p:cNvPr id="6" name="subtitle-6">
            <a:extLst xmlns:a="http://schemas.openxmlformats.org/drawingml/2006/main">
              <a:ext uri="{FF2B5EF4-FFF2-40B4-BE49-F238E27FC236}">
                <a16:creationId xmlns:a16="http://schemas.microsoft.com/office/drawing/2014/main" id="{FF514EE1-1002-4DDB-BF03-A0D97DA3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从现象走向可验证的物理关系</a:t>
            </a:r>
          </a:p>
        </p:txBody>
      </p:sp>
      <p:sp>
        <p:nvSpPr>
          <p:cNvPr id="7" name="summary-formula">
            <a:extLst xmlns:a="http://schemas.openxmlformats.org/drawingml/2006/main">
              <a:ext uri="{FF2B5EF4-FFF2-40B4-BE49-F238E27FC236}">
                <a16:creationId xmlns:a16="http://schemas.microsoft.com/office/drawing/2014/main" id="{6298BC4B-0709-47A0-8E88-5291F079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01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F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6D28D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F浮 = G排 = ρ液 g V排</a:t>
            </a:r>
          </a:p>
        </p:txBody>
      </p:sp>
      <p:sp>
        <p:nvSpPr>
          <p:cNvPr id="8" name="summary-dot-0">
            <a:extLst xmlns:a="http://schemas.openxmlformats.org/drawingml/2006/main">
              <a:ext uri="{FF2B5EF4-FFF2-40B4-BE49-F238E27FC236}">
                <a16:creationId xmlns:a16="http://schemas.microsoft.com/office/drawing/2014/main" id="{FA066227-0EE4-453E-8617-286CFAF2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point-0">
            <a:extLst xmlns:a="http://schemas.openxmlformats.org/drawingml/2006/main">
              <a:ext uri="{FF2B5EF4-FFF2-40B4-BE49-F238E27FC236}">
                <a16:creationId xmlns:a16="http://schemas.microsoft.com/office/drawing/2014/main" id="{72121C18-BA4B-42A5-8C0B-2CD0DC3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来源：上下表面的压力差</a:t>
            </a:r>
          </a:p>
        </p:txBody>
      </p:sp>
      <p:sp>
        <p:nvSpPr>
          <p:cNvPr id="10" name="summary-dot-1">
            <a:extLst xmlns:a="http://schemas.openxmlformats.org/drawingml/2006/main">
              <a:ext uri="{FF2B5EF4-FFF2-40B4-BE49-F238E27FC236}">
                <a16:creationId xmlns:a16="http://schemas.microsoft.com/office/drawing/2014/main" id="{2A7AB723-AB58-4FFD-929A-9913AABE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37BEDAC0-96CC-4239-90A9-41A35C29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测量：F浮 = G − F拉</a:t>
            </a:r>
          </a:p>
        </p:txBody>
      </p:sp>
      <p:sp>
        <p:nvSpPr>
          <p:cNvPr id="12" name="summary-dot-2">
            <a:extLst xmlns:a="http://schemas.openxmlformats.org/drawingml/2006/main">
              <a:ext uri="{FF2B5EF4-FFF2-40B4-BE49-F238E27FC236}">
                <a16:creationId xmlns:a16="http://schemas.microsoft.com/office/drawing/2014/main" id="{3F8743B3-DD9F-495D-BF1F-77AF8C72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BC3139D5-DA55-4FDD-8D77-A3D04FB7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1B38"/>
                </a:solidFill>
                <a:latin typeface="Microsoft YaHei"/>
                <a:ea typeface="Microsoft YaHei"/>
                <a:cs typeface="Microsoft YaHei"/>
              </a:rPr>
              <a:t>规律：等于排开液体的重力</a:t>
            </a:r>
          </a:p>
        </p:txBody>
      </p:sp>
      <p:sp>
        <p:nvSpPr>
          <p:cNvPr id="14" name="summary-close">
            <a:extLst xmlns:a="http://schemas.openxmlformats.org/drawingml/2006/main">
              <a:ext uri="{FF2B5EF4-FFF2-40B4-BE49-F238E27FC236}">
                <a16:creationId xmlns:a16="http://schemas.microsoft.com/office/drawing/2014/main" id="{7515D639-802D-4CDD-BFDF-0E93BA69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47E"/>
                </a:solidFill>
                <a:latin typeface="Microsoft YaHei"/>
                <a:ea typeface="Microsoft YaHei"/>
                <a:cs typeface="Microsoft YaHei"/>
              </a:rPr>
              <a:t>下一次看到漂浮或下沉，先问：它排开了多少液体？</a:t>
            </a:r>
          </a:p>
        </p:txBody>
      </p:sp>
    </p:spTree>
    <p:extLst>
      <p:ext uri="{BB962C8B-B14F-4D97-AF65-F5344CB8AC3E}">
        <p14:creationId xmlns:p14="http://schemas.microsoft.com/office/powerpoint/2010/main" val="1244147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2026-08-03T15:21:09.1590000Z</dcterms:created>
  <dcterms:modified xsi:type="dcterms:W3CDTF">2026-08-03T15:21:09.1590000Z</dcterms:modified>
</coreProperties>
</file>