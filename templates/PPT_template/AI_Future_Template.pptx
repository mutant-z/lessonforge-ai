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713232"/>
            <a:ext cx="2377440" cy="347472"/>
          </a:xfrm>
          <a:prstGeom prst="roundRect">
            <a:avLst>
              <a:gd name="adj" fmla="val 47368"/>
            </a:avLst>
          </a:prstGeom>
          <a:solidFill>
            <a:srgbClr val="7C5CFC">
              <a:alpha val="90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72237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FUTURE CLASSROOM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1481328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 AI 与智能体</a:t>
            </a:r>
            <a:endParaRPr lang="en-US" sz="3700" dirty="0"/>
          </a:p>
        </p:txBody>
      </p:sp>
      <p:sp>
        <p:nvSpPr>
          <p:cNvPr id="19" name="Text 17"/>
          <p:cNvSpPr/>
          <p:nvPr/>
        </p:nvSpPr>
        <p:spPr>
          <a:xfrm>
            <a:off x="804672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2D8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从语言模型到可行动智能体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43800" y="91440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7C5CF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55280" y="1298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21040" y="1965960"/>
            <a:ext cx="749808" cy="749808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21671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PERCEIVE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436608" y="2761488"/>
            <a:ext cx="749808" cy="749808"/>
          </a:xfrm>
          <a:prstGeom prst="ellipse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0888" y="296265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321040" y="3593592"/>
            <a:ext cx="749808" cy="749808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79476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87184" y="2761488"/>
            <a:ext cx="749808" cy="749808"/>
          </a:xfrm>
          <a:prstGeom prst="ellipse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41464" y="296265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705088" y="2633472"/>
            <a:ext cx="731520" cy="402336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436608" y="3511296"/>
            <a:ext cx="-731520" cy="192024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936992" y="3703320"/>
            <a:ext cx="-374904" cy="-36576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7562088" y="2679192"/>
            <a:ext cx="548640" cy="-25603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77724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人工智能课程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INTRODUCTION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课程导入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40080" y="1481328"/>
            <a:ext cx="4846320" cy="4251960"/>
          </a:xfrm>
          <a:prstGeom prst="roundRect">
            <a:avLst>
              <a:gd name="adj" fmla="val 1720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1481328"/>
            <a:ext cx="73152" cy="425196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16367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为什么学习这门微课？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2039112"/>
            <a:ext cx="438912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从“会聊天的模型”到“能调用工具完成任务的智能体”，关键变化是闭环与可验证性。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294436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C5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1965960" y="3182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46120" y="294436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3913632" y="3182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IDEAS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572768"/>
            <a:ext cx="502920" cy="50292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59105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0568" y="156362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28232" y="2084832"/>
            <a:ext cx="0" cy="493776"/>
          </a:xfrm>
          <a:prstGeom prst="line">
            <a:avLst/>
          </a:prstGeom>
          <a:noFill/>
          <a:ln w="25400">
            <a:solidFill>
              <a:srgbClr val="171A2C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6172200" y="2596896"/>
            <a:ext cx="502920" cy="50292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61518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30568" y="25877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提示工程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28232" y="3108960"/>
            <a:ext cx="0" cy="493776"/>
          </a:xfrm>
          <a:prstGeom prst="line">
            <a:avLst/>
          </a:prstGeom>
          <a:noFill/>
          <a:ln w="25400">
            <a:solidFill>
              <a:srgbClr val="171A2C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6172200" y="3621024"/>
            <a:ext cx="502920" cy="50292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639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30568" y="3611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Agent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28232" y="4133088"/>
            <a:ext cx="0" cy="493776"/>
          </a:xfrm>
          <a:prstGeom prst="line">
            <a:avLst/>
          </a:prstGeom>
          <a:noFill/>
          <a:ln w="25400">
            <a:solidFill>
              <a:srgbClr val="171A2C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6172200" y="4645152"/>
            <a:ext cx="502920" cy="50292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46634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0568" y="46360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安全治理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学习目标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58368" y="1417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完成本节后，你能够：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" y="196596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965960"/>
            <a:ext cx="73152" cy="1225296"/>
          </a:xfrm>
          <a:prstGeom prst="roundRect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2121408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6968" y="2523744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解释生成式模型的输入—生成机制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9632" y="1965960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1965960"/>
            <a:ext cx="73152" cy="1225296"/>
          </a:xfrm>
          <a:prstGeom prst="roundRect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2121408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28232" y="2523744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构造结构化提示并迭代评估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3538728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3538728"/>
            <a:ext cx="73152" cy="1225296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3694176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" y="4096512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拆解智能体的感知、规划与行动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99632" y="3538728"/>
            <a:ext cx="5285232" cy="1225296"/>
          </a:xfrm>
          <a:prstGeom prst="roundRect">
            <a:avLst>
              <a:gd name="adj" fmla="val 5970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3538728"/>
            <a:ext cx="73152" cy="1225296"/>
          </a:xfrm>
          <a:prstGeom prst="roundRect">
            <a:avLst/>
          </a:prstGeom>
          <a:solidFill>
            <a:srgbClr val="F9D976"/>
          </a:solidFill>
          <a:ln w="12700">
            <a:solidFill>
              <a:srgbClr val="F9D97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694176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28232" y="4096512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识别幻觉、隐私和偏见风险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MAP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知识地图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5312664" y="2926080"/>
            <a:ext cx="1554480" cy="155448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3273552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828800" y="1920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1920240"/>
            <a:ext cx="73152" cy="960120"/>
          </a:xfrm>
          <a:prstGeom prst="roundRect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20756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57400" y="247802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86200" y="2404872"/>
            <a:ext cx="1426464" cy="950976"/>
          </a:xfrm>
          <a:prstGeom prst="line">
            <a:avLst/>
          </a:prstGeom>
          <a:noFill/>
          <a:ln w="17780">
            <a:solidFill>
              <a:srgbClr val="12D8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778240" y="19202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0" y="1920240"/>
            <a:ext cx="73152" cy="960120"/>
          </a:xfrm>
          <a:prstGeom prst="roundRect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20756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06840" y="247802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提示工程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778240" y="2404872"/>
            <a:ext cx="-1911096" cy="950976"/>
          </a:xfrm>
          <a:prstGeom prst="line">
            <a:avLst/>
          </a:prstGeom>
          <a:noFill/>
          <a:ln w="17780">
            <a:solidFill>
              <a:srgbClr val="12D8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828800" y="46177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0" y="4617720"/>
            <a:ext cx="73152" cy="96012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57400" y="4773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057400" y="517550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Agent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886200" y="5102352"/>
            <a:ext cx="1426464" cy="-1051560"/>
          </a:xfrm>
          <a:prstGeom prst="line">
            <a:avLst/>
          </a:prstGeom>
          <a:noFill/>
          <a:ln w="17780">
            <a:solidFill>
              <a:srgbClr val="12D8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778240" y="46177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4617720"/>
            <a:ext cx="73152" cy="960120"/>
          </a:xfrm>
          <a:prstGeom prst="roundRect">
            <a:avLst/>
          </a:prstGeom>
          <a:solidFill>
            <a:srgbClr val="F9D976"/>
          </a:solidFill>
          <a:ln w="12700">
            <a:solidFill>
              <a:srgbClr val="F9D97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06840" y="4773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06840" y="517550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安全治理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778240" y="5102352"/>
            <a:ext cx="-1911096" cy="-1051560"/>
          </a:xfrm>
          <a:prstGeom prst="line">
            <a:avLst/>
          </a:prstGeom>
          <a:noFill/>
          <a:ln w="17780">
            <a:solidFill>
              <a:srgbClr val="12D8FA">
                <a:alpha val="8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INTRODUCTION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知识导入：先建立一个共同框架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58368" y="1417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从“会聊天的模型”到“能调用工具完成任务的智能体”，关键变化是闭环与可验证性。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8580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7C5CFC">
              <a:alpha val="82000"/>
            </a:srgbClr>
          </a:solidFill>
          <a:ln w="12700">
            <a:solidFill>
              <a:srgbClr val="7C5CFC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60270" y="3163824"/>
            <a:ext cx="182880" cy="0"/>
          </a:xfrm>
          <a:prstGeom prst="line">
            <a:avLst/>
          </a:prstGeom>
          <a:noFill/>
          <a:ln w="25400">
            <a:solidFill>
              <a:srgbClr val="12D8FA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269998" y="3072384"/>
            <a:ext cx="118872" cy="182880"/>
          </a:xfrm>
          <a:prstGeom prst="chevron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8887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7C5CFC">
              <a:alpha val="82000"/>
            </a:srgbClr>
          </a:solidFill>
          <a:ln w="12700">
            <a:solidFill>
              <a:srgbClr val="7C5CFC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859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提示工程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63340" y="3163824"/>
            <a:ext cx="182880" cy="0"/>
          </a:xfrm>
          <a:prstGeom prst="line">
            <a:avLst/>
          </a:prstGeom>
          <a:noFill/>
          <a:ln w="25400">
            <a:solidFill>
              <a:srgbClr val="12D8FA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3973068" y="3072384"/>
            <a:ext cx="118872" cy="182880"/>
          </a:xfrm>
          <a:prstGeom prst="chevron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9194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7C5CFC">
              <a:alpha val="82000"/>
            </a:srgbClr>
          </a:solidFill>
          <a:ln w="12700">
            <a:solidFill>
              <a:srgbClr val="7C5CFC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166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Agent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66410" y="3163824"/>
            <a:ext cx="182880" cy="0"/>
          </a:xfrm>
          <a:prstGeom prst="line">
            <a:avLst/>
          </a:prstGeom>
          <a:noFill/>
          <a:ln w="25400">
            <a:solidFill>
              <a:srgbClr val="12D8FA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5676138" y="3072384"/>
            <a:ext cx="118872" cy="182880"/>
          </a:xfrm>
          <a:prstGeom prst="chevron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95010" y="2788920"/>
            <a:ext cx="1474470" cy="749808"/>
          </a:xfrm>
          <a:prstGeom prst="roundRect">
            <a:avLst>
              <a:gd name="adj" fmla="val 9756"/>
            </a:avLst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4738" y="2862072"/>
            <a:ext cx="1255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安全治理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26680" y="1417320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26680" y="1417320"/>
            <a:ext cx="73152" cy="425196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15727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955280" y="1975104"/>
            <a:ext cx="333756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好的学习框架需要同时回答：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我们面对什么问题？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有哪些可验证的证据？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应该采取什么行动？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如何通过反馈继续优化？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 到生成：概率式续写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7C5CFC">
              <a:alpha val="90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P(xₜ | x₍&lt;t₎)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文本被编码为 token 序列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注意力聚合上下文信息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按概率逐步生成输出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7C5CFC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TOKEN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2514600"/>
            <a:ext cx="694944" cy="347472"/>
          </a:xfrm>
          <a:prstGeom prst="roundRect">
            <a:avLst>
              <a:gd name="adj" fmla="val 47368"/>
            </a:avLst>
          </a:prstGeom>
          <a:solidFill>
            <a:srgbClr val="7C5CFC">
              <a:alpha val="90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6872" y="252374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08392" y="2514600"/>
            <a:ext cx="694944" cy="347472"/>
          </a:xfrm>
          <a:prstGeom prst="roundRect">
            <a:avLst>
              <a:gd name="adj" fmla="val 47368"/>
            </a:avLst>
          </a:prstGeom>
          <a:solidFill>
            <a:srgbClr val="7C5CFC">
              <a:alpha val="90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81544" y="252374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13064" y="2514600"/>
            <a:ext cx="694944" cy="347472"/>
          </a:xfrm>
          <a:prstGeom prst="roundRect">
            <a:avLst>
              <a:gd name="adj" fmla="val 47368"/>
            </a:avLst>
          </a:prstGeom>
          <a:solidFill>
            <a:srgbClr val="7C5CFC">
              <a:alpha val="90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86216" y="252374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predicts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317736" y="2514600"/>
            <a:ext cx="694944" cy="347472"/>
          </a:xfrm>
          <a:prstGeom prst="roundRect">
            <a:avLst>
              <a:gd name="adj" fmla="val 47368"/>
            </a:avLst>
          </a:prstGeom>
          <a:solidFill>
            <a:srgbClr val="7C5CFC">
              <a:alpha val="90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90888" y="252374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next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122408" y="2514600"/>
            <a:ext cx="694944" cy="347472"/>
          </a:xfrm>
          <a:prstGeom prst="roundRect">
            <a:avLst>
              <a:gd name="adj" fmla="val 47368"/>
            </a:avLst>
          </a:prstGeom>
          <a:solidFill>
            <a:srgbClr val="A78BFA">
              <a:alpha val="9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95560" y="252374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0.42   0.27   0.18   0.09   0.04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Prompt：把意图变成接口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12D8FA">
              <a:alpha val="9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+ Context + Rules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明确角色、任务和约束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提供上下文与输出格式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用示例和评价标准校准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7C5CFC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219456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tutor.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 with hints.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+ evidence.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Agent：从回答到行动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A78BFA">
              <a:alpha val="9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→ Act → Observe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感知环境和用户目标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规划步骤并选择工具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执行、观察、反思与重试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7C5CFC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LOOP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1920240"/>
            <a:ext cx="868680" cy="86868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23113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646920" y="2971800"/>
            <a:ext cx="868680" cy="868680"/>
          </a:xfrm>
          <a:prstGeom prst="ellipse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6920" y="32826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38160" y="3977640"/>
            <a:ext cx="868680" cy="86868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428853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29400" y="2971800"/>
            <a:ext cx="868680" cy="868680"/>
          </a:xfrm>
          <a:prstGeom prst="ellipse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32826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006840" y="2359152"/>
            <a:ext cx="640080" cy="786384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646920" y="3685032"/>
            <a:ext cx="-640080" cy="39319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7498080" y="4078224"/>
            <a:ext cx="-868680" cy="-57607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6629400" y="2926080"/>
            <a:ext cx="1508760" cy="-56692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KNOWLEDGE 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Responsible AI：可信闭环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58368" y="1417320"/>
            <a:ext cx="1325880" cy="347472"/>
          </a:xfrm>
          <a:prstGeom prst="roundRect">
            <a:avLst>
              <a:gd name="adj" fmla="val 47368"/>
            </a:avLst>
          </a:prstGeom>
          <a:solidFill>
            <a:srgbClr val="F9D976">
              <a:alpha val="90000"/>
            </a:srgbClr>
          </a:solidFill>
          <a:ln w="12700">
            <a:solidFill>
              <a:srgbClr val="F9D97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142646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by Design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31520" y="2971800"/>
            <a:ext cx="274320" cy="27432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017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7043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对关键事实进行外部验证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749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70432" y="363931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最小化敏感数据暴露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4805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70432" y="437083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保留人工审批与审计记录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46520" y="1417320"/>
            <a:ext cx="4846320" cy="4343400"/>
          </a:xfrm>
          <a:prstGeom prst="roundRect">
            <a:avLst>
              <a:gd name="adj" fmla="val 2526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7C5CFC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1965960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171A2C">
              <a:alpha val="35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12280" y="1965960"/>
            <a:ext cx="73152" cy="749808"/>
          </a:xfrm>
          <a:prstGeom prst="roundRect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2121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0880" y="2523744"/>
            <a:ext cx="3611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检索与引用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12280" y="2926080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171A2C">
              <a:alpha val="35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2926080"/>
            <a:ext cx="73152" cy="749808"/>
          </a:xfrm>
          <a:prstGeom prst="roundRect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0815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Protect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40880" y="3483864"/>
            <a:ext cx="3611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隐私最小化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812280" y="3886200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171A2C">
              <a:alpha val="35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12280" y="3886200"/>
            <a:ext cx="73152" cy="749808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40416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Approve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40880" y="4443984"/>
            <a:ext cx="36118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人类审批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案例：课程资料自动整理智能体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8580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7C5CFC">
              <a:alpha val="82000"/>
            </a:srgbClr>
          </a:solidFill>
          <a:ln w="12700">
            <a:solidFill>
              <a:srgbClr val="7C5CFC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读取讲义与作业要求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23260" y="1947672"/>
            <a:ext cx="182880" cy="0"/>
          </a:xfrm>
          <a:prstGeom prst="line">
            <a:avLst/>
          </a:prstGeom>
          <a:noFill/>
          <a:ln w="25400">
            <a:solidFill>
              <a:srgbClr val="12D8FA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332988" y="1856232"/>
            <a:ext cx="118872" cy="182880"/>
          </a:xfrm>
          <a:prstGeom prst="chevron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186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7C5CFC">
              <a:alpha val="82000"/>
            </a:srgbClr>
          </a:solidFill>
          <a:ln w="12700">
            <a:solidFill>
              <a:srgbClr val="7C5CFC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158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提取知识点并建立索引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1947672"/>
            <a:ext cx="182880" cy="0"/>
          </a:xfrm>
          <a:prstGeom prst="line">
            <a:avLst/>
          </a:prstGeom>
          <a:noFill/>
          <a:ln w="25400">
            <a:solidFill>
              <a:srgbClr val="12D8FA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099048" y="1856232"/>
            <a:ext cx="118872" cy="182880"/>
          </a:xfrm>
          <a:prstGeom prst="chevron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7C5CFC">
              <a:alpha val="82000"/>
            </a:srgbClr>
          </a:solidFill>
          <a:ln w="12700">
            <a:solidFill>
              <a:srgbClr val="7C5CFC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生成测验并引用原文依据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55380" y="1947672"/>
            <a:ext cx="182880" cy="0"/>
          </a:xfrm>
          <a:prstGeom prst="line">
            <a:avLst/>
          </a:prstGeom>
          <a:noFill/>
          <a:ln w="25400">
            <a:solidFill>
              <a:srgbClr val="12D8FA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8865108" y="1856232"/>
            <a:ext cx="118872" cy="182880"/>
          </a:xfrm>
          <a:prstGeom prst="chevron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83980" y="1572768"/>
            <a:ext cx="2537460" cy="749808"/>
          </a:xfrm>
          <a:prstGeom prst="roundRect">
            <a:avLst>
              <a:gd name="adj" fmla="val 9756"/>
            </a:avLst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3708" y="1645920"/>
            <a:ext cx="23180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教师审核后发布到课堂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" y="2788920"/>
            <a:ext cx="6675120" cy="2514600"/>
          </a:xfrm>
          <a:prstGeom prst="roundRect">
            <a:avLst>
              <a:gd name="adj" fmla="val 2909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" y="2788920"/>
            <a:ext cx="73152" cy="251460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2944368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案例复盘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4400" y="3346704"/>
            <a:ext cx="621792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问题定义 → 证据收集 → 方案执行 → 结果评价。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关键不是“案例看起来成功”，而是能够说明为什么成功、在哪些条件下可复用。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818120" y="4892040"/>
            <a:ext cx="3017520" cy="0"/>
          </a:xfrm>
          <a:prstGeom prst="line">
            <a:avLst/>
          </a:prstGeom>
          <a:noFill/>
          <a:ln w="12700">
            <a:solidFill>
              <a:srgbClr val="8A8C97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8066622" y="4047812"/>
            <a:ext cx="443753" cy="844228"/>
          </a:xfrm>
          <a:prstGeom prst="roundRect">
            <a:avLst/>
          </a:prstGeom>
          <a:solidFill>
            <a:srgbClr val="7C5CFC">
              <a:alpha val="92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66622" y="3791780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938606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4C7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758876" y="3889519"/>
            <a:ext cx="443753" cy="1002521"/>
          </a:xfrm>
          <a:prstGeom prst="roundRect">
            <a:avLst/>
          </a:prstGeom>
          <a:solidFill>
            <a:srgbClr val="7C5CFC">
              <a:alpha val="92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58876" y="3633487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30860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4C7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451131" y="3731226"/>
            <a:ext cx="443753" cy="1160814"/>
          </a:xfrm>
          <a:prstGeom prst="roundRect">
            <a:avLst/>
          </a:prstGeom>
          <a:solidFill>
            <a:srgbClr val="7C5CFC">
              <a:alpha val="92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51131" y="3475194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323115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4C7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143385" y="3467405"/>
            <a:ext cx="443753" cy="1424635"/>
          </a:xfrm>
          <a:prstGeom prst="roundRect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3385" y="3211373"/>
            <a:ext cx="4437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015369" y="4965192"/>
            <a:ext cx="699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4C7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DISCUSSION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互动讨论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85800" y="1417320"/>
            <a:ext cx="2377440" cy="347472"/>
          </a:xfrm>
          <a:prstGeom prst="roundRect">
            <a:avLst>
              <a:gd name="adj" fmla="val 47368"/>
            </a:avLst>
          </a:prstGeom>
          <a:solidFill>
            <a:srgbClr val="A78BFA">
              <a:alpha val="9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142646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THINK · PAIR · SHARE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196596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哪些任务可以交给 AI 自动完成，哪些任务必须保留教师或学生的最终判断？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914400" y="38404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3840480"/>
            <a:ext cx="73152" cy="1234440"/>
          </a:xfrm>
          <a:prstGeom prst="roundRect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3995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min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4398264"/>
            <a:ext cx="2788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独立判断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38404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840480"/>
            <a:ext cx="73152" cy="1234440"/>
          </a:xfrm>
          <a:prstGeom prst="roundRect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995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min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37760" y="4398264"/>
            <a:ext cx="2788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同伴交换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03920" y="38404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3840480"/>
            <a:ext cx="73152" cy="123444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2520" y="39959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min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32520" y="4398264"/>
            <a:ext cx="2788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全班分享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本课总结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68580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用一句话记住四个关键点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54480" y="2286000"/>
            <a:ext cx="1005840" cy="1005840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58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P(xₜ | x₍&lt;t₎)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0" y="2788920"/>
            <a:ext cx="868680" cy="0"/>
          </a:xfrm>
          <a:prstGeom prst="line">
            <a:avLst/>
          </a:prstGeom>
          <a:noFill/>
          <a:ln w="25400">
            <a:solidFill>
              <a:srgbClr val="171A2C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297680" y="2286000"/>
            <a:ext cx="1005840" cy="1005840"/>
          </a:xfrm>
          <a:prstGeom prst="ellipse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290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提示工程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4290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+ Context + Rules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2788920"/>
            <a:ext cx="868680" cy="0"/>
          </a:xfrm>
          <a:prstGeom prst="line">
            <a:avLst/>
          </a:prstGeom>
          <a:noFill/>
          <a:ln w="25400">
            <a:solidFill>
              <a:srgbClr val="171A2C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7040880" y="2286000"/>
            <a:ext cx="1005840" cy="10058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722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Agent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1722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→ Act → Observe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2788920"/>
            <a:ext cx="868680" cy="0"/>
          </a:xfrm>
          <a:prstGeom prst="line">
            <a:avLst/>
          </a:prstGeom>
          <a:noFill/>
          <a:ln w="25400">
            <a:solidFill>
              <a:srgbClr val="171A2C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784080" y="2286000"/>
            <a:ext cx="1005840" cy="1005840"/>
          </a:xfrm>
          <a:prstGeom prst="ellipse">
            <a:avLst/>
          </a:prstGeom>
          <a:solidFill>
            <a:srgbClr val="F9D976"/>
          </a:solidFill>
          <a:ln w="12700">
            <a:solidFill>
              <a:srgbClr val="F9D97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0" y="2587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91540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安全治理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9154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2D8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by Design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88720" y="51663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理解框架只是起点，真正的掌握来自应用、反馈与修正。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即时测验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85800" y="141732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1417320"/>
            <a:ext cx="73152" cy="1051560"/>
          </a:xfrm>
          <a:prstGeom prst="roundRect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572768"/>
            <a:ext cx="7086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Q1  大模型生成的本质？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1975104"/>
            <a:ext cx="7040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选择或写出你的答案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49640" y="1728216"/>
            <a:ext cx="2651760" cy="347472"/>
          </a:xfrm>
          <a:prstGeom prst="roundRect">
            <a:avLst>
              <a:gd name="adj" fmla="val 47368"/>
            </a:avLst>
          </a:prstGeom>
          <a:solidFill>
            <a:srgbClr val="7C5CFC">
              <a:alpha val="90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17373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答案：条件概率预测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2862072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2862072"/>
            <a:ext cx="73152" cy="1051560"/>
          </a:xfrm>
          <a:prstGeom prst="roundRect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017520"/>
            <a:ext cx="7086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Q2  Agent 比 Chatbot 多了？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3419856"/>
            <a:ext cx="7040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选择或写出你的答案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49640" y="3172968"/>
            <a:ext cx="2651760" cy="347472"/>
          </a:xfrm>
          <a:prstGeom prst="roundRect">
            <a:avLst>
              <a:gd name="adj" fmla="val 47368"/>
            </a:avLst>
          </a:prstGeom>
          <a:solidFill>
            <a:srgbClr val="12D8FA">
              <a:alpha val="9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22792" y="318211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答案：工具与行动闭环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" y="4306824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306824"/>
            <a:ext cx="73152" cy="105156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462272"/>
            <a:ext cx="7086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Q3  降低幻觉最有效？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4400" y="4864608"/>
            <a:ext cx="7040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选择或写出你的答案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549640" y="4617720"/>
            <a:ext cx="2651760" cy="347472"/>
          </a:xfrm>
          <a:prstGeom prst="roundRect">
            <a:avLst>
              <a:gd name="adj" fmla="val 47368"/>
            </a:avLst>
          </a:prstGeom>
          <a:solidFill>
            <a:srgbClr val="A78BFA">
              <a:alpha val="9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22792" y="462686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答案：检索与验证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58338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2D8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建议：先隐藏答案，让学习者完成后再点击揭示。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13/15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课后任务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124712"/>
            <a:ext cx="10972800" cy="0"/>
          </a:xfrm>
          <a:prstGeom prst="line">
            <a:avLst/>
          </a:prstGeom>
          <a:noFill/>
          <a:ln w="12700">
            <a:solidFill>
              <a:srgbClr val="41435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85800" y="1463040"/>
            <a:ext cx="6492240" cy="4526280"/>
          </a:xfrm>
          <a:prstGeom prst="roundRect">
            <a:avLst>
              <a:gd name="adj" fmla="val 1616"/>
            </a:avLst>
          </a:prstGeom>
          <a:solidFill>
            <a:srgbClr val="171A2C">
              <a:alpha val="82000"/>
            </a:srgbClr>
          </a:solidFill>
          <a:ln w="12700">
            <a:solidFill>
              <a:srgbClr val="3A3C4C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1463040"/>
            <a:ext cx="73152" cy="452628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618488"/>
            <a:ext cx="6080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任务说明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2020824"/>
            <a:ext cx="603504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0E3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设计一个学习智能体：给出系统提示、工具清单、执行流程、失败兜底和评价指标。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3524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提交清单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35240" y="2103120"/>
            <a:ext cx="3566160" cy="566928"/>
          </a:xfrm>
          <a:prstGeom prst="roundRect">
            <a:avLst/>
          </a:prstGeom>
          <a:solidFill>
            <a:srgbClr val="171A2C">
              <a:alpha val="8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36408" y="2267712"/>
            <a:ext cx="219456" cy="219456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27264" y="22585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83880" y="2212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明确的问题或目标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635240" y="2880360"/>
            <a:ext cx="3566160" cy="566928"/>
          </a:xfrm>
          <a:prstGeom prst="roundRect">
            <a:avLst/>
          </a:prstGeom>
          <a:solidFill>
            <a:srgbClr val="171A2C">
              <a:alpha val="8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36408" y="3044952"/>
            <a:ext cx="219456" cy="219456"/>
          </a:xfrm>
          <a:prstGeom prst="ellipse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27264" y="303580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83880" y="29900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可验证的证据或指标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35240" y="3657600"/>
            <a:ext cx="3566160" cy="566928"/>
          </a:xfrm>
          <a:prstGeom prst="roundRect">
            <a:avLst/>
          </a:prstGeom>
          <a:solidFill>
            <a:srgbClr val="171A2C">
              <a:alpha val="8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36408" y="3822192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27264" y="381304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183880" y="37673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具体行动步骤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635240" y="4434840"/>
            <a:ext cx="3566160" cy="566928"/>
          </a:xfrm>
          <a:prstGeom prst="roundRect">
            <a:avLst/>
          </a:prstGeom>
          <a:solidFill>
            <a:srgbClr val="171A2C">
              <a:alpha val="8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36408" y="4599432"/>
            <a:ext cx="219456" cy="219456"/>
          </a:xfrm>
          <a:prstGeom prst="ellipse">
            <a:avLst/>
          </a:prstGeom>
          <a:solidFill>
            <a:srgbClr val="F9D976"/>
          </a:solidFill>
          <a:ln w="12700">
            <a:solidFill>
              <a:srgbClr val="F9D97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27264" y="45902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183880" y="4544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风险与反馈机制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Future Classroom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89920" y="651967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A1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14/15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90B18">
              <a:alpha val="90000"/>
            </a:srgbClr>
          </a:solidFill>
          <a:ln w="12700">
            <a:solidFill>
              <a:srgbClr val="090B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12191695" cy="571500"/>
          </a:xfrm>
          <a:prstGeom prst="rect">
            <a:avLst/>
          </a:prstGeom>
          <a:solidFill>
            <a:srgbClr val="0F1025">
              <a:alpha val="90000"/>
            </a:srgbClr>
          </a:solidFill>
          <a:ln w="12700">
            <a:solidFill>
              <a:srgbClr val="0F102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12191695" cy="571500"/>
          </a:xfrm>
          <a:prstGeom prst="rect">
            <a:avLst/>
          </a:prstGeom>
          <a:solidFill>
            <a:srgbClr val="161431">
              <a:alpha val="90000"/>
            </a:srgbClr>
          </a:solidFill>
          <a:ln w="12700">
            <a:solidFill>
              <a:srgbClr val="16143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12191695" cy="571500"/>
          </a:xfrm>
          <a:prstGeom prst="rect">
            <a:avLst/>
          </a:prstGeom>
          <a:solidFill>
            <a:srgbClr val="1C193E">
              <a:alpha val="90000"/>
            </a:srgbClr>
          </a:solidFill>
          <a:ln w="12700">
            <a:solidFill>
              <a:srgbClr val="1C193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12191695" cy="571500"/>
          </a:xfrm>
          <a:prstGeom prst="rect">
            <a:avLst/>
          </a:prstGeom>
          <a:solidFill>
            <a:srgbClr val="231D4B">
              <a:alpha val="90000"/>
            </a:srgbClr>
          </a:solidFill>
          <a:ln w="12700">
            <a:solidFill>
              <a:srgbClr val="231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12191695" cy="571500"/>
          </a:xfrm>
          <a:prstGeom prst="rect">
            <a:avLst/>
          </a:prstGeom>
          <a:solidFill>
            <a:srgbClr val="292257">
              <a:alpha val="90000"/>
            </a:srgbClr>
          </a:solidFill>
          <a:ln w="12700">
            <a:solidFill>
              <a:srgbClr val="2922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12191695" cy="571500"/>
          </a:xfrm>
          <a:prstGeom prst="rect">
            <a:avLst/>
          </a:prstGeom>
          <a:solidFill>
            <a:srgbClr val="2F2664">
              <a:alpha val="90000"/>
            </a:srgbClr>
          </a:solidFill>
          <a:ln w="12700">
            <a:solidFill>
              <a:srgbClr val="2F266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12191695" cy="571500"/>
          </a:xfrm>
          <a:prstGeom prst="rect">
            <a:avLst/>
          </a:prstGeom>
          <a:solidFill>
            <a:srgbClr val="362B71">
              <a:alpha val="90000"/>
            </a:srgbClr>
          </a:solidFill>
          <a:ln w="12700">
            <a:solidFill>
              <a:srgbClr val="362B7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12191695" cy="571500"/>
          </a:xfrm>
          <a:prstGeom prst="rect">
            <a:avLst/>
          </a:prstGeom>
          <a:solidFill>
            <a:srgbClr val="3C2F7D">
              <a:alpha val="90000"/>
            </a:srgbClr>
          </a:solidFill>
          <a:ln w="12700">
            <a:solidFill>
              <a:srgbClr val="3C2F7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12191695" cy="571500"/>
          </a:xfrm>
          <a:prstGeom prst="rect">
            <a:avLst/>
          </a:prstGeom>
          <a:solidFill>
            <a:srgbClr val="43348A">
              <a:alpha val="90000"/>
            </a:srgbClr>
          </a:solidFill>
          <a:ln w="12700">
            <a:solidFill>
              <a:srgbClr val="43348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715000"/>
            <a:ext cx="12191695" cy="571500"/>
          </a:xfrm>
          <a:prstGeom prst="rect">
            <a:avLst/>
          </a:prstGeom>
          <a:solidFill>
            <a:srgbClr val="493897">
              <a:alpha val="90000"/>
            </a:srgbClr>
          </a:solidFill>
          <a:ln w="12700">
            <a:solidFill>
              <a:srgbClr val="49389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4F3DA3">
              <a:alpha val="90000"/>
            </a:srgbClr>
          </a:solidFill>
          <a:ln w="12700">
            <a:solidFill>
              <a:srgbClr val="4F3DA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109728"/>
            <a:ext cx="2468880" cy="2468880"/>
          </a:xfrm>
          <a:prstGeom prst="ellipse">
            <a:avLst/>
          </a:prstGeom>
          <a:solidFill>
            <a:srgbClr val="7C5CFC">
              <a:alpha val="35000"/>
            </a:srgbClr>
          </a:solidFill>
          <a:ln w="12700">
            <a:solidFill>
              <a:srgbClr val="7C5C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" y="4919472"/>
            <a:ext cx="1691640" cy="1691640"/>
          </a:xfrm>
          <a:prstGeom prst="ellipse">
            <a:avLst/>
          </a:prstGeom>
          <a:solidFill>
            <a:srgbClr val="12D8FA">
              <a:alpha val="20000"/>
            </a:srgbClr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822960"/>
            <a:ext cx="2514600" cy="347472"/>
          </a:xfrm>
          <a:prstGeom prst="roundRect">
            <a:avLst>
              <a:gd name="adj" fmla="val 47368"/>
            </a:avLst>
          </a:prstGeom>
          <a:solidFill>
            <a:srgbClr val="A78BFA">
              <a:alpha val="9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83210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END OF MICRO COURSE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16002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F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从理解到行动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04672" y="2651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D8F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把今天的一个关键观点，用在下一个真实问题中。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7C5CFC">
              <a:alpha val="82000"/>
            </a:srgbClr>
          </a:solidFill>
          <a:ln w="12700">
            <a:solidFill>
              <a:srgbClr val="7C5CFC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66010" y="4078224"/>
            <a:ext cx="182880" cy="0"/>
          </a:xfrm>
          <a:prstGeom prst="line">
            <a:avLst/>
          </a:prstGeom>
          <a:noFill/>
          <a:ln w="25400">
            <a:solidFill>
              <a:srgbClr val="12D8FA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475738" y="3986784"/>
            <a:ext cx="118872" cy="182880"/>
          </a:xfrm>
          <a:prstGeom prst="chevron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9461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7C5CFC">
              <a:alpha val="82000"/>
            </a:srgbClr>
          </a:solidFill>
          <a:ln w="12700">
            <a:solidFill>
              <a:srgbClr val="7C5CFC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0433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提示工程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37660" y="4078224"/>
            <a:ext cx="182880" cy="0"/>
          </a:xfrm>
          <a:prstGeom prst="line">
            <a:avLst/>
          </a:prstGeom>
          <a:noFill/>
          <a:ln w="25400">
            <a:solidFill>
              <a:srgbClr val="12D8FA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4247388" y="3986784"/>
            <a:ext cx="118872" cy="182880"/>
          </a:xfrm>
          <a:prstGeom prst="chevron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6626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7C5CFC">
              <a:alpha val="82000"/>
            </a:srgbClr>
          </a:solidFill>
          <a:ln w="12700">
            <a:solidFill>
              <a:srgbClr val="7C5CFC">
                <a:alpha val="7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7598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Agent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09310" y="4078224"/>
            <a:ext cx="182880" cy="0"/>
          </a:xfrm>
          <a:prstGeom prst="line">
            <a:avLst/>
          </a:prstGeom>
          <a:noFill/>
          <a:ln w="25400">
            <a:solidFill>
              <a:srgbClr val="12D8FA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6019038" y="3986784"/>
            <a:ext cx="118872" cy="182880"/>
          </a:xfrm>
          <a:prstGeom prst="chevron">
            <a:avLst/>
          </a:prstGeom>
          <a:solidFill>
            <a:srgbClr val="12D8FA"/>
          </a:solidFill>
          <a:ln w="12700">
            <a:solidFill>
              <a:srgbClr val="12D8F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7910" y="3703320"/>
            <a:ext cx="1543050" cy="749808"/>
          </a:xfrm>
          <a:prstGeom prst="roundRect">
            <a:avLst>
              <a:gd name="adj" fmla="val 9756"/>
            </a:avLst>
          </a:prstGeom>
          <a:solidFill>
            <a:srgbClr val="A78BFA">
              <a:alpha val="82000"/>
            </a:srgbClr>
          </a:solidFill>
          <a:ln w="1270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7638" y="3776472"/>
            <a:ext cx="13235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安全治理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09560" y="1417320"/>
            <a:ext cx="3246120" cy="3474720"/>
          </a:xfrm>
          <a:prstGeom prst="roundRect">
            <a:avLst>
              <a:gd name="adj" fmla="val 3380"/>
            </a:avLst>
          </a:prstGeom>
          <a:solidFill>
            <a:srgbClr val="FFFFFF">
              <a:alpha val="12000"/>
            </a:srgbClr>
          </a:solidFill>
          <a:ln w="1397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7C5CFC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0" y="214884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3F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822960" y="5989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 ·  Reflection  ·  Next Action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MicroCourse Templates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生成式 AI 与智能体</dc:title>
  <dc:subject>人工智能课程</dc:subject>
  <dc:creator>OpenAI Multi-Agent PPT System</dc:creator>
  <cp:lastModifiedBy>OpenAI Multi-Agent PPT System</cp:lastModifiedBy>
  <cp:revision>1</cp:revision>
  <dcterms:created xsi:type="dcterms:W3CDTF">2026-08-04T14:30:23Z</dcterms:created>
  <dcterms:modified xsi:type="dcterms:W3CDTF">2026-08-04T14:30:23Z</dcterms:modified>
</cp:coreProperties>
</file>