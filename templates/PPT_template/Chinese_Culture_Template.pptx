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822960" y="6583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 · 行 · 合 · 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1298448"/>
            <a:ext cx="6949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A61B1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实事求是：传统智慧与当代实践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850392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2F261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852160" y="4503420"/>
            <a:ext cx="795528" cy="-1234440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647688" y="3268980"/>
            <a:ext cx="795528" cy="946404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7443216" y="4215384"/>
            <a:ext cx="954634" cy="-2180844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8397850" y="2034540"/>
            <a:ext cx="742493" cy="1728216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140342" y="3762756"/>
            <a:ext cx="848563" cy="-102870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988906" y="2734056"/>
            <a:ext cx="1166774" cy="1645920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5852160" y="5120640"/>
            <a:ext cx="530352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646920" y="777240"/>
            <a:ext cx="960120" cy="960120"/>
          </a:xfrm>
          <a:prstGeom prst="ellipse">
            <a:avLst/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38360" y="987552"/>
            <a:ext cx="777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求是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0392" y="4315968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从真实问题出发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在实践反馈中接近规律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7E141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思政文化课程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 INTRODUCTION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课程导入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40080" y="1481328"/>
            <a:ext cx="4846320" cy="4251960"/>
          </a:xfrm>
          <a:prstGeom prst="roundRect">
            <a:avLst>
              <a:gd name="adj" fmla="val 1720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1481328"/>
            <a:ext cx="73152" cy="425196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163677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为什么学习这门微课？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68680" y="2039112"/>
            <a:ext cx="438912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“实事”是客观存在，“求是”是探求规律。它要求我们从真实情况出发，而不是从预设答案出发。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0120" y="294436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A6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1965960" y="3182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46120" y="294436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3913632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IDEAS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159105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30568" y="15636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经典溯源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28232" y="2084832"/>
            <a:ext cx="0" cy="493776"/>
          </a:xfrm>
          <a:prstGeom prst="line">
            <a:avLst/>
          </a:prstGeom>
          <a:noFill/>
          <a:ln w="254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172200" y="2596896"/>
            <a:ext cx="502920" cy="5029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6151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830568" y="25877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历史实践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428232" y="3108960"/>
            <a:ext cx="0" cy="493776"/>
          </a:xfrm>
          <a:prstGeom prst="line">
            <a:avLst/>
          </a:prstGeom>
          <a:noFill/>
          <a:ln w="254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6172200" y="3621024"/>
            <a:ext cx="502920" cy="5029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72200" y="36393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830568" y="3611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方法转化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28232" y="4133088"/>
            <a:ext cx="0" cy="493776"/>
          </a:xfrm>
          <a:prstGeom prst="line">
            <a:avLst/>
          </a:prstGeom>
          <a:noFill/>
          <a:ln w="254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6172200" y="4645152"/>
            <a:ext cx="502920" cy="5029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72200" y="466344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30568" y="46360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青年行动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2/15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学习目标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658368" y="1417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完成本节后，你能够：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8368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1965960"/>
            <a:ext cx="73152" cy="1225296"/>
          </a:xfrm>
          <a:prstGeom prst="roundRect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6968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86968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理解“实事求是”的思想源流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9632" y="1965960"/>
            <a:ext cx="73152" cy="1225296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28232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28232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辨析事实、立场与判断的关系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58368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538728"/>
            <a:ext cx="73152" cy="1225296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86968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86968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用调查研究回应真实问题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99632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99632" y="3538728"/>
            <a:ext cx="73152" cy="1225296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28232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28232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形成可执行、可评价的行动方案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3/15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MAP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知识地图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5312664" y="2926080"/>
            <a:ext cx="1554480" cy="155448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327355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82880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828800" y="1920240"/>
            <a:ext cx="73152" cy="960120"/>
          </a:xfrm>
          <a:prstGeom prst="roundRect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05740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05740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经典溯源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886200" y="2404872"/>
            <a:ext cx="1426464" cy="950976"/>
          </a:xfrm>
          <a:prstGeom prst="line">
            <a:avLst/>
          </a:prstGeom>
          <a:noFill/>
          <a:ln w="17780">
            <a:solidFill>
              <a:srgbClr val="C99A3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877824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778240" y="1920240"/>
            <a:ext cx="73152" cy="960120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0684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历史实践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778240" y="2404872"/>
            <a:ext cx="-1911096" cy="950976"/>
          </a:xfrm>
          <a:prstGeom prst="line">
            <a:avLst/>
          </a:prstGeom>
          <a:noFill/>
          <a:ln w="17780">
            <a:solidFill>
              <a:srgbClr val="C99A3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182880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28800" y="4617720"/>
            <a:ext cx="73152" cy="96012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05740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205740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方法转化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3886200" y="5102352"/>
            <a:ext cx="1426464" cy="-1051560"/>
          </a:xfrm>
          <a:prstGeom prst="line">
            <a:avLst/>
          </a:prstGeom>
          <a:noFill/>
          <a:ln w="17780">
            <a:solidFill>
              <a:srgbClr val="C99A3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877824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778240" y="4617720"/>
            <a:ext cx="73152" cy="960120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684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900684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青年行动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778240" y="5102352"/>
            <a:ext cx="-1911096" cy="-1051560"/>
          </a:xfrm>
          <a:prstGeom prst="line">
            <a:avLst/>
          </a:prstGeom>
          <a:noFill/>
          <a:ln w="17780">
            <a:solidFill>
              <a:srgbClr val="C99A3D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3840480" y="4704588"/>
            <a:ext cx="672084" cy="-1014984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4512564" y="3689604"/>
            <a:ext cx="672084" cy="778154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5184648" y="4467758"/>
            <a:ext cx="806501" cy="-1793138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5991149" y="2674620"/>
            <a:ext cx="627278" cy="1420978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41" name="Shape 39"/>
          <p:cNvSpPr/>
          <p:nvPr/>
        </p:nvSpPr>
        <p:spPr>
          <a:xfrm>
            <a:off x="6618427" y="4095598"/>
            <a:ext cx="716890" cy="-84582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42" name="Shape 40"/>
          <p:cNvSpPr/>
          <p:nvPr/>
        </p:nvSpPr>
        <p:spPr>
          <a:xfrm>
            <a:off x="7335317" y="3249778"/>
            <a:ext cx="985723" cy="1353312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3840480" y="5212080"/>
            <a:ext cx="448056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44" name="Text 42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4/15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INTRODUCTION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知识导入：先建立一个共同框架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658368" y="1417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“实事”是客观存在，“求是”是探求规律。它要求我们从真实情况出发，而不是从预设答案出发。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8580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A61B1B"/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经典溯源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60270" y="31638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2269998" y="30723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8887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49859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历史实践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863340" y="31638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3973068" y="30723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9194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0166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方法转化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566410" y="31638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5676138" y="30723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9501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7E1414">
              <a:alpha val="92000"/>
            </a:srgbClr>
          </a:solidFill>
          <a:ln w="12700">
            <a:solidFill>
              <a:srgbClr val="7E1414">
                <a:alpha val="7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0473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青年行动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726680" y="1417320"/>
            <a:ext cx="3794760" cy="4251960"/>
          </a:xfrm>
          <a:prstGeom prst="roundRect">
            <a:avLst>
              <a:gd name="adj" fmla="val 1928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726680" y="1417320"/>
            <a:ext cx="73152" cy="425196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0" y="1572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核心判断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955280" y="1975104"/>
            <a:ext cx="333756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好的学习框架需要同时回答：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我们面对什么问题？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有哪些可验证的证据？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应该采取什么行动？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如何通过反馈继续优化？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源流：经世致用的求真精神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6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格物 → 致知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尊重事实与经验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重视知行合一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反对空谈与教条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83680" y="4514850"/>
            <a:ext cx="665226" cy="-1028700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248906" y="3486150"/>
            <a:ext cx="665226" cy="788670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914132" y="4274820"/>
            <a:ext cx="798271" cy="-1817370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8712403" y="2457450"/>
            <a:ext cx="620878" cy="1440180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3281" y="3897630"/>
            <a:ext cx="709574" cy="-85725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0042855" y="3040380"/>
            <a:ext cx="975665" cy="1371600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83680" y="5029200"/>
            <a:ext cx="4434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257032" y="2240280"/>
            <a:ext cx="1371600" cy="1371600"/>
          </a:xfrm>
          <a:prstGeom prst="ellipse">
            <a:avLst/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6700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求真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766560" y="48006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1B1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尊重事实，探求规律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6/15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方法：调查研究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6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无调查，无发言权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走进现场了解真实需求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交叉验证不同群体观点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把问题转化为证据与数据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83680" y="4514850"/>
            <a:ext cx="665226" cy="-1028700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248906" y="3486150"/>
            <a:ext cx="665226" cy="788670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914132" y="4274820"/>
            <a:ext cx="798271" cy="-1817370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8712403" y="2457450"/>
            <a:ext cx="620878" cy="1440180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3281" y="3897630"/>
            <a:ext cx="709574" cy="-85725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0042855" y="3040380"/>
            <a:ext cx="975665" cy="1371600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83680" y="5029200"/>
            <a:ext cx="4434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257032" y="2240280"/>
            <a:ext cx="1371600" cy="1371600"/>
          </a:xfrm>
          <a:prstGeom prst="ellipse">
            <a:avLst/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6700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调研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766560" y="48006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1B1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深入现场，听见真实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判断：具体问题具体分析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6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因时 · 因地 · 因人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识别历史条件与现实约束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避免用单一经验套用所有场景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在原则与方法间建立连接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83680" y="4514850"/>
            <a:ext cx="665226" cy="-1028700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248906" y="3486150"/>
            <a:ext cx="665226" cy="788670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914132" y="4274820"/>
            <a:ext cx="798271" cy="-1817370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8712403" y="2457450"/>
            <a:ext cx="620878" cy="1440180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3281" y="3897630"/>
            <a:ext cx="709574" cy="-85725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0042855" y="3040380"/>
            <a:ext cx="975665" cy="1371600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83680" y="5029200"/>
            <a:ext cx="4434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257032" y="2240280"/>
            <a:ext cx="1371600" cy="1371600"/>
          </a:xfrm>
          <a:prstGeom prst="ellipse">
            <a:avLst/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6700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辨析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766560" y="48006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1B1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具体分析，反对套用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8/15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04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行动：群众路线中的反馈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A61B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实践 → 认识 → 再实践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方案来自群众实际需求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执行过程持续收集反馈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评价结果回到群众获得感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583680" y="4514850"/>
            <a:ext cx="665226" cy="-1028700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7248906" y="3486150"/>
            <a:ext cx="665226" cy="788670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Shape 27"/>
          <p:cNvSpPr/>
          <p:nvPr/>
        </p:nvSpPr>
        <p:spPr>
          <a:xfrm>
            <a:off x="7914132" y="4274820"/>
            <a:ext cx="798271" cy="-1817370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8712403" y="2457450"/>
            <a:ext cx="620878" cy="1440180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3281" y="3897630"/>
            <a:ext cx="709574" cy="-85725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0042855" y="3040380"/>
            <a:ext cx="975665" cy="1371600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6583680" y="5029200"/>
            <a:ext cx="4434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257032" y="2240280"/>
            <a:ext cx="1371600" cy="1371600"/>
          </a:xfrm>
          <a:prstGeom prst="ellipse">
            <a:avLst/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458200" y="2670048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践行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766560" y="48006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61B1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在反馈中修正行动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9/15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案例：传统村落公共空间更新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8580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A61B1B"/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52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访谈老人、青年与经营者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23260" y="1947672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3332988" y="1856232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5186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6158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绘制空间使用与资源地图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89320" y="1947672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6099048" y="1856232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1792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2764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形成低成本分阶段方案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755380" y="1947672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8865108" y="1856232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8398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7E1414">
              <a:alpha val="92000"/>
            </a:srgbClr>
          </a:solidFill>
          <a:ln w="12700">
            <a:solidFill>
              <a:srgbClr val="7E1414">
                <a:alpha val="7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09370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通过满意度与使用率评估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2788920"/>
            <a:ext cx="6675120" cy="2514600"/>
          </a:xfrm>
          <a:prstGeom prst="roundRect">
            <a:avLst>
              <a:gd name="adj" fmla="val 2909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85800" y="2788920"/>
            <a:ext cx="73152" cy="251460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2944368"/>
            <a:ext cx="6263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案例复盘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14400" y="3346704"/>
            <a:ext cx="621792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问题定义 → 证据收集 → 方案执行 → 结果评价。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关键不是“案例看起来成功”，而是能够说明为什么成功、在哪些条件下可复用。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680960" y="4901184"/>
            <a:ext cx="521208" cy="-713232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8202168" y="4187952"/>
            <a:ext cx="521208" cy="546811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723376" y="4734763"/>
            <a:ext cx="625450" cy="-1260043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48826" y="3474720"/>
            <a:ext cx="486461" cy="998525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7" name="Shape 35"/>
          <p:cNvSpPr/>
          <p:nvPr/>
        </p:nvSpPr>
        <p:spPr>
          <a:xfrm>
            <a:off x="9835286" y="4473245"/>
            <a:ext cx="555955" cy="-59436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10391242" y="3878885"/>
            <a:ext cx="764438" cy="950976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7680960" y="5257800"/>
            <a:ext cx="347472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40" name="Text 38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10/15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DISCUSSION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互动讨论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85800" y="1417320"/>
            <a:ext cx="2377440" cy="347472"/>
          </a:xfrm>
          <a:prstGeom prst="roundRect">
            <a:avLst>
              <a:gd name="adj" fmla="val 47368"/>
            </a:avLst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1426464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THINK · PAIR · SHARE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" y="19659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当专家方案与村民日常需求发生冲突时，应该如何重新定义“更好的方案”？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440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3840480"/>
            <a:ext cx="73152" cy="1234440"/>
          </a:xfrm>
          <a:prstGeom prst="roundRect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4300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min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14300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独立判断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09160" y="3840480"/>
            <a:ext cx="73152" cy="1234440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3776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同伴交换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50392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503920" y="3840480"/>
            <a:ext cx="73152" cy="123444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3252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73252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全班分享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11/15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本课总结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685800" y="1417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用一句话记住四个关键点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554480" y="2286000"/>
            <a:ext cx="1005840" cy="1005840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5544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经典溯源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格物 → 致知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60320" y="2788920"/>
            <a:ext cx="868680" cy="0"/>
          </a:xfrm>
          <a:prstGeom prst="line">
            <a:avLst/>
          </a:prstGeom>
          <a:noFill/>
          <a:ln w="25400">
            <a:solidFill>
              <a:srgbClr val="EDE2CC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4297680" y="2286000"/>
            <a:ext cx="1005840" cy="100584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34290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历史实践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34290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无调查，无发言权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303520" y="2788920"/>
            <a:ext cx="868680" cy="0"/>
          </a:xfrm>
          <a:prstGeom prst="line">
            <a:avLst/>
          </a:prstGeom>
          <a:noFill/>
          <a:ln w="25400">
            <a:solidFill>
              <a:srgbClr val="EDE2CC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7040880" y="2286000"/>
            <a:ext cx="1005840" cy="1005840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0408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1722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方法转化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1722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因时 · 因地 · 因人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6720" y="2788920"/>
            <a:ext cx="868680" cy="0"/>
          </a:xfrm>
          <a:prstGeom prst="line">
            <a:avLst/>
          </a:prstGeom>
          <a:noFill/>
          <a:ln w="25400">
            <a:solidFill>
              <a:srgbClr val="EDE2CC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784080" y="2286000"/>
            <a:ext cx="1005840" cy="1005840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7840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89154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青年行动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89154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实践 → 认识 → 再实践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188720" y="5166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E1414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理解框架只是起点，真正的掌握来自应用、反馈与修正。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12/15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即时测验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85800" y="141732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417320"/>
            <a:ext cx="73152" cy="1051560"/>
          </a:xfrm>
          <a:prstGeom prst="roundRect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1572768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Q1  “实事”强调？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1975104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549640" y="1728216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22792" y="173736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答案：客观实际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2862072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2862072"/>
            <a:ext cx="73152" cy="1051560"/>
          </a:xfrm>
          <a:prstGeom prst="roundRect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3017520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Q2  形成判断前先做？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3419856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549640" y="3172968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22792" y="31821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答案：调查研究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85800" y="4306824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06824"/>
            <a:ext cx="73152" cy="105156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4462272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Q3  检验认识的标准？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4400" y="4864608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549640" y="4617720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22792" y="4626864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答案：社会实践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31520" y="583387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建议：先隐藏答案，让学习者完成后再点击揭示。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13/15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课后任务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DE2CC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685800" y="1463040"/>
            <a:ext cx="6492240" cy="4526280"/>
          </a:xfrm>
          <a:prstGeom prst="roundRect">
            <a:avLst>
              <a:gd name="adj" fmla="val 1616"/>
            </a:avLst>
          </a:prstGeom>
          <a:solidFill>
            <a:srgbClr val="FFFDF7"/>
          </a:solidFill>
          <a:ln w="12700">
            <a:solidFill>
              <a:srgbClr val="E8D7B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85800" y="1463040"/>
            <a:ext cx="73152" cy="4526280"/>
          </a:xfrm>
          <a:prstGeom prst="roundRect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1618488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任务说明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2020824"/>
            <a:ext cx="6035040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围绕校园或社区一个真实问题，完成“观察—访谈—证据—行动”四栏调研卡。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635240" y="14813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提交清单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635240" y="2103120"/>
            <a:ext cx="356616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DE2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36408" y="2267712"/>
            <a:ext cx="219456" cy="219456"/>
          </a:xfrm>
          <a:prstGeom prst="ellipse">
            <a:avLst/>
          </a:prstGeom>
          <a:solidFill>
            <a:srgbClr val="A61B1B"/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27264" y="22585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183880" y="22128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明确的问题或目标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635240" y="2880360"/>
            <a:ext cx="356616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DE2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36408" y="3044952"/>
            <a:ext cx="219456" cy="219456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27264" y="30358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183880" y="29900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可验证的证据或指标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635240" y="3657600"/>
            <a:ext cx="356616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DE2C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36408" y="3822192"/>
            <a:ext cx="219456" cy="219456"/>
          </a:xfrm>
          <a:prstGeom prst="ellipse">
            <a:avLst/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827264" y="381304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183880" y="37673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具体行动步骤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7635240" y="4434840"/>
            <a:ext cx="3566160" cy="566928"/>
          </a:xfrm>
          <a:prstGeom prst="roundRect">
            <a:avLst/>
          </a:prstGeom>
          <a:solidFill>
            <a:srgbClr val="FFFDF7"/>
          </a:solidFill>
          <a:ln w="12700">
            <a:solidFill>
              <a:srgbClr val="EDE2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36408" y="4599432"/>
            <a:ext cx="219456" cy="219456"/>
          </a:xfrm>
          <a:prstGeom prst="ellipse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827264" y="459028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D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183880" y="45445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风险与反馈机制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Chinese Culture Education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C99A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14/15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1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1E3"/>
          </a:solidFill>
          <a:ln w="12700">
            <a:solidFill>
              <a:srgbClr val="F7F1E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281160" y="54864"/>
            <a:ext cx="1691640" cy="1691640"/>
          </a:xfrm>
          <a:prstGeom prst="ellipse">
            <a:avLst/>
          </a:prstGeom>
          <a:solidFill>
            <a:srgbClr val="A61B1B">
              <a:alpha val="6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09176" y="128016"/>
            <a:ext cx="1545336" cy="1545336"/>
          </a:xfrm>
          <a:prstGeom prst="ellipse">
            <a:avLst/>
          </a:prstGeom>
          <a:solidFill>
            <a:srgbClr val="A61B1B">
              <a:alpha val="7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37192" y="201168"/>
            <a:ext cx="1399032" cy="1399032"/>
          </a:xfrm>
          <a:prstGeom prst="ellipse">
            <a:avLst/>
          </a:prstGeom>
          <a:solidFill>
            <a:srgbClr val="A61B1B">
              <a:alpha val="8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65208" y="274320"/>
            <a:ext cx="1252728" cy="1252728"/>
          </a:xfrm>
          <a:prstGeom prst="ellipse">
            <a:avLst/>
          </a:prstGeom>
          <a:solidFill>
            <a:srgbClr val="A61B1B">
              <a:alpha val="9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93224" y="347472"/>
            <a:ext cx="1106424" cy="1106424"/>
          </a:xfrm>
          <a:prstGeom prst="ellipse">
            <a:avLst/>
          </a:prstGeom>
          <a:solidFill>
            <a:srgbClr val="A61B1B">
              <a:alpha val="10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921240" y="420624"/>
            <a:ext cx="960120" cy="960120"/>
          </a:xfrm>
          <a:prstGeom prst="ellipse">
            <a:avLst/>
          </a:prstGeom>
          <a:solidFill>
            <a:srgbClr val="A61B1B">
              <a:alpha val="11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049256" y="493776"/>
            <a:ext cx="813816" cy="813816"/>
          </a:xfrm>
          <a:prstGeom prst="ellipse">
            <a:avLst/>
          </a:prstGeom>
          <a:solidFill>
            <a:srgbClr val="A61B1B">
              <a:alpha val="12000"/>
            </a:srgbClr>
          </a:solidFill>
          <a:ln w="12700">
            <a:solidFill>
              <a:srgbClr val="A61B1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6510528"/>
            <a:ext cx="1129284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777240" y="822960"/>
            <a:ext cx="2514600" cy="347472"/>
          </a:xfrm>
          <a:prstGeom prst="roundRect">
            <a:avLst>
              <a:gd name="adj" fmla="val 47368"/>
            </a:avLst>
          </a:prstGeom>
          <a:solidFill>
            <a:srgbClr val="7E1414"/>
          </a:solidFill>
          <a:ln w="12700">
            <a:solidFill>
              <a:srgbClr val="7E1414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" y="832104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END OF MICRO COURSE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77240" y="16002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2F261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从理解到行动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804672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C99A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把今天的一个关键观点，用在下一个真实问题中。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8229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A61B1B"/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经典溯源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366010" y="40782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2475738" y="39867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946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043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历史实践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137660" y="40782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4247388" y="39867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62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A61B1B">
              <a:alpha val="92000"/>
            </a:srgbClr>
          </a:solidFill>
          <a:ln w="12700">
            <a:solidFill>
              <a:srgbClr val="A61B1B">
                <a:alpha val="75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59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方法转化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09310" y="4078224"/>
            <a:ext cx="182880" cy="0"/>
          </a:xfrm>
          <a:prstGeom prst="line">
            <a:avLst/>
          </a:prstGeom>
          <a:noFill/>
          <a:ln w="254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6019038" y="3986784"/>
            <a:ext cx="118872" cy="182880"/>
          </a:xfrm>
          <a:prstGeom prst="chevron">
            <a:avLst/>
          </a:prstGeom>
          <a:solidFill>
            <a:srgbClr val="C99A3D"/>
          </a:solidFill>
          <a:ln w="12700">
            <a:solidFill>
              <a:srgbClr val="C99A3D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379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7E1414">
              <a:alpha val="92000"/>
            </a:srgbClr>
          </a:solidFill>
          <a:ln w="12700">
            <a:solidFill>
              <a:srgbClr val="7E1414">
                <a:alpha val="7500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476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7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青年行动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4668012"/>
            <a:ext cx="548640" cy="-1179576"/>
          </a:xfrm>
          <a:prstGeom prst="line">
            <a:avLst/>
          </a:prstGeom>
          <a:noFill/>
          <a:ln w="25400">
            <a:solidFill>
              <a:srgbClr val="2F261F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8229600" y="3488436"/>
            <a:ext cx="548640" cy="904342"/>
          </a:xfrm>
          <a:prstGeom prst="line">
            <a:avLst/>
          </a:prstGeom>
          <a:noFill/>
          <a:ln w="25400">
            <a:solidFill>
              <a:srgbClr val="2F261F">
                <a:alpha val="92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8778240" y="4392778"/>
            <a:ext cx="658368" cy="-2083918"/>
          </a:xfrm>
          <a:prstGeom prst="line">
            <a:avLst/>
          </a:prstGeom>
          <a:noFill/>
          <a:ln w="25400">
            <a:solidFill>
              <a:srgbClr val="2F261F">
                <a:alpha val="84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436608" y="2308860"/>
            <a:ext cx="512064" cy="1651406"/>
          </a:xfrm>
          <a:prstGeom prst="line">
            <a:avLst/>
          </a:prstGeom>
          <a:noFill/>
          <a:ln w="25400">
            <a:solidFill>
              <a:srgbClr val="2F261F">
                <a:alpha val="76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948672" y="3960266"/>
            <a:ext cx="585216" cy="-982980"/>
          </a:xfrm>
          <a:prstGeom prst="line">
            <a:avLst/>
          </a:prstGeom>
          <a:noFill/>
          <a:ln w="25400">
            <a:solidFill>
              <a:srgbClr val="2F261F">
                <a:alpha val="68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Shape 32"/>
          <p:cNvSpPr/>
          <p:nvPr/>
        </p:nvSpPr>
        <p:spPr>
          <a:xfrm>
            <a:off x="10533888" y="2977286"/>
            <a:ext cx="804672" cy="1572768"/>
          </a:xfrm>
          <a:prstGeom prst="line">
            <a:avLst/>
          </a:prstGeom>
          <a:noFill/>
          <a:ln w="25400">
            <a:solidFill>
              <a:srgbClr val="2F261F">
                <a:alpha val="6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7680960" y="5257800"/>
            <a:ext cx="3657600" cy="0"/>
          </a:xfrm>
          <a:prstGeom prst="line">
            <a:avLst/>
          </a:prstGeom>
          <a:noFill/>
          <a:ln w="12700">
            <a:solidFill>
              <a:srgbClr val="C99A3D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822960" y="5989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E14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  ·  Reflection  ·  Next Action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MicroCourse Templates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实事求是：传统智慧与当代实践</dc:title>
  <dc:subject>思政文化课程</dc:subject>
  <dc:creator>OpenAI Multi-Agent PPT System</dc:creator>
  <cp:lastModifiedBy>OpenAI Multi-Agent PPT System</cp:lastModifiedBy>
  <cp:revision>1</cp:revision>
  <dcterms:created xsi:type="dcterms:W3CDTF">2026-08-04T14:30:23Z</dcterms:created>
  <dcterms:modified xsi:type="dcterms:W3CDTF">2026-08-04T14:30:23Z</dcterms:modified>
</cp:coreProperties>
</file>