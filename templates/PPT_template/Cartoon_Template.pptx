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685800"/>
            <a:ext cx="192024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694944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READY? START!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1353312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网络安全小卫士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04672" y="2560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E7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一起闯过 4 个网络安全关卡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789670" y="1280160"/>
            <a:ext cx="1193292" cy="1193292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48776" y="1929841"/>
            <a:ext cx="450799" cy="212141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4622" y="1677924"/>
            <a:ext cx="79553" cy="79553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92386" y="1677924"/>
            <a:ext cx="79553" cy="79553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58200" y="2340864"/>
            <a:ext cx="1882750" cy="2055114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93024" y="2606040"/>
            <a:ext cx="424282" cy="132588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81844" y="2606040"/>
            <a:ext cx="424282" cy="132588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0" y="822960"/>
            <a:ext cx="2011680" cy="1097280"/>
          </a:xfrm>
          <a:prstGeom prst="cloud">
            <a:avLst/>
          </a:prstGeom>
          <a:solidFill>
            <a:srgbClr val="FFFFFF"/>
          </a:solidFill>
          <a:ln w="16510">
            <a:solidFill>
              <a:srgbClr val="2432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0" y="1024128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我是小盾！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一起安全升级！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160520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41696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57400" y="4160520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30552" y="41696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4160520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64992" y="41696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26280" y="4160520"/>
            <a:ext cx="960120" cy="347472"/>
          </a:xfrm>
          <a:prstGeom prst="roundRect">
            <a:avLst>
              <a:gd name="adj" fmla="val 47368"/>
            </a:avLst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99432" y="41696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7240" y="6080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青少年教育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 INTRODUCTION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课程导入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40080" y="1481328"/>
            <a:ext cx="48463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1481328"/>
            <a:ext cx="73152" cy="425196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163677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为什么学习这门微课？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2039112"/>
            <a:ext cx="438912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网络世界像一座游戏地图：有宝藏，也有陷阱。掌握规则，就能安全升级。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60120" y="294436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E7B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1965960" y="3182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46120" y="294436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913632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IDEAS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15350" y="1828800"/>
            <a:ext cx="864108" cy="864108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30564" y="2299259"/>
            <a:ext cx="326441" cy="153619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6178" y="2116836"/>
            <a:ext cx="57607" cy="57607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24214" y="2116836"/>
            <a:ext cx="57607" cy="57607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2596896"/>
            <a:ext cx="1363370" cy="1488186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2788920"/>
            <a:ext cx="307238" cy="96012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23476" y="2788920"/>
            <a:ext cx="307238" cy="96012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1600200"/>
            <a:ext cx="2011680" cy="1143000"/>
          </a:xfrm>
          <a:prstGeom prst="cloud">
            <a:avLst/>
          </a:prstGeom>
          <a:solidFill>
            <a:srgbClr val="FFFFF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02552" y="185623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完成任务，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获得安全徽章！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2/15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学习目标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58368" y="1417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完成本节后，你能够：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58368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1965960"/>
            <a:ext cx="73152" cy="1225296"/>
          </a:xfrm>
          <a:prstGeom prst="roundRect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6968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设计更安全且容易记忆的密码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99632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9632" y="1965960"/>
            <a:ext cx="73152" cy="1225296"/>
          </a:xfrm>
          <a:prstGeom prst="roundRect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8232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8232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识别可疑链接和陌生消息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3538728"/>
            <a:ext cx="73152" cy="1225296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6968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86968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保护照片、位置和个人信息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38728"/>
            <a:ext cx="73152" cy="1225296"/>
          </a:xfrm>
          <a:prstGeom prst="round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28232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遇到风险时及时停止并求助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3/15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知识地图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5312664" y="2926080"/>
            <a:ext cx="1554480" cy="155448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95544" y="327355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82880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0" y="1920240"/>
            <a:ext cx="73152" cy="960120"/>
          </a:xfrm>
          <a:prstGeom prst="roundRect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5740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05740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密码城堡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886200" y="2404872"/>
            <a:ext cx="1426464" cy="950976"/>
          </a:xfrm>
          <a:prstGeom prst="line">
            <a:avLst/>
          </a:prstGeom>
          <a:noFill/>
          <a:ln w="17780">
            <a:solidFill>
              <a:srgbClr val="FFB84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877824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0" y="1920240"/>
            <a:ext cx="73152" cy="960120"/>
          </a:xfrm>
          <a:prstGeom prst="roundRect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0684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链接侦探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778240" y="2404872"/>
            <a:ext cx="-1911096" cy="950976"/>
          </a:xfrm>
          <a:prstGeom prst="line">
            <a:avLst/>
          </a:prstGeom>
          <a:noFill/>
          <a:ln w="17780">
            <a:solidFill>
              <a:srgbClr val="FFB84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82880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28800" y="4617720"/>
            <a:ext cx="73152" cy="96012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5740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05740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隐私护盾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886200" y="5102352"/>
            <a:ext cx="1426464" cy="-1051560"/>
          </a:xfrm>
          <a:prstGeom prst="line">
            <a:avLst/>
          </a:prstGeom>
          <a:noFill/>
          <a:ln w="17780">
            <a:solidFill>
              <a:srgbClr val="FFB84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7824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78240" y="4617720"/>
            <a:ext cx="73152" cy="960120"/>
          </a:xfrm>
          <a:prstGeom prst="round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0684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0684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求助通道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78240" y="5102352"/>
            <a:ext cx="-1911096" cy="-1051560"/>
          </a:xfrm>
          <a:prstGeom prst="line">
            <a:avLst/>
          </a:prstGeom>
          <a:noFill/>
          <a:ln w="17780">
            <a:solidFill>
              <a:srgbClr val="FFB84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4/15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INTRODUCTION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知识导入：先建立一个共同框架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58368" y="1417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网络世界像一座游戏地图：有宝藏，也有陷阱。掌握规则，就能安全升级。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8580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4E7BFF"/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密码城堡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0270" y="31638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2269998" y="30723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8887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9859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链接侦探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863340" y="31638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973068" y="30723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9194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166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隐私护盾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566410" y="31638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676138" y="30723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9501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92000"/>
            </a:srgbClr>
          </a:solidFill>
          <a:ln w="12700">
            <a:solidFill>
              <a:srgbClr val="FF6B6B">
                <a:alpha val="7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0473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求助通道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1417320"/>
            <a:ext cx="3794760" cy="42519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726680" y="1417320"/>
            <a:ext cx="73152" cy="425196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1572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核心判断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955280" y="1975104"/>
            <a:ext cx="333756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好的学习框架需要同时回答：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我们面对什么问题？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有哪些可验证的证据？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应该采取什么行动？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如何通过反馈继续优化？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Level 1：打造密码城堡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E7B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12+ Characters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长度优先，混合多类字符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不同账号使用不同密码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开启双重验证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9620" y="1828800"/>
            <a:ext cx="905256" cy="905256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0321" y="2321662"/>
            <a:ext cx="341986" cy="160934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0963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2715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2633472"/>
            <a:ext cx="1428293" cy="1559052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3699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1554480"/>
            <a:ext cx="2011680" cy="1097280"/>
          </a:xfrm>
          <a:prstGeom prst="cloud">
            <a:avLst/>
          </a:prstGeom>
          <a:solidFill>
            <a:srgbClr val="FFFFFF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84848" y="18105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密码越长，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城墙越高！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12280" y="4663440"/>
            <a:ext cx="658368" cy="658368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1812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2396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2396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2980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6/15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Level 2：成为链接侦探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E7B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· CHECK · ASK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先看发送者是否可信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检查网址拼写与跳转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不被“马上领取”催促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9620" y="1828800"/>
            <a:ext cx="905256" cy="905256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0321" y="2321662"/>
            <a:ext cx="341986" cy="160934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0963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2715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2633472"/>
            <a:ext cx="1428293" cy="1559052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3699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1554480"/>
            <a:ext cx="2011680" cy="1097280"/>
          </a:xfrm>
          <a:prstGeom prst="cloud">
            <a:avLst/>
          </a:prstGeom>
          <a:solidFill>
            <a:srgbClr val="FFFFFF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84848" y="18105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先停一下，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再检查链接！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12280" y="4663440"/>
            <a:ext cx="658368" cy="658368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18120" y="4663440"/>
            <a:ext cx="658368" cy="658368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2396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2396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2980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Level 3：开启隐私护盾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E7B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不公开住址、学校和行程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发照片前检查背景信息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定期查看应用权限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9620" y="1828800"/>
            <a:ext cx="905256" cy="905256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0321" y="2321662"/>
            <a:ext cx="341986" cy="160934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0963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2715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2633472"/>
            <a:ext cx="1428293" cy="1559052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3699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1554480"/>
            <a:ext cx="2011680" cy="1097280"/>
          </a:xfrm>
          <a:prstGeom prst="cloud">
            <a:avLst/>
          </a:prstGeom>
          <a:solidFill>
            <a:srgbClr val="FFFFFF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84848" y="18105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分享前，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先保护隐私！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12280" y="4663440"/>
            <a:ext cx="658368" cy="658368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18120" y="4663440"/>
            <a:ext cx="658368" cy="658368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23960" y="4663440"/>
            <a:ext cx="658368" cy="658368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2396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4663440"/>
            <a:ext cx="658368" cy="658368"/>
          </a:xfrm>
          <a:prstGeom prst="ellipse">
            <a:avLst/>
          </a:prstGeom>
          <a:solidFill>
            <a:srgbClr val="D8DEE9"/>
          </a:solidFill>
          <a:ln w="12700">
            <a:solidFill>
              <a:srgbClr val="D8DEE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2980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8/15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Boss：遇到风险怎么办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E7B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→ Save → Tell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立即停止点击和转账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保存截图等证据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告诉家长、老师或平台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9620" y="1828800"/>
            <a:ext cx="905256" cy="905256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0321" y="2321662"/>
            <a:ext cx="341986" cy="160934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0963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2715" y="2130552"/>
            <a:ext cx="60350" cy="6035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2633472"/>
            <a:ext cx="1428293" cy="1559052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3699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834640"/>
            <a:ext cx="321869" cy="100584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1554480"/>
            <a:ext cx="2011680" cy="1097280"/>
          </a:xfrm>
          <a:prstGeom prst="cloud">
            <a:avLst/>
          </a:prstGeom>
          <a:solidFill>
            <a:srgbClr val="FFFFFF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84848" y="18105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别害怕，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及时告诉大人！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12280" y="4663440"/>
            <a:ext cx="658368" cy="658368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18120" y="4663440"/>
            <a:ext cx="658368" cy="658368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23960" y="4663440"/>
            <a:ext cx="658368" cy="658368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2396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4663440"/>
            <a:ext cx="658368" cy="658368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29800" y="48737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9/15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闯关案例：免费皮肤兑换链接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8580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4E7BFF"/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陌生人发来“限时兑换”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23260" y="1947672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3332988" y="1856232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5186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158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链接要求输入账号密码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1947672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099048" y="1856232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小卫士检查域名并拒绝填写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55380" y="1947672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8865108" y="1856232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8398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92000"/>
            </a:srgbClr>
          </a:solidFill>
          <a:ln w="12700">
            <a:solidFill>
              <a:srgbClr val="FF6B6B">
                <a:alpha val="7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9370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截图后向老师和平台举报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" y="2788920"/>
            <a:ext cx="6675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800" y="2788920"/>
            <a:ext cx="73152" cy="251460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2944368"/>
            <a:ext cx="6263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案例复盘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4400" y="3346704"/>
            <a:ext cx="621792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问题定义 → 证据收集 → 方案执行 → 结果评价。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关键不是“案例看起来成功”，而是能够说明为什么成功、在哪些条件下可复用。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961120" y="3063240"/>
            <a:ext cx="822960" cy="822960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70848" y="3511296"/>
            <a:ext cx="310896" cy="146304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3337560"/>
            <a:ext cx="54864" cy="54864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45752" y="3337560"/>
            <a:ext cx="54864" cy="54864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32520" y="3794760"/>
            <a:ext cx="1298448" cy="1417320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49640" y="3977640"/>
            <a:ext cx="292608" cy="91440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21240" y="3977640"/>
            <a:ext cx="292608" cy="91440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0" y="5166360"/>
            <a:ext cx="2560320" cy="347472"/>
          </a:xfrm>
          <a:prstGeom prst="roundRect">
            <a:avLst>
              <a:gd name="adj" fmla="val 47368"/>
            </a:avLst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19872" y="5175504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MISSION COMPLETE!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10/15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DISCUSSION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互动讨论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85800" y="1417320"/>
            <a:ext cx="237744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1426464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THINK · PAIR · SHARE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19659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同学发来的链接就一定安全吗？哪些线索能帮助我们判断？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91440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840480"/>
            <a:ext cx="73152" cy="1234440"/>
          </a:xfrm>
          <a:prstGeom prst="roundRect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4300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min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4300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独立判断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3840480"/>
            <a:ext cx="73152" cy="1234440"/>
          </a:xfrm>
          <a:prstGeom prst="roundRect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93776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同伴交换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0392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0" y="3840480"/>
            <a:ext cx="73152" cy="123444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73252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全班分享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11/15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本课总结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85800" y="1417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用一句话记住四个关键点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54480" y="2286000"/>
            <a:ext cx="1005840" cy="10058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密码城堡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12+ Characters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0" y="2788920"/>
            <a:ext cx="868680" cy="0"/>
          </a:xfrm>
          <a:prstGeom prst="line">
            <a:avLst/>
          </a:prstGeom>
          <a:noFill/>
          <a:ln w="25400">
            <a:solidFill>
              <a:srgbClr val="DFF3FF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4297680" y="2286000"/>
            <a:ext cx="1005840" cy="1005840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4290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链接侦探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34290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· CHECK · ASK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0" y="2788920"/>
            <a:ext cx="868680" cy="0"/>
          </a:xfrm>
          <a:prstGeom prst="line">
            <a:avLst/>
          </a:prstGeom>
          <a:noFill/>
          <a:ln w="25400">
            <a:solidFill>
              <a:srgbClr val="DFF3FF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040880" y="2286000"/>
            <a:ext cx="1005840" cy="10058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1722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隐私护盾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1722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by Default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6720" y="2788920"/>
            <a:ext cx="868680" cy="0"/>
          </a:xfrm>
          <a:prstGeom prst="line">
            <a:avLst/>
          </a:prstGeom>
          <a:noFill/>
          <a:ln w="25400">
            <a:solidFill>
              <a:srgbClr val="DFF3FF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784080" y="2286000"/>
            <a:ext cx="1005840" cy="100584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840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9154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求助通道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89154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→ Save → Tell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88720" y="5166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理解框架只是起点，真正的掌握来自应用、反馈与修正。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12/15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即时测验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85800" y="141732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1417320"/>
            <a:ext cx="73152" cy="1051560"/>
          </a:xfrm>
          <a:prstGeom prst="roundRect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572768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Q1  安全密码首先要？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1975104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549640" y="1728216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22792" y="173736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答案：足够长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" y="2862072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2862072"/>
            <a:ext cx="73152" cy="1051560"/>
          </a:xfrm>
          <a:prstGeom prst="roundRect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017520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Q2  陌生链接先做？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3419856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49640" y="3172968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22792" y="31821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答案：停止并检查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" y="4306824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" y="4306824"/>
            <a:ext cx="73152" cy="105156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462272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Q3  被骗后第一步？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14400" y="4864608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549640" y="4617720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22792" y="4626864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答案：停止操作并求助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83387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建议：先隐藏答案，让学习者完成后再点击揭示。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13/15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课后任务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DFF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85800" y="1463040"/>
            <a:ext cx="64922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E4EAE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1463040"/>
            <a:ext cx="73152" cy="452628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618488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任务说明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2020824"/>
            <a:ext cx="6035040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制作一张“家庭网络安全通关卡”，与家人一起完成 5 项安全检查。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35240" y="14813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提交清单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35240" y="210312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F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36408" y="2267712"/>
            <a:ext cx="219456" cy="219456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22585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183880" y="22128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明确的问题或目标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635240" y="288036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F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36408" y="3044952"/>
            <a:ext cx="219456" cy="219456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27264" y="30358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183880" y="29900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可验证的证据或指标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635240" y="365760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F3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36408" y="3822192"/>
            <a:ext cx="219456" cy="219456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27264" y="381304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83880" y="37673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具体行动步骤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635240" y="443484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F3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36408" y="4599432"/>
            <a:ext cx="219456" cy="21945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27264" y="459028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183880" y="45445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风险与反馈机制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Cartoon Micro-Course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FFB8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14/15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9"/>
          </a:solidFill>
          <a:ln w="12700">
            <a:solidFill>
              <a:srgbClr val="FFF8E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457200"/>
            <a:ext cx="320040" cy="3200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0" y="731520"/>
            <a:ext cx="393192" cy="393192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0" y="5760720"/>
            <a:ext cx="466344" cy="466344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5943600"/>
            <a:ext cx="539496" cy="539496"/>
          </a:xfrm>
          <a:prstGeom prst="ellipse">
            <a:avLst/>
          </a:prstGeom>
          <a:solidFill>
            <a:srgbClr val="7BD389"/>
          </a:solidFill>
          <a:ln w="12700">
            <a:solidFill>
              <a:srgbClr val="7BD38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1552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87584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43616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9648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438912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11712" y="274320"/>
            <a:ext cx="91440" cy="91440"/>
          </a:xfrm>
          <a:prstGeom prst="ellipse">
            <a:avLst/>
          </a:prstGeom>
          <a:solidFill>
            <a:srgbClr val="4E7BFF"/>
          </a:solidFill>
          <a:ln w="12700">
            <a:solidFill>
              <a:srgbClr val="4E7B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822960"/>
            <a:ext cx="2514600" cy="347472"/>
          </a:xfrm>
          <a:prstGeom prst="roundRect">
            <a:avLst>
              <a:gd name="adj" fmla="val 47368"/>
            </a:avLst>
          </a:prstGeom>
          <a:solidFill>
            <a:srgbClr val="FF6B6B"/>
          </a:solidFill>
          <a:ln w="12700">
            <a:solidFill>
              <a:srgbClr val="FF6B6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832104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END OF MICRO COURSE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16002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4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从理解到行动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04672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B84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把今天的一个关键观点，用在下一个真实问题中。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4E7BFF"/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密码城堡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366010" y="40782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2475738" y="39867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946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3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链接侦探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37660" y="40782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4247388" y="39867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62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4E7BFF">
              <a:alpha val="92000"/>
            </a:srgbClr>
          </a:solidFill>
          <a:ln w="12700">
            <a:solidFill>
              <a:srgbClr val="4E7BFF">
                <a:alpha val="7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759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隐私护盾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09310" y="4078224"/>
            <a:ext cx="182880" cy="0"/>
          </a:xfrm>
          <a:prstGeom prst="line">
            <a:avLst/>
          </a:prstGeom>
          <a:noFill/>
          <a:ln w="25400">
            <a:solidFill>
              <a:srgbClr val="FFB84D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6019038" y="3986784"/>
            <a:ext cx="118872" cy="182880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379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FF6B6B">
              <a:alpha val="92000"/>
            </a:srgbClr>
          </a:solidFill>
          <a:ln w="12700">
            <a:solidFill>
              <a:srgbClr val="FF6B6B">
                <a:alpha val="7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476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求助通道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63990" y="1645920"/>
            <a:ext cx="1028700" cy="1028700"/>
          </a:xfrm>
          <a:prstGeom prst="ellipse">
            <a:avLst/>
          </a:prstGeom>
          <a:solidFill>
            <a:srgbClr val="FFD7B5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01150" y="2205990"/>
            <a:ext cx="388620" cy="182880"/>
          </a:xfrm>
          <a:prstGeom prst="arc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26880" y="1988820"/>
            <a:ext cx="68580" cy="6858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69780" y="1988820"/>
            <a:ext cx="68580" cy="68580"/>
          </a:xfrm>
          <a:prstGeom prst="ellipse">
            <a:avLst/>
          </a:prstGeom>
          <a:solidFill>
            <a:srgbClr val="24324A"/>
          </a:solidFill>
          <a:ln w="12700">
            <a:solidFill>
              <a:srgbClr val="24324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78240" y="2560320"/>
            <a:ext cx="1623060" cy="1771650"/>
          </a:xfrm>
          <a:prstGeom prst="roundRect">
            <a:avLst/>
          </a:prstGeom>
          <a:solidFill>
            <a:srgbClr val="4E7BFF"/>
          </a:solidFill>
          <a:ln w="19050">
            <a:solidFill>
              <a:srgbClr val="24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49640" y="2788920"/>
            <a:ext cx="365760" cy="114300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64140" y="2788920"/>
            <a:ext cx="365760" cy="1143000"/>
          </a:xfrm>
          <a:prstGeom prst="roundRect">
            <a:avLst/>
          </a:prstGeom>
          <a:solidFill>
            <a:srgbClr val="FFD7B5"/>
          </a:solidFill>
          <a:ln w="15240">
            <a:solidFill>
              <a:srgbClr val="2432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989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  ·  Reflection  ·  Next Action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MicroCourse Templates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网络安全小卫士</dc:title>
  <dc:subject>青少年教育</dc:subject>
  <dc:creator>OpenAI Multi-Agent PPT System</dc:creator>
  <cp:lastModifiedBy>OpenAI Multi-Agent PPT System</cp:lastModifiedBy>
  <cp:revision>1</cp:revision>
  <dcterms:created xsi:type="dcterms:W3CDTF">2026-08-04T14:30:23Z</dcterms:created>
  <dcterms:modified xsi:type="dcterms:W3CDTF">2026-08-04T14:30:23Z</dcterms:modified>
</cp:coreProperties>
</file>