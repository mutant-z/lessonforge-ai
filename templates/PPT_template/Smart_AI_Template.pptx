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685800"/>
            <a:ext cx="2743200" cy="347472"/>
          </a:xfrm>
          <a:prstGeom prst="roundRect">
            <a:avLst>
              <a:gd name="adj" fmla="val 47368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69494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SPATIAL LEARNING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1389888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个性化学习与智慧课堂</a:t>
            </a:r>
            <a:endParaRPr lang="en-US" sz="3700" dirty="0"/>
          </a:p>
        </p:txBody>
      </p:sp>
      <p:sp>
        <p:nvSpPr>
          <p:cNvPr id="32" name="Text 30"/>
          <p:cNvSpPr/>
          <p:nvPr/>
        </p:nvSpPr>
        <p:spPr>
          <a:xfrm>
            <a:off x="804672" y="26151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Tutor · Learning Path · Analytics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812280" y="868680"/>
            <a:ext cx="4389120" cy="4800600"/>
          </a:xfrm>
          <a:prstGeom prst="roundRect">
            <a:avLst>
              <a:gd name="adj" fmla="val 250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78040" y="123444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43800" y="1444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Companion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233172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52360" y="2487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Mastery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38360" y="24597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178040" y="315468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5236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Momentum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38360" y="3282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178040" y="397764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52360" y="4133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Level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38360" y="4105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未来智慧课堂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INTRODUCTION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课程导入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40080" y="1481328"/>
            <a:ext cx="4846320" cy="4251960"/>
          </a:xfrm>
          <a:prstGeom prst="roundRect">
            <a:avLst>
              <a:gd name="adj" fmla="val 1720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1481328"/>
            <a:ext cx="73152" cy="425196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1636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为什么学习这门微课？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" y="2039112"/>
            <a:ext cx="438912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智慧课堂的核心不是堆叠设备，而是让每位学习者获得及时、适配且可解释的支持。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0120" y="29443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1965960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46120" y="29443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3913632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IDEAS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1572768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15910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30568" y="156362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学习画像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28232" y="2084832"/>
            <a:ext cx="0" cy="493776"/>
          </a:xfrm>
          <a:prstGeom prst="line">
            <a:avLst/>
          </a:prstGeom>
          <a:noFill/>
          <a:ln w="25400">
            <a:solidFill>
              <a:srgbClr val="1A2440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172200" y="2596896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30568" y="2587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智能导师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28232" y="3108960"/>
            <a:ext cx="0" cy="493776"/>
          </a:xfrm>
          <a:prstGeom prst="line">
            <a:avLst/>
          </a:prstGeom>
          <a:noFill/>
          <a:ln w="25400">
            <a:solidFill>
              <a:srgbClr val="1A244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172200" y="362102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639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30568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路径推荐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28232" y="4133088"/>
            <a:ext cx="0" cy="493776"/>
          </a:xfrm>
          <a:prstGeom prst="line">
            <a:avLst/>
          </a:prstGeom>
          <a:noFill/>
          <a:ln w="25400">
            <a:solidFill>
              <a:srgbClr val="1A2440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6172200" y="464515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6634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30568" y="46360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学习分析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学习目标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58368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完成本节后，你能够：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8368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1965960"/>
            <a:ext cx="73152" cy="1225296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6968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理解学习数据如何形成画像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9632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1965960"/>
            <a:ext cx="73152" cy="1225296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8232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 AI Tutor 的指导边界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" y="3538728"/>
            <a:ext cx="73152" cy="1225296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6968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基于掌握度推荐学习路径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99632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99632" y="3538728"/>
            <a:ext cx="73152" cy="1225296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8232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用分析看板支持教学干预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知识地图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312664" y="2926080"/>
            <a:ext cx="1554480" cy="1554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327355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2880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1920240"/>
            <a:ext cx="73152" cy="96012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5740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学习画像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886200" y="2404872"/>
            <a:ext cx="1426464" cy="950976"/>
          </a:xfrm>
          <a:prstGeom prst="line">
            <a:avLst/>
          </a:prstGeom>
          <a:noFill/>
          <a:ln w="1778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877824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1920240"/>
            <a:ext cx="73152" cy="9601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0684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智能导师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778240" y="2404872"/>
            <a:ext cx="-1911096" cy="950976"/>
          </a:xfrm>
          <a:prstGeom prst="line">
            <a:avLst/>
          </a:prstGeom>
          <a:noFill/>
          <a:ln w="1778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182880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0" y="4617720"/>
            <a:ext cx="73152" cy="96012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05740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路径推荐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886200" y="5102352"/>
            <a:ext cx="1426464" cy="-1051560"/>
          </a:xfrm>
          <a:prstGeom prst="line">
            <a:avLst/>
          </a:prstGeom>
          <a:noFill/>
          <a:ln w="1778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77824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78240" y="4617720"/>
            <a:ext cx="73152" cy="960120"/>
          </a:xfrm>
          <a:prstGeom prst="round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0684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0684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学习分析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778240" y="5102352"/>
            <a:ext cx="-1911096" cy="-1051560"/>
          </a:xfrm>
          <a:prstGeom prst="line">
            <a:avLst/>
          </a:prstGeom>
          <a:noFill/>
          <a:ln w="17780">
            <a:solidFill>
              <a:srgbClr val="22D3EE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INTRODUCTION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知识导入：先建立一个共同框架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58368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智慧课堂的核心不是堆叠设备，而是让每位学习者获得及时、适配且可解释的支持。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8580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学习画像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60270" y="31638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269998" y="30723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8887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859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智能导师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863340" y="31638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3973068" y="30723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9194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166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路径推荐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66410" y="31638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676138" y="30723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9501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473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学习分析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141732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726680" y="1417320"/>
            <a:ext cx="73152" cy="425196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1572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955280" y="1975104"/>
            <a:ext cx="333756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好的学习框架需要同时回答：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我们面对什么问题？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有哪些可验证的证据？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应该采取什么行动？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如何通过反馈继续优化？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Learner Model：动态学习画像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· Do · Feel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整合知识掌握与行为数据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区分稳定特征与短期状态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允许学生查看和修正画像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 MODEL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452360" y="2331720"/>
            <a:ext cx="1965960" cy="1965960"/>
          </a:xfrm>
          <a:prstGeom prst="ellipse">
            <a:avLst/>
          </a:prstGeom>
          <a:solidFill>
            <a:srgbClr val="8B5CF6">
              <a:alpha val="6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8986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9738360" y="2194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738360" y="2487168"/>
            <a:ext cx="1143000" cy="1280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38360" y="2487168"/>
            <a:ext cx="84582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3836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38360" y="3310128"/>
            <a:ext cx="1143000" cy="1280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38360" y="3310128"/>
            <a:ext cx="100584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738360" y="4133088"/>
            <a:ext cx="1143000" cy="128016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38360" y="4133088"/>
            <a:ext cx="78867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Tutor：启发式支持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Hint → Reflect → Retry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先诊断错误类型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给提示而不是直接给答案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根据反馈逐步调整难度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TUTOR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14884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78040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 1：回忆函数定义域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03720" y="306324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178040" y="32735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 2：画出关键点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397764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178040" y="4187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 3：比较两个区间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Learning Path：自适应路径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Best Activity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基于先修关系组织知识图谱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结合掌握度与学习目标推荐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保留自主选择和跳转空间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ENGINE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0" y="2743200"/>
            <a:ext cx="83439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816352"/>
            <a:ext cx="61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92390" y="311810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7802118" y="302666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20990" y="2743200"/>
            <a:ext cx="83439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30718" y="2816352"/>
            <a:ext cx="61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补救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755380" y="311810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8865108" y="302666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83980" y="2743200"/>
            <a:ext cx="83439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3708" y="2816352"/>
            <a:ext cx="61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818370" y="311810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9928098" y="302666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46970" y="2743200"/>
            <a:ext cx="834390" cy="749808"/>
          </a:xfrm>
          <a:prstGeom prst="roundRect">
            <a:avLst>
              <a:gd name="adj" fmla="val 9756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56698" y="2816352"/>
            <a:ext cx="6149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99516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基于掌握度动态选择下一活动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Analytics：教师决策仪表盘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FCD34D">
              <a:alpha val="90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→ Intervention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识别共性难点与掉队风险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展示证据来源和置信度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把预警转成具体干预建议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4572000"/>
            <a:ext cx="3794760" cy="0"/>
          </a:xfrm>
          <a:prstGeom prst="line">
            <a:avLst/>
          </a:prstGeom>
          <a:noFill/>
          <a:ln w="12700">
            <a:solidFill>
              <a:srgbClr val="8D9199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7216230" y="3415901"/>
            <a:ext cx="558053" cy="1156099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16230" y="3159869"/>
            <a:ext cx="558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88214" y="4645152"/>
            <a:ext cx="814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086792" y="3060178"/>
            <a:ext cx="558053" cy="1511822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86792" y="2804146"/>
            <a:ext cx="558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8776" y="4645152"/>
            <a:ext cx="814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Tue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957355" y="2926782"/>
            <a:ext cx="558053" cy="1645218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57355" y="2670750"/>
            <a:ext cx="558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829339" y="4645152"/>
            <a:ext cx="814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827917" y="2659990"/>
            <a:ext cx="558053" cy="1912010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27917" y="2403958"/>
            <a:ext cx="5580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99901" y="4645152"/>
            <a:ext cx="814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Thu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案例：函数单元的个性化补救学习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8580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诊断概念、运算与迁移错误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23260" y="1947672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332988" y="1856232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186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158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按错误类型推荐微课和练习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9320" y="1947672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099048" y="1856232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Tutor 提供分层提示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55380" y="1947672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865108" y="1856232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8398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370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教师查看班级热力图并干预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" y="278892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" y="2788920"/>
            <a:ext cx="73152" cy="251460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294436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案例复盘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4400" y="3346704"/>
            <a:ext cx="62179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问题定义 → 证据收集 → 方案执行 → 结果评价。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关键不是“案例看起来成功”，而是能够说明为什么成功、在哪些条件下可复用。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18120" y="4892040"/>
            <a:ext cx="3017520" cy="0"/>
          </a:xfrm>
          <a:prstGeom prst="line">
            <a:avLst/>
          </a:prstGeom>
          <a:noFill/>
          <a:ln w="12700">
            <a:solidFill>
              <a:srgbClr val="8D9199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066622" y="4047812"/>
            <a:ext cx="443753" cy="844228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6622" y="3791780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38606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758876" y="3889519"/>
            <a:ext cx="443753" cy="1002521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58876" y="3633487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30860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451131" y="3731226"/>
            <a:ext cx="443753" cy="1160814"/>
          </a:xfrm>
          <a:prstGeom prst="roundRect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51131" y="3475194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323115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143385" y="3467405"/>
            <a:ext cx="443753" cy="1424635"/>
          </a:xfrm>
          <a:prstGeom prst="round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43385" y="3211373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015369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DISCUSSION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互动讨论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85800" y="1417320"/>
            <a:ext cx="2377440" cy="347472"/>
          </a:xfrm>
          <a:prstGeom prst="roundRect">
            <a:avLst>
              <a:gd name="adj" fmla="val 47368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142646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THINK · PAIR · SHARE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19659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学习系统应该知道学生多少信息？个性化与隐私之间如何平衡？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91440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3840480"/>
            <a:ext cx="73152" cy="123444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min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独立判断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840480"/>
            <a:ext cx="73152" cy="123444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3776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同伴交换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0392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840480"/>
            <a:ext cx="73152" cy="123444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3252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全班分享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本课总结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用一句话记住四个关键点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54480" y="2286000"/>
            <a:ext cx="1005840" cy="10058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58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学习画像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58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· Do · Feel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2788920"/>
            <a:ext cx="868680" cy="0"/>
          </a:xfrm>
          <a:prstGeom prst="line">
            <a:avLst/>
          </a:prstGeom>
          <a:noFill/>
          <a:ln w="25400">
            <a:solidFill>
              <a:srgbClr val="1A244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297680" y="2286000"/>
            <a:ext cx="1005840" cy="10058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4290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智能导师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4290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Hint → Reflect → Retry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03520" y="2788920"/>
            <a:ext cx="868680" cy="0"/>
          </a:xfrm>
          <a:prstGeom prst="line">
            <a:avLst/>
          </a:prstGeom>
          <a:noFill/>
          <a:ln w="25400">
            <a:solidFill>
              <a:srgbClr val="1A244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040880" y="2286000"/>
            <a:ext cx="1005840" cy="10058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1722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路径推荐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Best Activity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0" y="2788920"/>
            <a:ext cx="868680" cy="0"/>
          </a:xfrm>
          <a:prstGeom prst="line">
            <a:avLst/>
          </a:prstGeom>
          <a:noFill/>
          <a:ln w="25400">
            <a:solidFill>
              <a:srgbClr val="1A2440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784080" y="2286000"/>
            <a:ext cx="1005840" cy="10058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9154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学习分析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9154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→ Intervention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88720" y="5166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理解框架只是起点，真正的掌握来自应用、反馈与修正。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即时测验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85800" y="141732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1417320"/>
            <a:ext cx="73152" cy="105156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1572768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  学习画像应该？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1975104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49640" y="1728216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17373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答案：动态可修正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2862072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2862072"/>
            <a:ext cx="73152" cy="105156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3017520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Q2  AI Tutor 优先提供？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4400" y="3419856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549640" y="3172968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22792" y="31821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答案：分层提示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" y="4306824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4306824"/>
            <a:ext cx="73152" cy="105156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462272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Q3  预警最终用于？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" y="4864608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549640" y="4617720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22792" y="46268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答案：教学干预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5833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建议：先隐藏答案，让学习者完成后再点击揭示。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课后任务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34B6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85800" y="1463040"/>
            <a:ext cx="6492240" cy="4526280"/>
          </a:xfrm>
          <a:prstGeom prst="roundRect">
            <a:avLst>
              <a:gd name="adj" fmla="val 1616"/>
            </a:avLst>
          </a:prstGeom>
          <a:solidFill>
            <a:srgbClr val="1A2440">
              <a:alpha val="82000"/>
            </a:srgbClr>
          </a:solidFill>
          <a:ln w="12700">
            <a:solidFill>
              <a:srgbClr val="3C455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" y="1463040"/>
            <a:ext cx="73152" cy="452628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1618488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任务说明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2020824"/>
            <a:ext cx="603504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设计一个智慧课堂学习路径：节点、先修关系、推荐规则、教师干预点和隐私说明。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35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提交清单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635240" y="2103120"/>
            <a:ext cx="3566160" cy="566928"/>
          </a:xfrm>
          <a:prstGeom prst="roundRect">
            <a:avLst/>
          </a:prstGeom>
          <a:solidFill>
            <a:srgbClr val="1A2440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36408" y="2267712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22585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83880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明确的问题或目标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35240" y="2880360"/>
            <a:ext cx="3566160" cy="566928"/>
          </a:xfrm>
          <a:prstGeom prst="roundRect">
            <a:avLst/>
          </a:prstGeom>
          <a:solidFill>
            <a:srgbClr val="1A2440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36408" y="3044952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264" y="30358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83880" y="29900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可验证的证据或指标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635240" y="3657600"/>
            <a:ext cx="3566160" cy="566928"/>
          </a:xfrm>
          <a:prstGeom prst="roundRect">
            <a:avLst/>
          </a:prstGeom>
          <a:solidFill>
            <a:srgbClr val="1A2440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36408" y="3822192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27264" y="3813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83880" y="3767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具体行动步骤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635240" y="4434840"/>
            <a:ext cx="3566160" cy="566928"/>
          </a:xfrm>
          <a:prstGeom prst="roundRect">
            <a:avLst/>
          </a:prstGeom>
          <a:solidFill>
            <a:srgbClr val="1A2440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36408" y="4599432"/>
            <a:ext cx="219456" cy="21945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27264" y="45902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83880" y="4544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风险与反馈机制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Education AI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5A8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09728"/>
            <a:ext cx="2560320" cy="2560320"/>
          </a:xfrm>
          <a:prstGeom prst="ellipse">
            <a:avLst/>
          </a:prstGeom>
          <a:solidFill>
            <a:srgbClr val="8B5CF6">
              <a:alpha val="2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800600"/>
            <a:ext cx="1874520" cy="1874520"/>
          </a:xfrm>
          <a:prstGeom prst="ellipse">
            <a:avLst/>
          </a:prstGeom>
          <a:solidFill>
            <a:srgbClr val="22D3EE">
              <a:alpha val="17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83210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66420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49631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332841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416052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1472" y="499262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73384" y="582472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1" y="665683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5513" y="63093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425" y="146304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09337" y="229514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1249" y="312724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3161" y="395935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5073" y="4791456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6985" y="5623560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2" y="6455664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09114" y="429768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91026" y="1261872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72938" y="2093976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4850" y="2926080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36762" y="3758184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8674" y="4590288"/>
            <a:ext cx="22860" cy="228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00586" y="5422392"/>
            <a:ext cx="22860" cy="228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822960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8321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END OF MICRO COURSE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从理解到行动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804672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把今天的一个关键观点，用在下一个真实问题中。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229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学习画像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66010" y="40782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475738" y="39867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46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43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智能导师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37660" y="40782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247388" y="39867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62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759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路径推荐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09310" y="4078224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019038" y="3986784"/>
            <a:ext cx="118872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79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76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学习分析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909560" y="1417320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B5CF6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0" y="21488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82296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 ·  Reflection  ·  Next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MicroCourse Templates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个性化学习与智慧课堂</dc:title>
  <dc:subject>未来智慧课堂</dc:subject>
  <dc:creator>OpenAI Multi-Agent PPT System</dc:creator>
  <cp:lastModifiedBy>OpenAI Multi-Agent PPT System</cp:lastModifiedBy>
  <cp:revision>1</cp:revision>
  <dcterms:created xsi:type="dcterms:W3CDTF">2026-08-04T14:30:23Z</dcterms:created>
  <dcterms:modified xsi:type="dcterms:W3CDTF">2026-08-04T14:30:23Z</dcterms:modified>
</cp:coreProperties>
</file>