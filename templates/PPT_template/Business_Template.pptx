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04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20" kern="0" dirty="0">
                <a:solidFill>
                  <a:srgbClr val="176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数据驱动的业务增长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→ Metrics → Experiments → Growth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0" y="868680"/>
            <a:ext cx="388620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325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23960" y="1325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+18.4%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726680" y="4645152"/>
            <a:ext cx="29718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971416" y="3495446"/>
            <a:ext cx="437029" cy="1149706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71416" y="3239414"/>
            <a:ext cx="4370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43400" y="4718304"/>
            <a:ext cx="69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653182" y="3270504"/>
            <a:ext cx="437029" cy="1374648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3182" y="3014472"/>
            <a:ext cx="4370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25166" y="4718304"/>
            <a:ext cx="69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334948" y="3095549"/>
            <a:ext cx="437029" cy="1549603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4948" y="2839517"/>
            <a:ext cx="4370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06932" y="4718304"/>
            <a:ext cx="69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016714" y="2695651"/>
            <a:ext cx="437029" cy="1949501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16714" y="2439619"/>
            <a:ext cx="4370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88698" y="4718304"/>
            <a:ext cx="69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企业培训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INTRODUCTION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课程导入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40080" y="1481328"/>
            <a:ext cx="48463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481328"/>
            <a:ext cx="73152" cy="425196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367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为什么学习这门微课？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39112"/>
            <a:ext cx="438912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数据驱动不是“看更多报表”，而是让目标、行动、反馈与决策形成同一条业务链路。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94436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6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965960" y="3182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9443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913632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IDEAS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572768"/>
            <a:ext cx="502920" cy="50292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59105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0568" y="156362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目标拆解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28232" y="2084832"/>
            <a:ext cx="0" cy="493776"/>
          </a:xfrm>
          <a:prstGeom prst="line">
            <a:avLst/>
          </a:prstGeom>
          <a:noFill/>
          <a:ln w="254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172200" y="2596896"/>
            <a:ext cx="502920" cy="50292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30568" y="25877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指标体系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28232" y="3108960"/>
            <a:ext cx="0" cy="493776"/>
          </a:xfrm>
          <a:prstGeom prst="line">
            <a:avLst/>
          </a:prstGeom>
          <a:noFill/>
          <a:ln w="254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172200" y="3621024"/>
            <a:ext cx="502920" cy="50292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639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0568" y="3611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增长实验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28232" y="4133088"/>
            <a:ext cx="0" cy="493776"/>
          </a:xfrm>
          <a:prstGeom prst="line">
            <a:avLst/>
          </a:prstGeom>
          <a:noFill/>
          <a:ln w="254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172200" y="4645152"/>
            <a:ext cx="502920" cy="50292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46634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30568" y="46360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复盘机制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学习目标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58368" y="1417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完成本节后，你能够：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196596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965960"/>
            <a:ext cx="73152" cy="1225296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121408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" y="252374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把战略目标拆成可执行指标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196596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965960"/>
            <a:ext cx="73152" cy="1225296"/>
          </a:xfrm>
          <a:prstGeom prst="roundRect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121408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8232" y="252374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区分结果指标和过程指标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538728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538728"/>
            <a:ext cx="73152" cy="12252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694176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968" y="4096512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设计低成本增长实验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3538728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3538728"/>
            <a:ext cx="73152" cy="1225296"/>
          </a:xfrm>
          <a:prstGeom prst="roundRect">
            <a:avLst/>
          </a:prstGeom>
          <a:solidFill>
            <a:srgbClr val="D6A84B"/>
          </a:solidFill>
          <a:ln w="12700">
            <a:solidFill>
              <a:srgbClr val="D6A84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694176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28232" y="4096512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建立周度复盘与责任闭环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知识地图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312664" y="2926080"/>
            <a:ext cx="1554480" cy="155448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95544" y="327355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28800" y="1920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920240"/>
            <a:ext cx="73152" cy="96012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0756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57400" y="247802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目标拆解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86200" y="2404872"/>
            <a:ext cx="1426464" cy="950976"/>
          </a:xfrm>
          <a:prstGeom prst="line">
            <a:avLst/>
          </a:prstGeom>
          <a:noFill/>
          <a:ln w="17780">
            <a:solidFill>
              <a:srgbClr val="2F3B52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778240" y="1920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1920240"/>
            <a:ext cx="73152" cy="960120"/>
          </a:xfrm>
          <a:prstGeom prst="roundRect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20756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06840" y="247802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指标体系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78240" y="2404872"/>
            <a:ext cx="-1911096" cy="950976"/>
          </a:xfrm>
          <a:prstGeom prst="line">
            <a:avLst/>
          </a:prstGeom>
          <a:noFill/>
          <a:ln w="17780">
            <a:solidFill>
              <a:srgbClr val="2F3B52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828800" y="46177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4617720"/>
            <a:ext cx="73152" cy="96012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4773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57400" y="517550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增长实验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886200" y="5102352"/>
            <a:ext cx="1426464" cy="-1051560"/>
          </a:xfrm>
          <a:prstGeom prst="line">
            <a:avLst/>
          </a:prstGeom>
          <a:noFill/>
          <a:ln w="17780">
            <a:solidFill>
              <a:srgbClr val="2F3B52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778240" y="46177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4617720"/>
            <a:ext cx="73152" cy="960120"/>
          </a:xfrm>
          <a:prstGeom prst="roundRect">
            <a:avLst/>
          </a:prstGeom>
          <a:solidFill>
            <a:srgbClr val="D6A84B"/>
          </a:solidFill>
          <a:ln w="12700">
            <a:solidFill>
              <a:srgbClr val="D6A84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4773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06840" y="517550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复盘机制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78240" y="5102352"/>
            <a:ext cx="-1911096" cy="-1051560"/>
          </a:xfrm>
          <a:prstGeom prst="line">
            <a:avLst/>
          </a:prstGeom>
          <a:noFill/>
          <a:ln w="17780">
            <a:solidFill>
              <a:srgbClr val="2F3B52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INTRODUCTION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知识导入：先建立一个共同框架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58368" y="1417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数据驱动不是“看更多报表”，而是让目标、行动、反馈与决策形成同一条业务链路。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1769AA"/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目标拆解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60270" y="3163824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269998" y="3072384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8887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1769AA">
              <a:alpha val="92000"/>
            </a:srgbClr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859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指标体系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63340" y="3163824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973068" y="3072384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9194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1769AA">
              <a:alpha val="92000"/>
            </a:srgbClr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166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增长实验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66410" y="3163824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676138" y="3072384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9501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00A6A6">
              <a:alpha val="92000"/>
            </a:srgbClr>
          </a:solidFill>
          <a:ln w="12700">
            <a:solidFill>
              <a:srgbClr val="00A6A6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473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复盘机制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26680" y="1417320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1417320"/>
            <a:ext cx="73152" cy="425196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572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0" y="1975104"/>
            <a:ext cx="333756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好的学习框架需要同时回答：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我们面对什么问题？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有哪些可验证的证据？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应该采取什么行动？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如何通过反馈继续优化？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North Star：定义核心价值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6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× Frequency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反映客户持续获得的价值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与长期收入存在关联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团队能够共同影响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417320"/>
            <a:ext cx="73152" cy="434340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572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Executive Scorecard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1975104"/>
            <a:ext cx="4389120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0372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Value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2176272"/>
            <a:ext cx="2148840" cy="201168"/>
          </a:xfrm>
          <a:prstGeom prst="rect">
            <a:avLst/>
          </a:prstGeom>
          <a:solidFill>
            <a:srgbClr val="E4EAF0"/>
          </a:solidFill>
          <a:ln w="12700">
            <a:solidFill>
              <a:srgbClr val="E4EA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2176272"/>
            <a:ext cx="1676095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0" y="2084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2999232"/>
            <a:ext cx="2148840" cy="201168"/>
          </a:xfrm>
          <a:prstGeom prst="rect">
            <a:avLst/>
          </a:prstGeom>
          <a:solidFill>
            <a:srgbClr val="E4EAF0"/>
          </a:solidFill>
          <a:ln w="12700">
            <a:solidFill>
              <a:srgbClr val="E4EAF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2999232"/>
            <a:ext cx="137525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0" y="2907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21040" y="3822192"/>
            <a:ext cx="2148840" cy="201168"/>
          </a:xfrm>
          <a:prstGeom prst="rect">
            <a:avLst/>
          </a:prstGeom>
          <a:solidFill>
            <a:srgbClr val="E4EAF0"/>
          </a:solidFill>
          <a:ln w="12700">
            <a:solidFill>
              <a:srgbClr val="E4EA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3822192"/>
            <a:ext cx="1762049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0" y="3730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Metrics Tree：层层拆解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6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= Users × ARPU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结果指标对应战略目标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过程指标连接具体动作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防止局部最优损害整体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417320"/>
            <a:ext cx="73152" cy="434340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572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Metrics Tree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1975104"/>
            <a:ext cx="4389120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6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869680" y="2331720"/>
            <a:ext cx="-1325880" cy="548640"/>
          </a:xfrm>
          <a:prstGeom prst="line">
            <a:avLst/>
          </a:prstGeom>
          <a:noFill/>
          <a:ln w="1905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869680" y="2331720"/>
            <a:ext cx="1325880" cy="548640"/>
          </a:xfrm>
          <a:prstGeom prst="line">
            <a:avLst/>
          </a:prstGeom>
          <a:noFill/>
          <a:ln w="1905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6720840" y="288036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2880360"/>
            <a:ext cx="73152" cy="77724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0358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49440" y="343814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Traffic × CVR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372600" y="288036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72600" y="2880360"/>
            <a:ext cx="73152" cy="77724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0" y="30358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ARPU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01200" y="343814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Price × Mix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Experiment：小步验证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6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 → Test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明确假设与目标人群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设置对照组和成功阈值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控制周期、预算与风险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417320"/>
            <a:ext cx="73152" cy="434340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572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Experiment Canvas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1975104"/>
            <a:ext cx="4389120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12280" y="19202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20240"/>
            <a:ext cx="73152" cy="749808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0756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Hypothesis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2478024"/>
            <a:ext cx="3657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简化首个任务会提升激活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12280" y="28803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2880360"/>
            <a:ext cx="73152" cy="749808"/>
          </a:xfrm>
          <a:prstGeom prst="roundRect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303580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Metric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3438144"/>
            <a:ext cx="3657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D1 激活率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12280" y="384048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3840480"/>
            <a:ext cx="73152" cy="749808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99592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Threshold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0880" y="4398264"/>
            <a:ext cx="3657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+8% 且投诉不升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Review：把数据变成决策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D6A84B"/>
          </a:solidFill>
          <a:ln w="12700">
            <a:solidFill>
              <a:srgbClr val="D6A84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6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→ Owner → Date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解释变化而非只报数字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记录决定、负责人和期限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沉淀可复用的增长知识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417320"/>
            <a:ext cx="73152" cy="434340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572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Weekly 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1975104"/>
            <a:ext cx="4389120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12280" y="2514600"/>
            <a:ext cx="857250" cy="749808"/>
          </a:xfrm>
          <a:prstGeom prst="roundRect">
            <a:avLst>
              <a:gd name="adj" fmla="val 9756"/>
            </a:avLst>
          </a:prstGeom>
          <a:solidFill>
            <a:srgbClr val="1769AA"/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2587752"/>
            <a:ext cx="637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69530" y="2889504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779258" y="2798064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98130" y="2514600"/>
            <a:ext cx="857250" cy="749808"/>
          </a:xfrm>
          <a:prstGeom prst="roundRect">
            <a:avLst>
              <a:gd name="adj" fmla="val 9756"/>
            </a:avLst>
          </a:prstGeom>
          <a:solidFill>
            <a:srgbClr val="1769AA">
              <a:alpha val="92000"/>
            </a:srgbClr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7858" y="2587752"/>
            <a:ext cx="637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55380" y="2889504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8865108" y="2798064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83980" y="2514600"/>
            <a:ext cx="857250" cy="749808"/>
          </a:xfrm>
          <a:prstGeom prst="roundRect">
            <a:avLst>
              <a:gd name="adj" fmla="val 9756"/>
            </a:avLst>
          </a:prstGeom>
          <a:solidFill>
            <a:srgbClr val="1769AA">
              <a:alpha val="92000"/>
            </a:srgbClr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3708" y="2587752"/>
            <a:ext cx="637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DECIDE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841230" y="2889504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950958" y="2798064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69830" y="2514600"/>
            <a:ext cx="857250" cy="749808"/>
          </a:xfrm>
          <a:prstGeom prst="roundRect">
            <a:avLst>
              <a:gd name="adj" fmla="val 9756"/>
            </a:avLst>
          </a:prstGeom>
          <a:solidFill>
            <a:srgbClr val="00A6A6">
              <a:alpha val="92000"/>
            </a:srgbClr>
          </a:solidFill>
          <a:ln w="12700">
            <a:solidFill>
              <a:srgbClr val="00A6A6">
                <a:alpha val="7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79558" y="2587752"/>
            <a:ext cx="637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OWNER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03720" y="3749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69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每个结论都对应一个行动和截止日期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案例：SaaS 新用户激活率提升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8580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1769AA"/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定位注册后首日流失节点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3260" y="1947672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32988" y="1856232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186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1769AA">
              <a:alpha val="92000"/>
            </a:srgbClr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158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重构首次任务引导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947672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099048" y="1856232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1769AA">
              <a:alpha val="92000"/>
            </a:srgbClr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测试模板与提醒机制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55380" y="1947672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865108" y="1856232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8398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00A6A6">
              <a:alpha val="92000"/>
            </a:srgbClr>
          </a:solidFill>
          <a:ln w="12700">
            <a:solidFill>
              <a:srgbClr val="00A6A6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370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激活率提升后验证留存质量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2788920"/>
            <a:ext cx="6675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2788920"/>
            <a:ext cx="73152" cy="251460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944368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案例复盘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346704"/>
            <a:ext cx="62179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问题定义 → 证据收集 → 方案执行 → 结果评价。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关键不是“案例看起来成功”，而是能够说明为什么成功、在哪些条件下可复用。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18120" y="4892040"/>
            <a:ext cx="3017520" cy="0"/>
          </a:xfrm>
          <a:prstGeom prst="line">
            <a:avLst/>
          </a:prstGeom>
          <a:noFill/>
          <a:ln w="127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066622" y="4047812"/>
            <a:ext cx="443753" cy="844228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6622" y="3791780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38606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758876" y="3889519"/>
            <a:ext cx="443753" cy="1002521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58876" y="3633487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30860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451131" y="3731226"/>
            <a:ext cx="443753" cy="1160814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51131" y="3475194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3115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143385" y="3467405"/>
            <a:ext cx="443753" cy="1424635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3385" y="3211373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15369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DISCUSSION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互动讨论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2377440" cy="347472"/>
          </a:xfrm>
          <a:prstGeom prst="roundRect">
            <a:avLst>
              <a:gd name="adj" fmla="val 4736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42646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THINK · PAIR · SHARE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当短期转化率上升，但退款率和客服工单也上升时，你会保留这个增长方案吗？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840480"/>
            <a:ext cx="73152" cy="123444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995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398264"/>
            <a:ext cx="2788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独立判断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8404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840480"/>
            <a:ext cx="73152" cy="1234440"/>
          </a:xfrm>
          <a:prstGeom prst="roundRect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995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4398264"/>
            <a:ext cx="2788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同伴交换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03920" y="38404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3840480"/>
            <a:ext cx="73152" cy="123444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3995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32520" y="4398264"/>
            <a:ext cx="2788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全班分享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本课总结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用一句话记住四个关键点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4480" y="2286000"/>
            <a:ext cx="1005840" cy="100584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目标拆解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× Frequency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788920"/>
            <a:ext cx="868680" cy="0"/>
          </a:xfrm>
          <a:prstGeom prst="line">
            <a:avLst/>
          </a:prstGeom>
          <a:noFill/>
          <a:ln w="25400">
            <a:solidFill>
              <a:srgbClr val="E4EAF0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297680" y="2286000"/>
            <a:ext cx="1005840" cy="1005840"/>
          </a:xfrm>
          <a:prstGeom prst="ellipse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指标体系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290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= Users × ARPU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2788920"/>
            <a:ext cx="868680" cy="0"/>
          </a:xfrm>
          <a:prstGeom prst="line">
            <a:avLst/>
          </a:prstGeom>
          <a:noFill/>
          <a:ln w="25400">
            <a:solidFill>
              <a:srgbClr val="E4EAF0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040880" y="2286000"/>
            <a:ext cx="1005840" cy="10058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增长实验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722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 → 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2788920"/>
            <a:ext cx="868680" cy="0"/>
          </a:xfrm>
          <a:prstGeom prst="line">
            <a:avLst/>
          </a:prstGeom>
          <a:noFill/>
          <a:ln w="25400">
            <a:solidFill>
              <a:srgbClr val="E4EAF0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784080" y="2286000"/>
            <a:ext cx="1005840" cy="1005840"/>
          </a:xfrm>
          <a:prstGeom prst="ellipse">
            <a:avLst/>
          </a:prstGeom>
          <a:solidFill>
            <a:srgbClr val="D6A84B"/>
          </a:solidFill>
          <a:ln w="12700">
            <a:solidFill>
              <a:srgbClr val="D6A84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154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复盘机制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9154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→ Owner → Date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5166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理解框架只是起点，真正的掌握来自应用、反馈与修正。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即时测验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417320"/>
            <a:ext cx="73152" cy="105156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72768"/>
            <a:ext cx="7086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Q1  北极星指标反映？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7040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选择或写出你的答案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49640" y="1728216"/>
            <a:ext cx="2651760" cy="347472"/>
          </a:xfrm>
          <a:prstGeom prst="roundRect">
            <a:avLst>
              <a:gd name="adj" fmla="val 47368"/>
            </a:avLst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2792" y="17373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答案：核心客户价值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62072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62072"/>
            <a:ext cx="73152" cy="1051560"/>
          </a:xfrm>
          <a:prstGeom prst="roundRect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017520"/>
            <a:ext cx="7086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Q2  过程指标用于？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419856"/>
            <a:ext cx="7040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选择或写出你的答案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49640" y="3172968"/>
            <a:ext cx="2651760" cy="347472"/>
          </a:xfrm>
          <a:prstGeom prst="roundRect">
            <a:avLst>
              <a:gd name="adj" fmla="val 47368"/>
            </a:avLst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318211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答案：连接行动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306824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306824"/>
            <a:ext cx="73152" cy="105156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462272"/>
            <a:ext cx="7086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Q3  实验必须预先定义？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864608"/>
            <a:ext cx="7040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选择或写出你的答案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49640" y="4617720"/>
            <a:ext cx="2651760" cy="347472"/>
          </a:xfrm>
          <a:prstGeom prst="roundRect">
            <a:avLst>
              <a:gd name="adj" fmla="val 4736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2792" y="462686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答案：成功阈值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8338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建议：先隐藏答案，让学习者完成后再点击揭示。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13/15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课后任务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85800" y="1463040"/>
            <a:ext cx="6492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463040"/>
            <a:ext cx="73152" cy="452628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18488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任务说明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020824"/>
            <a:ext cx="603504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为一个产品绘制指标树，并设计一个 2 周内可完成的增长实验。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提交清单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35240" y="2103120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36408" y="2267712"/>
            <a:ext cx="219456" cy="219456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27264" y="22585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83880" y="2212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明确的问题或目标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35240" y="2880360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36408" y="3044952"/>
            <a:ext cx="219456" cy="219456"/>
          </a:xfrm>
          <a:prstGeom prst="ellipse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27264" y="303580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83880" y="29900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可验证的证据或指标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35240" y="3657600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36408" y="3822192"/>
            <a:ext cx="219456" cy="219456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27264" y="3813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83880" y="37673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具体行动步骤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35240" y="4434840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36408" y="4599432"/>
            <a:ext cx="219456" cy="219456"/>
          </a:xfrm>
          <a:prstGeom prst="ellipse">
            <a:avLst/>
          </a:prstGeom>
          <a:solidFill>
            <a:srgbClr val="D6A84B"/>
          </a:solidFill>
          <a:ln w="12700">
            <a:solidFill>
              <a:srgbClr val="D6A84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27264" y="45902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183880" y="4544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风险与反馈机制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Training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F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14/15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822960"/>
            <a:ext cx="2514600" cy="347472"/>
          </a:xfrm>
          <a:prstGeom prst="roundRect">
            <a:avLst>
              <a:gd name="adj" fmla="val 4736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83210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END OF MICRO COURSE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821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从理解到行动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3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把今天的一个关键观点，用在下一个真实问题中。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1769AA"/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目标拆解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66010" y="4078224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475738" y="3986784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9461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1769AA">
              <a:alpha val="92000"/>
            </a:srgbClr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433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指标体系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37660" y="4078224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4247388" y="3986784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626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1769AA">
              <a:alpha val="92000"/>
            </a:srgbClr>
          </a:solidFill>
          <a:ln w="12700">
            <a:solidFill>
              <a:srgbClr val="1769AA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598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增长实验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09310" y="4078224"/>
            <a:ext cx="182880" cy="0"/>
          </a:xfrm>
          <a:prstGeom prst="line">
            <a:avLst/>
          </a:prstGeom>
          <a:noFill/>
          <a:ln w="25400">
            <a:solidFill>
              <a:srgbClr val="2F3B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019038" y="3986784"/>
            <a:ext cx="118872" cy="182880"/>
          </a:xfrm>
          <a:prstGeom prst="chevron">
            <a:avLst/>
          </a:prstGeom>
          <a:solidFill>
            <a:srgbClr val="2F3B52"/>
          </a:solidFill>
          <a:ln w="12700">
            <a:solidFill>
              <a:srgbClr val="2F3B5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791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00A6A6">
              <a:alpha val="92000"/>
            </a:srgbClr>
          </a:solidFill>
          <a:ln w="12700">
            <a:solidFill>
              <a:srgbClr val="00A6A6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763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复盘机制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09560" y="1417320"/>
            <a:ext cx="3246120" cy="3474720"/>
          </a:xfrm>
          <a:prstGeom prst="roundRect">
            <a:avLst>
              <a:gd name="adj" fmla="val 338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769A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0" y="214884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6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176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22960" y="5989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 ·  Reflection  ·  Next Action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MicroCourse Templates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数据驱动的业务增长</dc:title>
  <dc:subject>企业培训</dc:subject>
  <dc:creator>OpenAI Multi-Agent PPT System</dc:creator>
  <cp:lastModifiedBy>OpenAI Multi-Agent PPT System</cp:lastModifiedBy>
  <cp:revision>1</cp:revision>
  <dcterms:created xsi:type="dcterms:W3CDTF">2026-08-04T14:30:23Z</dcterms:created>
  <dcterms:modified xsi:type="dcterms:W3CDTF">2026-08-04T14:30:23Z</dcterms:modified>
</cp:coreProperties>
</file>