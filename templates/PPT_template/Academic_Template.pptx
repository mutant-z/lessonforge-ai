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8755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1498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42416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69848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09728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471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5214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640080" y="822960"/>
            <a:ext cx="91440" cy="5029200"/>
          </a:xfrm>
          <a:prstGeom prst="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51560" y="914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MICRO-COURSE TEMPLATE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051560" y="1508760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科研方法与实验设计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051560" y="26974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Research Micro-Course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8001000" y="1143000"/>
            <a:ext cx="3200400" cy="425196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001000" y="1143000"/>
            <a:ext cx="73152" cy="4251960"/>
          </a:xfrm>
          <a:prstGeom prst="round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0" y="1298448"/>
            <a:ext cx="2788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Research Canvas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0" y="1700784"/>
            <a:ext cx="2743200" cy="3557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QUESTION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EVIDENCE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EXPERIMENT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CONCLUSION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412480" y="4526280"/>
            <a:ext cx="2331720" cy="0"/>
          </a:xfrm>
          <a:prstGeom prst="line">
            <a:avLst/>
          </a:prstGeom>
          <a:noFill/>
          <a:ln w="12700">
            <a:solidFill>
              <a:srgbClr val="5C7696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8604504" y="3969410"/>
            <a:ext cx="342900" cy="556870"/>
          </a:xfrm>
          <a:prstGeom prst="round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04504" y="3713378"/>
            <a:ext cx="3429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476488" y="4599432"/>
            <a:ext cx="5989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Baseline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9139428" y="3783787"/>
            <a:ext cx="342900" cy="742493"/>
          </a:xfrm>
          <a:prstGeom prst="round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39428" y="3527755"/>
            <a:ext cx="3429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56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011412" y="4599432"/>
            <a:ext cx="5989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674352" y="3624682"/>
            <a:ext cx="342900" cy="901598"/>
          </a:xfrm>
          <a:prstGeom prst="round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674352" y="3368650"/>
            <a:ext cx="3429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546336" y="4599432"/>
            <a:ext cx="5989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A+B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10209276" y="3439058"/>
            <a:ext cx="342900" cy="1087222"/>
          </a:xfrm>
          <a:prstGeom prst="round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209276" y="3183026"/>
            <a:ext cx="3429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081260" y="4599432"/>
            <a:ext cx="5989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Ours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77240" y="60807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高校科研课程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8755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1498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42416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69848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09728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471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5214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COURSE INTRODUCTION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课程导入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40080" y="1481328"/>
            <a:ext cx="4846320" cy="4251960"/>
          </a:xfrm>
          <a:prstGeom prst="roundRect">
            <a:avLst>
              <a:gd name="adj" fmla="val 1720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1481328"/>
            <a:ext cx="73152" cy="4251960"/>
          </a:xfrm>
          <a:prstGeom prst="round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8680" y="1636776"/>
            <a:ext cx="4434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为什么学习这门微课？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68680" y="2039112"/>
            <a:ext cx="4389120" cy="3557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科研不是“把实验做出来”，而是用透明、可复现的过程回答一个明确问题。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960120" y="2944368"/>
            <a:ext cx="1005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73B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1965960" y="318211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MINUTES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246120" y="2944368"/>
            <a:ext cx="731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4400" dirty="0"/>
          </a:p>
        </p:txBody>
      </p:sp>
      <p:sp>
        <p:nvSpPr>
          <p:cNvPr id="23" name="Text 21"/>
          <p:cNvSpPr/>
          <p:nvPr/>
        </p:nvSpPr>
        <p:spPr>
          <a:xfrm>
            <a:off x="3913632" y="3182112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IDEAS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72200" y="1572768"/>
            <a:ext cx="502920" cy="502920"/>
          </a:xfrm>
          <a:prstGeom prst="ellipse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72200" y="1591056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830568" y="1563624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研究问题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428232" y="2084832"/>
            <a:ext cx="0" cy="493776"/>
          </a:xfrm>
          <a:prstGeom prst="line">
            <a:avLst/>
          </a:prstGeom>
          <a:noFill/>
          <a:ln w="254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6172200" y="2596896"/>
            <a:ext cx="502920" cy="502920"/>
          </a:xfrm>
          <a:prstGeom prst="ellipse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172200" y="2615184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830568" y="2587752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文献证据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428232" y="3108960"/>
            <a:ext cx="0" cy="493776"/>
          </a:xfrm>
          <a:prstGeom prst="line">
            <a:avLst/>
          </a:prstGeom>
          <a:noFill/>
          <a:ln w="254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6172200" y="3621024"/>
            <a:ext cx="502920" cy="502920"/>
          </a:xfrm>
          <a:prstGeom prst="ellipse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72200" y="3639312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30568" y="3611880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实验设计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428232" y="4133088"/>
            <a:ext cx="0" cy="493776"/>
          </a:xfrm>
          <a:prstGeom prst="line">
            <a:avLst/>
          </a:prstGeom>
          <a:noFill/>
          <a:ln w="254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6172200" y="4645152"/>
            <a:ext cx="502920" cy="502920"/>
          </a:xfrm>
          <a:prstGeom prst="ellipse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172200" y="4663440"/>
            <a:ext cx="502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6830568" y="4636008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数据分析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Research Micro-Course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2/15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8755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1498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42416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69848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09728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471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5214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LEARNING OBJECTIVES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学习目标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658368" y="141732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完成本节后，你能够：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658368" y="1965960"/>
            <a:ext cx="528523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1965960"/>
            <a:ext cx="73152" cy="1225296"/>
          </a:xfrm>
          <a:prstGeom prst="round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2121408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01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6968" y="2523744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将宽泛主题转化为可检验问题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199632" y="1965960"/>
            <a:ext cx="528523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199632" y="1965960"/>
            <a:ext cx="73152" cy="1225296"/>
          </a:xfrm>
          <a:prstGeom prst="roundRect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28232" y="2121408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02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28232" y="2523744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构建可追溯的证据链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8368" y="3538728"/>
            <a:ext cx="528523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368" y="3538728"/>
            <a:ext cx="73152" cy="1225296"/>
          </a:xfrm>
          <a:prstGeom prst="round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6968" y="3694176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03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86968" y="4096512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设计控制变量与评价指标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199632" y="3538728"/>
            <a:ext cx="528523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99632" y="3538728"/>
            <a:ext cx="73152" cy="1225296"/>
          </a:xfrm>
          <a:prstGeom prst="roundRect">
            <a:avLst/>
          </a:prstGeom>
          <a:solidFill>
            <a:srgbClr val="C59A4A"/>
          </a:solidFill>
          <a:ln w="12700">
            <a:solidFill>
              <a:srgbClr val="C59A4A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28232" y="3694176"/>
            <a:ext cx="48737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04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428232" y="4096512"/>
            <a:ext cx="4828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解释结果、局限与复现条件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Research Micro-Course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3/15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8755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1498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42416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69848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09728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471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5214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MAP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知识地图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5312664" y="2926080"/>
            <a:ext cx="1554480" cy="1554480"/>
          </a:xfrm>
          <a:prstGeom prst="ellipse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95544" y="3273552"/>
            <a:ext cx="1188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1828800" y="192024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28800" y="1920240"/>
            <a:ext cx="73152" cy="960120"/>
          </a:xfrm>
          <a:prstGeom prst="round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57400" y="20756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2057400" y="2478024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研究问题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886200" y="2404872"/>
            <a:ext cx="1426464" cy="950976"/>
          </a:xfrm>
          <a:prstGeom prst="line">
            <a:avLst/>
          </a:prstGeom>
          <a:noFill/>
          <a:ln w="17780">
            <a:solidFill>
              <a:srgbClr val="5C7696">
                <a:alpha val="8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8778240" y="192024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778240" y="1920240"/>
            <a:ext cx="73152" cy="960120"/>
          </a:xfrm>
          <a:prstGeom prst="roundRect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06840" y="207568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006840" y="2478024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文献证据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778240" y="2404872"/>
            <a:ext cx="-1911096" cy="950976"/>
          </a:xfrm>
          <a:prstGeom prst="line">
            <a:avLst/>
          </a:prstGeom>
          <a:noFill/>
          <a:ln w="17780">
            <a:solidFill>
              <a:srgbClr val="5C7696">
                <a:alpha val="8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1828800" y="461772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828800" y="4617720"/>
            <a:ext cx="73152" cy="960120"/>
          </a:xfrm>
          <a:prstGeom prst="round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57400" y="477316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2057400" y="5175504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实验设计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3886200" y="5102352"/>
            <a:ext cx="1426464" cy="-1051560"/>
          </a:xfrm>
          <a:prstGeom prst="line">
            <a:avLst/>
          </a:prstGeom>
          <a:noFill/>
          <a:ln w="17780">
            <a:solidFill>
              <a:srgbClr val="5C7696">
                <a:alpha val="8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8778240" y="4617720"/>
            <a:ext cx="205740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778240" y="4617720"/>
            <a:ext cx="73152" cy="960120"/>
          </a:xfrm>
          <a:prstGeom prst="roundRect">
            <a:avLst/>
          </a:prstGeom>
          <a:solidFill>
            <a:srgbClr val="C59A4A"/>
          </a:solidFill>
          <a:ln w="12700">
            <a:solidFill>
              <a:srgbClr val="C59A4A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006840" y="4773168"/>
            <a:ext cx="1645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600" dirty="0"/>
          </a:p>
        </p:txBody>
      </p:sp>
      <p:sp>
        <p:nvSpPr>
          <p:cNvPr id="36" name="Text 34"/>
          <p:cNvSpPr/>
          <p:nvPr/>
        </p:nvSpPr>
        <p:spPr>
          <a:xfrm>
            <a:off x="9006840" y="5175504"/>
            <a:ext cx="160020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数据分析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8778240" y="5102352"/>
            <a:ext cx="-1911096" cy="-1051560"/>
          </a:xfrm>
          <a:prstGeom prst="line">
            <a:avLst/>
          </a:prstGeom>
          <a:noFill/>
          <a:ln w="17780">
            <a:solidFill>
              <a:srgbClr val="5C7696">
                <a:alpha val="8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8" name="Text 36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Research Micro-Course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4/15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8755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1498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42416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69848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09728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471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5214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KNOWLEDGE INTRODUCTION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知识导入：先建立一个共同框架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658368" y="14173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科研不是“把实验做出来”，而是用透明、可复现的过程回答一个明确问题。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85800" y="2788920"/>
            <a:ext cx="1474470" cy="749808"/>
          </a:xfrm>
          <a:prstGeom prst="roundRect">
            <a:avLst>
              <a:gd name="adj" fmla="val 9756"/>
            </a:avLst>
          </a:prstGeom>
          <a:solidFill>
            <a:srgbClr val="173B6C"/>
          </a:solidFill>
          <a:ln w="12700">
            <a:solidFill>
              <a:srgbClr val="173B6C">
                <a:alpha val="75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95528" y="2862072"/>
            <a:ext cx="12550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研究问题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160270" y="3163824"/>
            <a:ext cx="182880" cy="0"/>
          </a:xfrm>
          <a:prstGeom prst="line">
            <a:avLst/>
          </a:prstGeom>
          <a:noFill/>
          <a:ln w="25400">
            <a:solidFill>
              <a:srgbClr val="5C7696"/>
            </a:solidFill>
            <a:prstDash val="solid"/>
            <a:headEnd type="none"/>
            <a:tailEnd type="none"/>
          </a:ln>
        </p:spPr>
      </p:sp>
      <p:sp>
        <p:nvSpPr>
          <p:cNvPr id="20" name="Shape 18"/>
          <p:cNvSpPr/>
          <p:nvPr/>
        </p:nvSpPr>
        <p:spPr>
          <a:xfrm>
            <a:off x="2269998" y="3072384"/>
            <a:ext cx="118872" cy="182880"/>
          </a:xfrm>
          <a:prstGeom prst="chevron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88870" y="2788920"/>
            <a:ext cx="1474470" cy="749808"/>
          </a:xfrm>
          <a:prstGeom prst="roundRect">
            <a:avLst>
              <a:gd name="adj" fmla="val 9756"/>
            </a:avLst>
          </a:prstGeom>
          <a:solidFill>
            <a:srgbClr val="173B6C">
              <a:alpha val="92000"/>
            </a:srgbClr>
          </a:solidFill>
          <a:ln w="12700">
            <a:solidFill>
              <a:srgbClr val="173B6C">
                <a:alpha val="75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498598" y="2862072"/>
            <a:ext cx="12550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文献证据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863340" y="3163824"/>
            <a:ext cx="182880" cy="0"/>
          </a:xfrm>
          <a:prstGeom prst="line">
            <a:avLst/>
          </a:prstGeom>
          <a:noFill/>
          <a:ln w="25400">
            <a:solidFill>
              <a:srgbClr val="5C7696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3973068" y="3072384"/>
            <a:ext cx="118872" cy="182880"/>
          </a:xfrm>
          <a:prstGeom prst="chevron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91940" y="2788920"/>
            <a:ext cx="1474470" cy="749808"/>
          </a:xfrm>
          <a:prstGeom prst="roundRect">
            <a:avLst>
              <a:gd name="adj" fmla="val 9756"/>
            </a:avLst>
          </a:prstGeom>
          <a:solidFill>
            <a:srgbClr val="173B6C">
              <a:alpha val="92000"/>
            </a:srgbClr>
          </a:solidFill>
          <a:ln w="12700">
            <a:solidFill>
              <a:srgbClr val="173B6C">
                <a:alpha val="7500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01668" y="2862072"/>
            <a:ext cx="12550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实验设计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566410" y="3163824"/>
            <a:ext cx="182880" cy="0"/>
          </a:xfrm>
          <a:prstGeom prst="line">
            <a:avLst/>
          </a:prstGeom>
          <a:noFill/>
          <a:ln w="25400">
            <a:solidFill>
              <a:srgbClr val="5C7696"/>
            </a:solidFill>
            <a:prstDash val="solid"/>
            <a:headEnd type="none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5676138" y="3072384"/>
            <a:ext cx="118872" cy="182880"/>
          </a:xfrm>
          <a:prstGeom prst="chevron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95010" y="2788920"/>
            <a:ext cx="1474470" cy="749808"/>
          </a:xfrm>
          <a:prstGeom prst="roundRect">
            <a:avLst>
              <a:gd name="adj" fmla="val 9756"/>
            </a:avLst>
          </a:prstGeom>
          <a:solidFill>
            <a:srgbClr val="2B6CB0">
              <a:alpha val="92000"/>
            </a:srgbClr>
          </a:solidFill>
          <a:ln w="12700">
            <a:solidFill>
              <a:srgbClr val="2B6CB0">
                <a:alpha val="75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904738" y="2862072"/>
            <a:ext cx="12550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数据分析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726680" y="1417320"/>
            <a:ext cx="3794760" cy="4251960"/>
          </a:xfrm>
          <a:prstGeom prst="roundRect">
            <a:avLst>
              <a:gd name="adj" fmla="val 1928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7726680" y="1417320"/>
            <a:ext cx="73152" cy="4251960"/>
          </a:xfrm>
          <a:prstGeom prst="round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955280" y="1572768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核心判断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955280" y="1975104"/>
            <a:ext cx="3337560" cy="3557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好的学习框架需要同时回答：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我们面对什么问题？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有哪些可验证的证据？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应该采取什么行动？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• 如何通过反馈继续优化？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Research Micro-Course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5/15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8755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1498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42416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69848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09728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471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5214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KNOWLEDGE 01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问题驱动：从主题到假设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58368" y="1417320"/>
            <a:ext cx="1325880" cy="347472"/>
          </a:xfrm>
          <a:prstGeom prst="roundRect">
            <a:avLst>
              <a:gd name="adj" fmla="val 47368"/>
            </a:avLst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1426464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MODULE 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1920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B6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H₁: ΔmAP &gt; 0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731520" y="2971800"/>
            <a:ext cx="274320" cy="274320"/>
          </a:xfrm>
          <a:prstGeom prst="ellipse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1752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70432" y="290779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限定对象、场景与边界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31520" y="3703320"/>
            <a:ext cx="274320" cy="274320"/>
          </a:xfrm>
          <a:prstGeom prst="ellipse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74904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70432" y="363931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定义自变量、因变量和控制变量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31520" y="4434840"/>
            <a:ext cx="274320" cy="27432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70432" y="43708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形成可证伪的研究假设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46520" y="1463040"/>
            <a:ext cx="48006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46520" y="1463040"/>
            <a:ext cx="73152" cy="4297680"/>
          </a:xfrm>
          <a:prstGeom prst="round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0" y="1618488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Research Formula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675120" y="2020824"/>
            <a:ext cx="4343400" cy="3602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7086600" y="242316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3B6C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Y = f(X, C) + ε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6903720" y="324612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X 自变量   Y 因变量   C 控制变量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Research Micro-Course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6/15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8755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1498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42416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69848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09728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471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5214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KNOWLEDGE 02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证据驱动：文献与引用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58368" y="1417320"/>
            <a:ext cx="1325880" cy="347472"/>
          </a:xfrm>
          <a:prstGeom prst="roundRect">
            <a:avLst>
              <a:gd name="adj" fmla="val 47368"/>
            </a:avLst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1426464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MODULE 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1920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B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× Relevance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731520" y="2971800"/>
            <a:ext cx="274320" cy="274320"/>
          </a:xfrm>
          <a:prstGeom prst="ellipse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1752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70432" y="290779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优先原始论文与权威数据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31520" y="3703320"/>
            <a:ext cx="274320" cy="274320"/>
          </a:xfrm>
          <a:prstGeom prst="ellipse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74904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70432" y="363931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记录方法、样本与结论边界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31520" y="4434840"/>
            <a:ext cx="274320" cy="27432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70432" y="43708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用矩阵比较研究空白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46520" y="1463040"/>
            <a:ext cx="48006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46520" y="1463040"/>
            <a:ext cx="73152" cy="4297680"/>
          </a:xfrm>
          <a:prstGeom prst="round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0" y="1618488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Evidence Matrix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675120" y="2020824"/>
            <a:ext cx="4343400" cy="3602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839712" y="2057400"/>
            <a:ext cx="932688" cy="548640"/>
          </a:xfrm>
          <a:prstGeom prst="rect">
            <a:avLst/>
          </a:prstGeom>
          <a:solidFill>
            <a:srgbClr val="173B6C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76288" y="2139696"/>
            <a:ext cx="859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799832" y="2057400"/>
            <a:ext cx="932688" cy="548640"/>
          </a:xfrm>
          <a:prstGeom prst="rect">
            <a:avLst/>
          </a:prstGeom>
          <a:solidFill>
            <a:srgbClr val="173B6C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36408" y="2139696"/>
            <a:ext cx="859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方法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8759952" y="2057400"/>
            <a:ext cx="932688" cy="548640"/>
          </a:xfrm>
          <a:prstGeom prst="rect">
            <a:avLst/>
          </a:prstGeom>
          <a:solidFill>
            <a:srgbClr val="173B6C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796528" y="2139696"/>
            <a:ext cx="859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9720072" y="2057400"/>
            <a:ext cx="932688" cy="548640"/>
          </a:xfrm>
          <a:prstGeom prst="rect">
            <a:avLst/>
          </a:prstGeom>
          <a:solidFill>
            <a:srgbClr val="173B6C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756648" y="2139696"/>
            <a:ext cx="859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局限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6839712" y="2633472"/>
            <a:ext cx="93268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76288" y="2715768"/>
            <a:ext cx="859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A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799832" y="2633472"/>
            <a:ext cx="93268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836408" y="2715768"/>
            <a:ext cx="859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CNN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759952" y="2633472"/>
            <a:ext cx="93268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96528" y="2715768"/>
            <a:ext cx="859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公开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9720072" y="2633472"/>
            <a:ext cx="93268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756648" y="2715768"/>
            <a:ext cx="859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场景单一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6839712" y="3209544"/>
            <a:ext cx="932688" cy="548640"/>
          </a:xfrm>
          <a:prstGeom prst="rect">
            <a:avLst/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76288" y="3291840"/>
            <a:ext cx="859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799832" y="3209544"/>
            <a:ext cx="932688" cy="548640"/>
          </a:xfrm>
          <a:prstGeom prst="rect">
            <a:avLst/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836408" y="3291840"/>
            <a:ext cx="859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Transformer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8759952" y="3209544"/>
            <a:ext cx="932688" cy="548640"/>
          </a:xfrm>
          <a:prstGeom prst="rect">
            <a:avLst/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796528" y="3291840"/>
            <a:ext cx="859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私有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9720072" y="3209544"/>
            <a:ext cx="932688" cy="548640"/>
          </a:xfrm>
          <a:prstGeom prst="rect">
            <a:avLst/>
          </a:prstGeom>
          <a:solidFill>
            <a:srgbClr val="E8EEF6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756648" y="3291840"/>
            <a:ext cx="859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样本偏小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839712" y="3785616"/>
            <a:ext cx="93268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76288" y="3867912"/>
            <a:ext cx="859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7799832" y="3785616"/>
            <a:ext cx="93268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836408" y="3867912"/>
            <a:ext cx="859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Hybrid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8759952" y="3785616"/>
            <a:ext cx="93268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796528" y="3867912"/>
            <a:ext cx="859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公开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9720072" y="3785616"/>
            <a:ext cx="932688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756648" y="3867912"/>
            <a:ext cx="8595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成本较高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Research Micro-Course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7/15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8755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1498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42416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69848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09728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471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5214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KNOWLEDGE 03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实验驱动：公平对比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58368" y="1417320"/>
            <a:ext cx="1325880" cy="347472"/>
          </a:xfrm>
          <a:prstGeom prst="roundRect">
            <a:avLst>
              <a:gd name="adj" fmla="val 47368"/>
            </a:avLst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1426464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MODULE 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1920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B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→ Compare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731520" y="2971800"/>
            <a:ext cx="274320" cy="274320"/>
          </a:xfrm>
          <a:prstGeom prst="ellipse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1752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70432" y="290779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统一数据划分和训练预算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31520" y="3703320"/>
            <a:ext cx="274320" cy="274320"/>
          </a:xfrm>
          <a:prstGeom prst="ellipse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74904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70432" y="363931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一次只改变一个关键因素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31520" y="4434840"/>
            <a:ext cx="274320" cy="27432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70432" y="43708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报告均值、方差和失败案例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46520" y="1463040"/>
            <a:ext cx="48006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46520" y="1463040"/>
            <a:ext cx="73152" cy="4297680"/>
          </a:xfrm>
          <a:prstGeom prst="round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0" y="1618488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Controlled Experiment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675120" y="2020824"/>
            <a:ext cx="4343400" cy="3602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903720" y="4617720"/>
            <a:ext cx="3840480" cy="0"/>
          </a:xfrm>
          <a:prstGeom prst="line">
            <a:avLst/>
          </a:prstGeom>
          <a:noFill/>
          <a:ln w="12700">
            <a:solidFill>
              <a:srgbClr val="5C7696"/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7219995" y="2945322"/>
            <a:ext cx="564776" cy="1672398"/>
          </a:xfrm>
          <a:prstGeom prst="round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19995" y="2689290"/>
            <a:ext cx="564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38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7091979" y="4690872"/>
            <a:ext cx="820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Base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101046" y="2813291"/>
            <a:ext cx="564776" cy="1804429"/>
          </a:xfrm>
          <a:prstGeom prst="round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101046" y="2557259"/>
            <a:ext cx="564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7973030" y="4690872"/>
            <a:ext cx="820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M1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8982097" y="2681259"/>
            <a:ext cx="564776" cy="1936461"/>
          </a:xfrm>
          <a:prstGeom prst="round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982097" y="2425227"/>
            <a:ext cx="564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8854081" y="4690872"/>
            <a:ext cx="820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M2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9863149" y="2593238"/>
            <a:ext cx="564776" cy="2024482"/>
          </a:xfrm>
          <a:prstGeom prst="round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863149" y="2337206"/>
            <a:ext cx="564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735133" y="4690872"/>
            <a:ext cx="820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Ours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Research Micro-Course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8/15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8755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1498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42416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69848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09728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471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5214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CORE KNOWLEDGE 04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结论驱动：解释而非堆数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58368" y="1417320"/>
            <a:ext cx="1325880" cy="347472"/>
          </a:xfrm>
          <a:prstGeom prst="roundRect">
            <a:avLst>
              <a:gd name="adj" fmla="val 47368"/>
            </a:avLst>
          </a:prstGeom>
          <a:solidFill>
            <a:srgbClr val="C59A4A"/>
          </a:solidFill>
          <a:ln w="12700">
            <a:solidFill>
              <a:srgbClr val="C59A4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1426464"/>
            <a:ext cx="11795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MODULE 4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1920240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73B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 ≠ Claim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731520" y="2971800"/>
            <a:ext cx="274320" cy="274320"/>
          </a:xfrm>
          <a:prstGeom prst="ellipse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1752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170432" y="290779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区分统计提升与实际价值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731520" y="3703320"/>
            <a:ext cx="274320" cy="274320"/>
          </a:xfrm>
          <a:prstGeom prst="ellipse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74904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70432" y="363931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分析误差来源和外部效度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731520" y="4434840"/>
            <a:ext cx="274320" cy="27432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480560"/>
            <a:ext cx="274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170432" y="4370832"/>
            <a:ext cx="4709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给出复现配置与未来工作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6446520" y="1463040"/>
            <a:ext cx="4800600" cy="4297680"/>
          </a:xfrm>
          <a:prstGeom prst="roundRect">
            <a:avLst>
              <a:gd name="adj" fmla="val 1702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446520" y="1463040"/>
            <a:ext cx="73152" cy="4297680"/>
          </a:xfrm>
          <a:prstGeom prst="round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675120" y="1618488"/>
            <a:ext cx="4389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Result Interpretation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675120" y="2020824"/>
            <a:ext cx="4343400" cy="36027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6995160" y="2121408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3B6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“结果支持假设”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3B6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≠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173B6C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“假设永远正确”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Research Micro-Course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9/15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8755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1498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42416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69848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09728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471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5214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CASE STUDY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案例：无人机密集小目标检测实验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85800" y="1572768"/>
            <a:ext cx="2537460" cy="749808"/>
          </a:xfrm>
          <a:prstGeom prst="roundRect">
            <a:avLst>
              <a:gd name="adj" fmla="val 9756"/>
            </a:avLst>
          </a:prstGeom>
          <a:solidFill>
            <a:srgbClr val="173B6C"/>
          </a:solidFill>
          <a:ln w="12700">
            <a:solidFill>
              <a:srgbClr val="173B6C">
                <a:alpha val="7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1645920"/>
            <a:ext cx="23180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基线模型与数据集固定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23260" y="1947672"/>
            <a:ext cx="182880" cy="0"/>
          </a:xfrm>
          <a:prstGeom prst="line">
            <a:avLst/>
          </a:prstGeom>
          <a:noFill/>
          <a:ln w="25400">
            <a:solidFill>
              <a:srgbClr val="5C7696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3332988" y="1856232"/>
            <a:ext cx="118872" cy="182880"/>
          </a:xfrm>
          <a:prstGeom prst="chevron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451860" y="1572768"/>
            <a:ext cx="2537460" cy="749808"/>
          </a:xfrm>
          <a:prstGeom prst="roundRect">
            <a:avLst>
              <a:gd name="adj" fmla="val 9756"/>
            </a:avLst>
          </a:prstGeom>
          <a:solidFill>
            <a:srgbClr val="173B6C">
              <a:alpha val="92000"/>
            </a:srgbClr>
          </a:solidFill>
          <a:ln w="12700">
            <a:solidFill>
              <a:srgbClr val="173B6C">
                <a:alpha val="7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561588" y="1645920"/>
            <a:ext cx="23180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加入多尺度特征分支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89320" y="1947672"/>
            <a:ext cx="182880" cy="0"/>
          </a:xfrm>
          <a:prstGeom prst="line">
            <a:avLst/>
          </a:prstGeom>
          <a:noFill/>
          <a:ln w="25400">
            <a:solidFill>
              <a:srgbClr val="5C7696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6099048" y="1856232"/>
            <a:ext cx="118872" cy="182880"/>
          </a:xfrm>
          <a:prstGeom prst="chevron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17920" y="1572768"/>
            <a:ext cx="2537460" cy="749808"/>
          </a:xfrm>
          <a:prstGeom prst="roundRect">
            <a:avLst>
              <a:gd name="adj" fmla="val 9756"/>
            </a:avLst>
          </a:prstGeom>
          <a:solidFill>
            <a:srgbClr val="173B6C">
              <a:alpha val="92000"/>
            </a:srgbClr>
          </a:solidFill>
          <a:ln w="12700">
            <a:solidFill>
              <a:srgbClr val="173B6C">
                <a:alpha val="7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27648" y="1645920"/>
            <a:ext cx="23180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开展消融与跨数据集验证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8755380" y="1947672"/>
            <a:ext cx="182880" cy="0"/>
          </a:xfrm>
          <a:prstGeom prst="line">
            <a:avLst/>
          </a:prstGeom>
          <a:noFill/>
          <a:ln w="25400">
            <a:solidFill>
              <a:srgbClr val="5C7696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8865108" y="1856232"/>
            <a:ext cx="118872" cy="182880"/>
          </a:xfrm>
          <a:prstGeom prst="chevron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983980" y="1572768"/>
            <a:ext cx="2537460" cy="749808"/>
          </a:xfrm>
          <a:prstGeom prst="roundRect">
            <a:avLst>
              <a:gd name="adj" fmla="val 9756"/>
            </a:avLst>
          </a:prstGeom>
          <a:solidFill>
            <a:srgbClr val="2B6CB0">
              <a:alpha val="92000"/>
            </a:srgbClr>
          </a:solidFill>
          <a:ln w="12700">
            <a:solidFill>
              <a:srgbClr val="2B6CB0">
                <a:alpha val="75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3708" y="1645920"/>
            <a:ext cx="23180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解释精度—复杂度权衡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685800" y="2788920"/>
            <a:ext cx="6675120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85800" y="2788920"/>
            <a:ext cx="73152" cy="2514600"/>
          </a:xfrm>
          <a:prstGeom prst="round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2944368"/>
            <a:ext cx="6263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案例复盘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914400" y="3346704"/>
            <a:ext cx="6217920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问题定义 → 证据收集 → 方案执行 → 结果评价。</a:t>
            </a:r>
            <a:endParaRPr lang="en-US" sz="1150" dirty="0"/>
          </a:p>
          <a:p>
            <a:pPr algn="l" indent="0" marL="0">
              <a:buNone/>
            </a:pP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关键不是“案例看起来成功”，而是能够说明为什么成功、在哪些条件下可复用。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7818120" y="4892040"/>
            <a:ext cx="3017520" cy="0"/>
          </a:xfrm>
          <a:prstGeom prst="line">
            <a:avLst/>
          </a:prstGeom>
          <a:noFill/>
          <a:ln w="12700">
            <a:solidFill>
              <a:srgbClr val="5C7696"/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8066622" y="4047812"/>
            <a:ext cx="443753" cy="844228"/>
          </a:xfrm>
          <a:prstGeom prst="round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66622" y="3791780"/>
            <a:ext cx="44375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938606" y="4965192"/>
            <a:ext cx="69978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Start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8758876" y="3889519"/>
            <a:ext cx="443753" cy="1002521"/>
          </a:xfrm>
          <a:prstGeom prst="round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758876" y="3633487"/>
            <a:ext cx="44375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630860" y="4965192"/>
            <a:ext cx="69978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Step1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9451131" y="3731226"/>
            <a:ext cx="443753" cy="1160814"/>
          </a:xfrm>
          <a:prstGeom prst="round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451131" y="3475194"/>
            <a:ext cx="44375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9323115" y="4965192"/>
            <a:ext cx="69978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Step2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10143385" y="3467405"/>
            <a:ext cx="443753" cy="1424635"/>
          </a:xfrm>
          <a:prstGeom prst="round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143385" y="3211373"/>
            <a:ext cx="44375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421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015369" y="4965192"/>
            <a:ext cx="69978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Result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Research Micro-Course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10/15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8755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1498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42416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69848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09728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471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5214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INTERACTIVE DISCUSSION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互动讨论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85800" y="1417320"/>
            <a:ext cx="2377440" cy="347472"/>
          </a:xfrm>
          <a:prstGeom prst="roundRect">
            <a:avLst>
              <a:gd name="adj" fmla="val 47368"/>
            </a:avLst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58952" y="1426464"/>
            <a:ext cx="22311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THINK · PAIR · SHARE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5800" y="1965960"/>
            <a:ext cx="106984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当模型精度提升 1.3%，但参数量增加 44% 时，你会如何判断它是否值得部署？</a:t>
            </a:r>
            <a:endParaRPr lang="en-US" sz="2800" dirty="0"/>
          </a:p>
        </p:txBody>
      </p:sp>
      <p:sp>
        <p:nvSpPr>
          <p:cNvPr id="19" name="Shape 17"/>
          <p:cNvSpPr/>
          <p:nvPr/>
        </p:nvSpPr>
        <p:spPr>
          <a:xfrm>
            <a:off x="914400" y="38404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" y="3840480"/>
            <a:ext cx="73152" cy="1234440"/>
          </a:xfrm>
          <a:prstGeom prst="round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43000" y="399592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 min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43000" y="4398264"/>
            <a:ext cx="27889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独立判断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709160" y="38404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09160" y="3840480"/>
            <a:ext cx="73152" cy="1234440"/>
          </a:xfrm>
          <a:prstGeom prst="roundRect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937760" y="399592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min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937760" y="4398264"/>
            <a:ext cx="27889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同伴交换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8503920" y="3840480"/>
            <a:ext cx="324612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03920" y="3840480"/>
            <a:ext cx="73152" cy="1234440"/>
          </a:xfrm>
          <a:prstGeom prst="round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32520" y="399592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 min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732520" y="4398264"/>
            <a:ext cx="278892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全班分享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Research Micro-Course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11/15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8755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1498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42416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69848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09728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471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5214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SUMMARY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本课总结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685800" y="141732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用一句话记住四个关键点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554480" y="2286000"/>
            <a:ext cx="1005840" cy="1005840"/>
          </a:xfrm>
          <a:prstGeom prst="ellipse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5544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5800" y="3493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研究问题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85800" y="40416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H₁: ΔmAP &gt; 0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560320" y="2788920"/>
            <a:ext cx="868680" cy="0"/>
          </a:xfrm>
          <a:prstGeom prst="line">
            <a:avLst/>
          </a:prstGeom>
          <a:noFill/>
          <a:ln w="25400">
            <a:solidFill>
              <a:srgbClr val="E8EEF6">
                <a:alpha val="9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4297680" y="2286000"/>
            <a:ext cx="1005840" cy="1005840"/>
          </a:xfrm>
          <a:prstGeom prst="ellipse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2976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3429000" y="3493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文献证据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3429000" y="40416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× Relevance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303520" y="2788920"/>
            <a:ext cx="868680" cy="0"/>
          </a:xfrm>
          <a:prstGeom prst="line">
            <a:avLst/>
          </a:prstGeom>
          <a:noFill/>
          <a:ln w="25400">
            <a:solidFill>
              <a:srgbClr val="E8EEF6">
                <a:alpha val="9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7040880" y="2286000"/>
            <a:ext cx="1005840" cy="1005840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408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172200" y="3493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实验设计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6172200" y="40416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→ Compare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046720" y="2788920"/>
            <a:ext cx="868680" cy="0"/>
          </a:xfrm>
          <a:prstGeom prst="line">
            <a:avLst/>
          </a:prstGeom>
          <a:noFill/>
          <a:ln w="25400">
            <a:solidFill>
              <a:srgbClr val="E8EEF6">
                <a:alpha val="9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784080" y="2286000"/>
            <a:ext cx="1005840" cy="1005840"/>
          </a:xfrm>
          <a:prstGeom prst="ellipse">
            <a:avLst/>
          </a:prstGeom>
          <a:solidFill>
            <a:srgbClr val="C59A4A"/>
          </a:solidFill>
          <a:ln w="12700">
            <a:solidFill>
              <a:srgbClr val="C59A4A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784080" y="258775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8915400" y="34930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数据分析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8915400" y="404164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 ≠ Claim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88720" y="5166360"/>
            <a:ext cx="978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B6CB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理解框架只是起点，真正的掌握来自应用、反馈与修正。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Research Micro-Course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12/15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8755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1498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42416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69848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09728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471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5214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即时测验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85800" y="1417320"/>
            <a:ext cx="7498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5800" y="1417320"/>
            <a:ext cx="73152" cy="1051560"/>
          </a:xfrm>
          <a:prstGeom prst="round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1572768"/>
            <a:ext cx="7086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Q1  研究问题必须具备？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1975104"/>
            <a:ext cx="7040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选择或写出你的答案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549640" y="1728216"/>
            <a:ext cx="2651760" cy="347472"/>
          </a:xfrm>
          <a:prstGeom prst="roundRect">
            <a:avLst>
              <a:gd name="adj" fmla="val 47368"/>
            </a:avLst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22792" y="1737360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答案：可检验性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85800" y="2862072"/>
            <a:ext cx="7498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2862072"/>
            <a:ext cx="73152" cy="1051560"/>
          </a:xfrm>
          <a:prstGeom prst="roundRect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3017520"/>
            <a:ext cx="7086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Q2  公平对比的关键？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14400" y="3419856"/>
            <a:ext cx="7040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选择或写出你的答案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549640" y="3172968"/>
            <a:ext cx="2651760" cy="347472"/>
          </a:xfrm>
          <a:prstGeom prst="roundRect">
            <a:avLst>
              <a:gd name="adj" fmla="val 47368"/>
            </a:avLst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622792" y="3182112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答案：控制变量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5800" y="4306824"/>
            <a:ext cx="7498080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4306824"/>
            <a:ext cx="73152" cy="1051560"/>
          </a:xfrm>
          <a:prstGeom prst="round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4462272"/>
            <a:ext cx="7086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Q3  结论边界来自？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914400" y="4864608"/>
            <a:ext cx="70408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选择或写出你的答案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549640" y="4617720"/>
            <a:ext cx="2651760" cy="347472"/>
          </a:xfrm>
          <a:prstGeom prst="roundRect">
            <a:avLst>
              <a:gd name="adj" fmla="val 47368"/>
            </a:avLst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622792" y="4626864"/>
            <a:ext cx="25054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答案：数据与方法限制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1520" y="5833872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建议：先隐藏答案，让学习者完成后再点击揭示。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Research Micro-Course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13/15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8755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1498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42416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69848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09728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471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5214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94360" y="32004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spc="160" kern="0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ASSIGNMENT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94360" y="57607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课后任务</a:t>
            </a:r>
            <a:endParaRPr lang="en-US" sz="2500" dirty="0"/>
          </a:p>
        </p:txBody>
      </p:sp>
      <p:sp>
        <p:nvSpPr>
          <p:cNvPr id="14" name="Text 12"/>
          <p:cNvSpPr/>
          <p:nvPr/>
        </p:nvSpPr>
        <p:spPr>
          <a:xfrm>
            <a:off x="10972800" y="347472"/>
            <a:ext cx="502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1124712"/>
            <a:ext cx="10972800" cy="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685800" y="1463040"/>
            <a:ext cx="6492240" cy="4526280"/>
          </a:xfrm>
          <a:prstGeom prst="roundRect">
            <a:avLst>
              <a:gd name="adj" fmla="val 1616"/>
            </a:avLst>
          </a:prstGeom>
          <a:solidFill>
            <a:srgbClr val="FFFFFF"/>
          </a:solidFill>
          <a:ln w="12700">
            <a:solidFill>
              <a:srgbClr val="D3DCE8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85800" y="1463040"/>
            <a:ext cx="73152" cy="4526280"/>
          </a:xfrm>
          <a:prstGeom prst="roundRect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1618488"/>
            <a:ext cx="6080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任务说明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14400" y="2020824"/>
            <a:ext cx="6035040" cy="3831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选择一个研究主题，提交 1 页实验设计画布：问题、假设、变量、基线、指标、风险。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635240" y="148132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提交清单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7635240" y="2103120"/>
            <a:ext cx="35661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36408" y="2267712"/>
            <a:ext cx="219456" cy="219456"/>
          </a:xfrm>
          <a:prstGeom prst="ellipse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827264" y="225856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183880" y="221284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明确的问题或目标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635240" y="2880360"/>
            <a:ext cx="35661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6408" y="3044952"/>
            <a:ext cx="219456" cy="219456"/>
          </a:xfrm>
          <a:prstGeom prst="ellipse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827264" y="303580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183880" y="299008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可验证的证据或指标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7635240" y="3657600"/>
            <a:ext cx="35661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836408" y="3822192"/>
            <a:ext cx="219456" cy="219456"/>
          </a:xfrm>
          <a:prstGeom prst="ellipse">
            <a:avLst/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27264" y="381304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8183880" y="376732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具体行动步骤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7635240" y="4434840"/>
            <a:ext cx="3566160" cy="5669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8EEF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836408" y="4599432"/>
            <a:ext cx="219456" cy="219456"/>
          </a:xfrm>
          <a:prstGeom prst="ellipse">
            <a:avLst/>
          </a:prstGeom>
          <a:solidFill>
            <a:srgbClr val="C59A4A"/>
          </a:solidFill>
          <a:ln w="12700">
            <a:solidFill>
              <a:srgbClr val="C59A4A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827264" y="4590288"/>
            <a:ext cx="228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✓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8183880" y="4544568"/>
            <a:ext cx="2697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风险与反馈机制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594360" y="6519672"/>
            <a:ext cx="4572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Academic Research Micro-Course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89920" y="6519672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800" dirty="0">
                <a:solidFill>
                  <a:srgbClr val="5C769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14/15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 w="12700">
            <a:solidFill>
              <a:srgbClr val="F7F9F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73B6C"/>
          </a:solidFill>
          <a:ln w="12700">
            <a:solidFill>
              <a:srgbClr val="173B6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8755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6" name="Shape 4"/>
          <p:cNvSpPr/>
          <p:nvPr/>
        </p:nvSpPr>
        <p:spPr>
          <a:xfrm>
            <a:off x="101498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1042416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1069848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1097280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1124712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1521440" y="0"/>
            <a:ext cx="-1554480" cy="1371600"/>
          </a:xfrm>
          <a:prstGeom prst="line">
            <a:avLst/>
          </a:prstGeom>
          <a:noFill/>
          <a:ln w="12700">
            <a:solidFill>
              <a:srgbClr val="E8EEF6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777240" y="822960"/>
            <a:ext cx="2514600" cy="347472"/>
          </a:xfrm>
          <a:prstGeom prst="roundRect">
            <a:avLst>
              <a:gd name="adj" fmla="val 47368"/>
            </a:avLst>
          </a:prstGeom>
          <a:solidFill>
            <a:srgbClr val="2B6CB0"/>
          </a:solidFill>
          <a:ln w="12700">
            <a:solidFill>
              <a:srgbClr val="2B6CB0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832104"/>
            <a:ext cx="23682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END OF MICRO COURSE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1600200"/>
            <a:ext cx="6400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421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从理解到行动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04672" y="2651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5C7696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把今天的一个关键观点，用在下一个真实问题中。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822960" y="3703320"/>
            <a:ext cx="1543050" cy="749808"/>
          </a:xfrm>
          <a:prstGeom prst="roundRect">
            <a:avLst>
              <a:gd name="adj" fmla="val 9756"/>
            </a:avLst>
          </a:prstGeom>
          <a:solidFill>
            <a:srgbClr val="173B6C"/>
          </a:solidFill>
          <a:ln w="12700">
            <a:solidFill>
              <a:srgbClr val="173B6C">
                <a:alpha val="75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3776472"/>
            <a:ext cx="13235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研究问题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366010" y="4078224"/>
            <a:ext cx="182880" cy="0"/>
          </a:xfrm>
          <a:prstGeom prst="line">
            <a:avLst/>
          </a:prstGeom>
          <a:noFill/>
          <a:ln w="25400">
            <a:solidFill>
              <a:srgbClr val="5C7696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2475738" y="3986784"/>
            <a:ext cx="118872" cy="182880"/>
          </a:xfrm>
          <a:prstGeom prst="chevron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94610" y="3703320"/>
            <a:ext cx="1543050" cy="749808"/>
          </a:xfrm>
          <a:prstGeom prst="roundRect">
            <a:avLst>
              <a:gd name="adj" fmla="val 9756"/>
            </a:avLst>
          </a:prstGeom>
          <a:solidFill>
            <a:srgbClr val="173B6C">
              <a:alpha val="92000"/>
            </a:srgbClr>
          </a:solidFill>
          <a:ln w="12700">
            <a:solidFill>
              <a:srgbClr val="173B6C">
                <a:alpha val="7500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04338" y="3776472"/>
            <a:ext cx="13235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文献证据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137660" y="4078224"/>
            <a:ext cx="182880" cy="0"/>
          </a:xfrm>
          <a:prstGeom prst="line">
            <a:avLst/>
          </a:prstGeom>
          <a:noFill/>
          <a:ln w="25400">
            <a:solidFill>
              <a:srgbClr val="5C7696"/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4247388" y="3986784"/>
            <a:ext cx="118872" cy="182880"/>
          </a:xfrm>
          <a:prstGeom prst="chevron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366260" y="3703320"/>
            <a:ext cx="1543050" cy="749808"/>
          </a:xfrm>
          <a:prstGeom prst="roundRect">
            <a:avLst>
              <a:gd name="adj" fmla="val 9756"/>
            </a:avLst>
          </a:prstGeom>
          <a:solidFill>
            <a:srgbClr val="173B6C">
              <a:alpha val="92000"/>
            </a:srgbClr>
          </a:solidFill>
          <a:ln w="12700">
            <a:solidFill>
              <a:srgbClr val="173B6C">
                <a:alpha val="7500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75988" y="3776472"/>
            <a:ext cx="13235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实验设计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909310" y="4078224"/>
            <a:ext cx="182880" cy="0"/>
          </a:xfrm>
          <a:prstGeom prst="line">
            <a:avLst/>
          </a:prstGeom>
          <a:noFill/>
          <a:ln w="25400">
            <a:solidFill>
              <a:srgbClr val="5C7696"/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6019038" y="3986784"/>
            <a:ext cx="118872" cy="182880"/>
          </a:xfrm>
          <a:prstGeom prst="chevron">
            <a:avLst/>
          </a:prstGeom>
          <a:solidFill>
            <a:srgbClr val="5C7696"/>
          </a:solidFill>
          <a:ln w="12700">
            <a:solidFill>
              <a:srgbClr val="5C7696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37910" y="3703320"/>
            <a:ext cx="1543050" cy="749808"/>
          </a:xfrm>
          <a:prstGeom prst="roundRect">
            <a:avLst>
              <a:gd name="adj" fmla="val 9756"/>
            </a:avLst>
          </a:prstGeom>
          <a:solidFill>
            <a:srgbClr val="2B6CB0">
              <a:alpha val="92000"/>
            </a:srgbClr>
          </a:solidFill>
          <a:ln w="12700">
            <a:solidFill>
              <a:srgbClr val="2B6CB0">
                <a:alpha val="7500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47638" y="3776472"/>
            <a:ext cx="13235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数据分析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7909560" y="1417320"/>
            <a:ext cx="3246120" cy="3474720"/>
          </a:xfrm>
          <a:prstGeom prst="roundRect">
            <a:avLst>
              <a:gd name="adj" fmla="val 3380"/>
            </a:avLst>
          </a:prstGeom>
          <a:solidFill>
            <a:srgbClr val="FFFFFF">
              <a:alpha val="12000"/>
            </a:srgbClr>
          </a:solidFill>
          <a:ln w="13970">
            <a:solidFill>
              <a:srgbClr val="FFFFFF">
                <a:alpha val="30000"/>
              </a:srgbClr>
            </a:solidFill>
            <a:prstDash val="solid"/>
          </a:ln>
          <a:effectLst>
            <a:outerShdw sx="100000" sy="100000" kx="0" ky="0" algn="bl" rotWithShape="0" blurRad="25400" dist="50800" dir="2700000">
              <a:srgbClr val="173B6C">
                <a:alpha val="12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8229600" y="2148840"/>
            <a:ext cx="2606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3B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</a:t>
            </a:r>
            <a:endParaRPr lang="en-US" sz="3400" dirty="0"/>
          </a:p>
          <a:p>
            <a:pPr algn="ctr" indent="0" marL="0">
              <a:buNone/>
            </a:pPr>
            <a:r>
              <a:rPr lang="en-US" sz="3400" b="1" dirty="0">
                <a:solidFill>
                  <a:srgbClr val="173B6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</a:t>
            </a:r>
            <a:endParaRPr lang="en-US" sz="3400" dirty="0"/>
          </a:p>
        </p:txBody>
      </p:sp>
      <p:sp>
        <p:nvSpPr>
          <p:cNvPr id="32" name="Text 30"/>
          <p:cNvSpPr/>
          <p:nvPr/>
        </p:nvSpPr>
        <p:spPr>
          <a:xfrm>
            <a:off x="822960" y="5989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2B6CB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Q&amp;A  ·  Reflection  ·  Next Action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MicroCourse Templates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科研方法与实验设计</dc:title>
  <dc:subject>高校科研课程</dc:subject>
  <dc:creator>OpenAI Multi-Agent PPT System</dc:creator>
  <cp:lastModifiedBy>OpenAI Multi-Agent PPT System</cp:lastModifiedBy>
  <cp:revision>1</cp:revision>
  <dcterms:created xsi:type="dcterms:W3CDTF">2026-08-04T14:30:23Z</dcterms:created>
  <dcterms:modified xsi:type="dcterms:W3CDTF">2026-08-04T14:30:23Z</dcterms:modified>
</cp:coreProperties>
</file>